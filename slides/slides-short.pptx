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Open Sauce Bold" charset="1" panose="00000800000000000000"/>
      <p:regular r:id="rId23"/>
    </p:embeddedFont>
    <p:embeddedFont>
      <p:font typeface="Open Sauce" charset="1" panose="00000500000000000000"/>
      <p:regular r:id="rId24"/>
    </p:embeddedFont>
    <p:embeddedFont>
      <p:font typeface="Open Sauce Bold Italics" charset="1" panose="00000800000000000000"/>
      <p:regular r:id="rId28"/>
    </p:embeddedFont>
    <p:embeddedFont>
      <p:font typeface="Open Sans" charset="1" panose="020B0606030504020204"/>
      <p:regular r:id="rId29"/>
    </p:embeddedFont>
    <p:embeddedFont>
      <p:font typeface="Open Sans Bold" charset="1" panose="020B0806030504020204"/>
      <p:regular r:id="rId30"/>
    </p:embeddedFont>
    <p:embeddedFont>
      <p:font typeface="Gotham Bold" charset="1" panose="00000000000000000000"/>
      <p:regular r:id="rId33"/>
    </p:embeddedFont>
    <p:embeddedFont>
      <p:font typeface="Calibri (MS)" charset="1" panose="020F0502020204030204"/>
      <p:regular r:id="rId34"/>
    </p:embeddedFont>
    <p:embeddedFont>
      <p:font typeface="Times New Roman" charset="1" panose="020206030504050203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Les députées disposent du droit d’amendement, c’est-à-dire qu’elles peuvent soumettre au vote des modifications aux textes de loi qui leur sont présentés.   </a:t>
            </a:r>
          </a:p>
          <a:p>
            <a:r>
              <a:rPr lang="en-US"/>
              <a:t>Un amendement peut émerger de multiples interactions, allant de discussions avec des administrées jusqu’à la lecture de rapports experts. Cependant, certains sont travaillés en étroite collaboration avec un ou plusieurs groupe(s) d’intérêt, voire proposés “clé en main” par ceux-ci. Pour lutter contre le risque de conflits d’intérêt et promouvoir la transparence de leurs pratiques, certaines députées ont pris pour habitude de citer nommément l’origine de l’amendement lorsque celui-ci provient d’une collaboration avec un représentant d’intérêt. C’est ce qu’on appelle le sourcing des amendements.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use case a avant tout une visée pédagogique. Les questions posées sont donc d'ordre descriptif et n'ont pas pour base la littérature académique.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Seuls 664 amendements ont +1024 tokens.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205297"/>
            <a:ext cx="1482272" cy="1521799"/>
          </a:xfrm>
          <a:custGeom>
            <a:avLst/>
            <a:gdLst/>
            <a:ahLst/>
            <a:cxnLst/>
            <a:rect r="r" b="b" t="t" l="l"/>
            <a:pathLst>
              <a:path h="1521799" w="1482272">
                <a:moveTo>
                  <a:pt x="0" y="0"/>
                </a:moveTo>
                <a:lnTo>
                  <a:pt x="1482272" y="0"/>
                </a:lnTo>
                <a:lnTo>
                  <a:pt x="1482272" y="1521799"/>
                </a:lnTo>
                <a:lnTo>
                  <a:pt x="0" y="1521799"/>
                </a:lnTo>
                <a:lnTo>
                  <a:pt x="0" y="0"/>
                </a:lnTo>
                <a:close/>
              </a:path>
            </a:pathLst>
          </a:custGeom>
          <a:blipFill>
            <a:blip r:embed="rId2"/>
            <a:stretch>
              <a:fillRect l="0" t="0" r="0" b="0"/>
            </a:stretch>
          </a:blipFill>
        </p:spPr>
      </p:sp>
      <p:sp>
        <p:nvSpPr>
          <p:cNvPr name="TextBox 3" id="3"/>
          <p:cNvSpPr txBox="true"/>
          <p:nvPr/>
        </p:nvSpPr>
        <p:spPr>
          <a:xfrm rot="0">
            <a:off x="2913659" y="3039096"/>
            <a:ext cx="15651832" cy="1749425"/>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Use Case : les amendements de la XVIIème législature de l’Assemblée Nationale </a:t>
            </a:r>
          </a:p>
        </p:txBody>
      </p:sp>
      <p:sp>
        <p:nvSpPr>
          <p:cNvPr name="AutoShape 4" id="4"/>
          <p:cNvSpPr/>
          <p:nvPr/>
        </p:nvSpPr>
        <p:spPr>
          <a:xfrm flipV="true">
            <a:off x="1028700" y="1028700"/>
            <a:ext cx="16230600" cy="19050"/>
          </a:xfrm>
          <a:prstGeom prst="line">
            <a:avLst/>
          </a:prstGeom>
          <a:ln cap="flat" w="28575">
            <a:solidFill>
              <a:srgbClr val="000000"/>
            </a:solidFill>
            <a:prstDash val="solid"/>
            <a:headEnd type="none" len="sm" w="sm"/>
            <a:tailEnd type="none" len="sm" w="sm"/>
          </a:ln>
        </p:spPr>
      </p:sp>
      <p:sp>
        <p:nvSpPr>
          <p:cNvPr name="TextBox 5" id="5"/>
          <p:cNvSpPr txBox="true"/>
          <p:nvPr/>
        </p:nvSpPr>
        <p:spPr>
          <a:xfrm rot="0">
            <a:off x="2510972" y="5758829"/>
            <a:ext cx="13408785" cy="1384300"/>
          </a:xfrm>
          <a:prstGeom prst="rect">
            <a:avLst/>
          </a:prstGeom>
        </p:spPr>
        <p:txBody>
          <a:bodyPr anchor="t" rtlCol="false" tIns="0" lIns="0" bIns="0" rIns="0">
            <a:spAutoFit/>
          </a:bodyPr>
          <a:lstStyle/>
          <a:p>
            <a:pPr algn="l">
              <a:lnSpc>
                <a:spcPts val="5599"/>
              </a:lnSpc>
            </a:pPr>
            <a:r>
              <a:rPr lang="en-US" sz="3999">
                <a:solidFill>
                  <a:srgbClr val="000000"/>
                </a:solidFill>
                <a:latin typeface="Open Sauce"/>
                <a:ea typeface="Open Sauce"/>
                <a:cs typeface="Open Sauce"/>
                <a:sym typeface="Open Sauce"/>
              </a:rPr>
              <a:t>Objectif : classer automatiquement ces amendements comme </a:t>
            </a:r>
            <a:r>
              <a:rPr lang="en-US" sz="3999" b="true">
                <a:solidFill>
                  <a:srgbClr val="E98E2D"/>
                </a:solidFill>
                <a:latin typeface="Open Sauce Bold"/>
                <a:ea typeface="Open Sauce Bold"/>
                <a:cs typeface="Open Sauce Bold"/>
                <a:sym typeface="Open Sauce Bold"/>
              </a:rPr>
              <a:t>sourcés</a:t>
            </a:r>
            <a:r>
              <a:rPr lang="en-US" sz="3999">
                <a:solidFill>
                  <a:srgbClr val="000000"/>
                </a:solidFill>
                <a:latin typeface="Open Sauce"/>
                <a:ea typeface="Open Sauce"/>
                <a:cs typeface="Open Sauce"/>
                <a:sym typeface="Open Sauce"/>
              </a:rPr>
              <a:t> ou </a:t>
            </a:r>
            <a:r>
              <a:rPr lang="en-US" sz="3999" b="true">
                <a:solidFill>
                  <a:srgbClr val="E98E2D"/>
                </a:solidFill>
                <a:latin typeface="Open Sauce Bold"/>
                <a:ea typeface="Open Sauce Bold"/>
                <a:cs typeface="Open Sauce Bold"/>
                <a:sym typeface="Open Sauce Bold"/>
              </a:rPr>
              <a:t>non-sourcés </a:t>
            </a:r>
            <a:r>
              <a:rPr lang="en-US" sz="3999">
                <a:solidFill>
                  <a:srgbClr val="000000"/>
                </a:solidFill>
                <a:latin typeface="Open Sauce"/>
                <a:ea typeface="Open Sauce"/>
                <a:cs typeface="Open Sauce"/>
                <a:sym typeface="Open Sauce"/>
              </a:rPr>
              <a:t>avec ActiveTigger.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51874" y="2960333"/>
            <a:ext cx="13037934"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Contexte, questions de recherche et données</a:t>
            </a:r>
          </a:p>
        </p:txBody>
      </p:sp>
      <p:sp>
        <p:nvSpPr>
          <p:cNvPr name="TextBox 3" id="3"/>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Sommaire</a:t>
            </a:r>
          </a:p>
        </p:txBody>
      </p:sp>
      <p:sp>
        <p:nvSpPr>
          <p:cNvPr name="TextBox 4" id="4"/>
          <p:cNvSpPr txBox="true"/>
          <p:nvPr/>
        </p:nvSpPr>
        <p:spPr>
          <a:xfrm rot="0">
            <a:off x="1651874" y="4173494"/>
            <a:ext cx="12273760" cy="21240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Annoter les données d’entraînement et fixer son codebook</a:t>
            </a:r>
          </a:p>
          <a:p>
            <a:pPr algn="l">
              <a:lnSpc>
                <a:spcPts val="4200"/>
              </a:lnSpc>
            </a:pPr>
            <a:r>
              <a:rPr lang="en-US" sz="3000">
                <a:solidFill>
                  <a:srgbClr val="000000"/>
                </a:solidFill>
                <a:latin typeface="Open Sauce"/>
                <a:ea typeface="Open Sauce"/>
                <a:cs typeface="Open Sauce"/>
                <a:sym typeface="Open Sauce"/>
              </a:rPr>
              <a:t>Entraîner des modèles</a:t>
            </a:r>
          </a:p>
          <a:p>
            <a:pPr algn="l">
              <a:lnSpc>
                <a:spcPts val="4200"/>
              </a:lnSpc>
            </a:pPr>
            <a:r>
              <a:rPr lang="en-US" sz="3000">
                <a:solidFill>
                  <a:srgbClr val="000000"/>
                </a:solidFill>
                <a:latin typeface="Open Sauce"/>
                <a:ea typeface="Open Sauce"/>
                <a:cs typeface="Open Sauce"/>
                <a:sym typeface="Open Sauce"/>
              </a:rPr>
              <a:t>Sélectionner un modèle </a:t>
            </a:r>
          </a:p>
          <a:p>
            <a:pPr algn="l">
              <a:lnSpc>
                <a:spcPts val="4200"/>
              </a:lnSpc>
            </a:pPr>
            <a:r>
              <a:rPr lang="en-US" sz="3000">
                <a:solidFill>
                  <a:srgbClr val="000000"/>
                </a:solidFill>
                <a:latin typeface="Open Sauce"/>
                <a:ea typeface="Open Sauce"/>
                <a:cs typeface="Open Sauce"/>
                <a:sym typeface="Open Sauce"/>
              </a:rPr>
              <a:t>Évaluer le modèle</a:t>
            </a:r>
          </a:p>
        </p:txBody>
      </p:sp>
      <p:sp>
        <p:nvSpPr>
          <p:cNvPr name="AutoShape 5" id="5"/>
          <p:cNvSpPr/>
          <p:nvPr/>
        </p:nvSpPr>
        <p:spPr>
          <a:xfrm flipH="true" flipV="true">
            <a:off x="13780936" y="4179533"/>
            <a:ext cx="1" cy="2118036"/>
          </a:xfrm>
          <a:prstGeom prst="line">
            <a:avLst/>
          </a:prstGeom>
          <a:ln cap="flat" w="38100">
            <a:solidFill>
              <a:srgbClr val="000000"/>
            </a:solidFill>
            <a:prstDash val="solid"/>
            <a:headEnd type="none" len="sm" w="sm"/>
            <a:tailEnd type="none" len="sm" w="sm"/>
          </a:ln>
        </p:spPr>
      </p:sp>
      <p:sp>
        <p:nvSpPr>
          <p:cNvPr name="AutoShape 6" id="6"/>
          <p:cNvSpPr/>
          <p:nvPr/>
        </p:nvSpPr>
        <p:spPr>
          <a:xfrm flipH="true">
            <a:off x="13568582" y="4206032"/>
            <a:ext cx="212350" cy="221"/>
          </a:xfrm>
          <a:prstGeom prst="line">
            <a:avLst/>
          </a:prstGeom>
          <a:ln cap="flat" w="38100">
            <a:solidFill>
              <a:srgbClr val="000000"/>
            </a:solidFill>
            <a:prstDash val="solid"/>
            <a:headEnd type="none" len="sm" w="sm"/>
            <a:tailEnd type="none" len="sm" w="sm"/>
          </a:ln>
        </p:spPr>
      </p:sp>
      <p:sp>
        <p:nvSpPr>
          <p:cNvPr name="AutoShape 7" id="7"/>
          <p:cNvSpPr/>
          <p:nvPr/>
        </p:nvSpPr>
        <p:spPr>
          <a:xfrm flipH="true">
            <a:off x="13568602" y="6278299"/>
            <a:ext cx="212350" cy="221"/>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14176464" y="5502842"/>
            <a:ext cx="2537022" cy="523875"/>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Open Sauce"/>
                <a:ea typeface="Open Sauce"/>
                <a:cs typeface="Open Sauce"/>
                <a:sym typeface="Open Sauce"/>
              </a:rPr>
              <a:t>ActiveTigger</a:t>
            </a:r>
          </a:p>
        </p:txBody>
      </p:sp>
      <p:sp>
        <p:nvSpPr>
          <p:cNvPr name="TextBox 9" id="9"/>
          <p:cNvSpPr txBox="true"/>
          <p:nvPr/>
        </p:nvSpPr>
        <p:spPr>
          <a:xfrm rot="0">
            <a:off x="1651874" y="6926219"/>
            <a:ext cx="5388134" cy="10572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Open Sauce"/>
                <a:ea typeface="Open Sauce"/>
                <a:cs typeface="Open Sauce"/>
                <a:sym typeface="Open Sauce"/>
              </a:rPr>
              <a:t>Résultats</a:t>
            </a:r>
          </a:p>
          <a:p>
            <a:pPr algn="l">
              <a:lnSpc>
                <a:spcPts val="4200"/>
              </a:lnSpc>
              <a:spcBef>
                <a:spcPct val="0"/>
              </a:spcBef>
            </a:pPr>
            <a:r>
              <a:rPr lang="en-US" sz="3000">
                <a:solidFill>
                  <a:srgbClr val="000000"/>
                </a:solidFill>
                <a:latin typeface="Open Sauce"/>
                <a:ea typeface="Open Sauce"/>
                <a:cs typeface="Open Sauce"/>
                <a:sym typeface="Open Sauce"/>
              </a:rPr>
              <a:t>Intérêt et limites de notre cas</a:t>
            </a:r>
          </a:p>
        </p:txBody>
      </p:sp>
      <p:sp>
        <p:nvSpPr>
          <p:cNvPr name="Freeform 10" id="10"/>
          <p:cNvSpPr/>
          <p:nvPr/>
        </p:nvSpPr>
        <p:spPr>
          <a:xfrm flipH="true" flipV="false" rot="0">
            <a:off x="14975862" y="4511021"/>
            <a:ext cx="938226" cy="963246"/>
          </a:xfrm>
          <a:custGeom>
            <a:avLst/>
            <a:gdLst/>
            <a:ahLst/>
            <a:cxnLst/>
            <a:rect r="r" b="b" t="t" l="l"/>
            <a:pathLst>
              <a:path h="963246" w="938226">
                <a:moveTo>
                  <a:pt x="938226" y="0"/>
                </a:moveTo>
                <a:lnTo>
                  <a:pt x="0" y="0"/>
                </a:lnTo>
                <a:lnTo>
                  <a:pt x="0" y="963246"/>
                </a:lnTo>
                <a:lnTo>
                  <a:pt x="938226" y="963246"/>
                </a:lnTo>
                <a:lnTo>
                  <a:pt x="938226"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623038" y="431401"/>
            <a:ext cx="6065230" cy="8623796"/>
          </a:xfrm>
          <a:custGeom>
            <a:avLst/>
            <a:gdLst/>
            <a:ahLst/>
            <a:cxnLst/>
            <a:rect r="r" b="b" t="t" l="l"/>
            <a:pathLst>
              <a:path h="8623796" w="6065230">
                <a:moveTo>
                  <a:pt x="0" y="0"/>
                </a:moveTo>
                <a:lnTo>
                  <a:pt x="6065230" y="0"/>
                </a:lnTo>
                <a:lnTo>
                  <a:pt x="6065230" y="8623796"/>
                </a:lnTo>
                <a:lnTo>
                  <a:pt x="0" y="8623796"/>
                </a:lnTo>
                <a:lnTo>
                  <a:pt x="0" y="0"/>
                </a:lnTo>
                <a:close/>
              </a:path>
            </a:pathLst>
          </a:custGeom>
          <a:blipFill>
            <a:blip r:embed="rId3"/>
            <a:stretch>
              <a:fillRect l="0" t="0" r="0" b="0"/>
            </a:stretch>
          </a:blipFill>
        </p:spPr>
      </p:sp>
      <p:sp>
        <p:nvSpPr>
          <p:cNvPr name="Freeform 3" id="3"/>
          <p:cNvSpPr/>
          <p:nvPr/>
        </p:nvSpPr>
        <p:spPr>
          <a:xfrm flipH="false" flipV="false" rot="0">
            <a:off x="11623038" y="8029458"/>
            <a:ext cx="6065230" cy="1826141"/>
          </a:xfrm>
          <a:custGeom>
            <a:avLst/>
            <a:gdLst/>
            <a:ahLst/>
            <a:cxnLst/>
            <a:rect r="r" b="b" t="t" l="l"/>
            <a:pathLst>
              <a:path h="1826141" w="6065230">
                <a:moveTo>
                  <a:pt x="0" y="0"/>
                </a:moveTo>
                <a:lnTo>
                  <a:pt x="6065230" y="0"/>
                </a:lnTo>
                <a:lnTo>
                  <a:pt x="6065230" y="1826141"/>
                </a:lnTo>
                <a:lnTo>
                  <a:pt x="0" y="1826141"/>
                </a:lnTo>
                <a:lnTo>
                  <a:pt x="0" y="0"/>
                </a:lnTo>
                <a:close/>
              </a:path>
            </a:pathLst>
          </a:custGeom>
          <a:blipFill>
            <a:blip r:embed="rId4"/>
            <a:stretch>
              <a:fillRect l="0" t="-41668" r="0" b="-330572"/>
            </a:stretch>
          </a:blipFill>
        </p:spPr>
      </p:sp>
      <p:sp>
        <p:nvSpPr>
          <p:cNvPr name="TextBox 4" id="4"/>
          <p:cNvSpPr txBox="true"/>
          <p:nvPr/>
        </p:nvSpPr>
        <p:spPr>
          <a:xfrm rot="0">
            <a:off x="1069060" y="2313962"/>
            <a:ext cx="10515878" cy="5880611"/>
          </a:xfrm>
          <a:prstGeom prst="rect">
            <a:avLst/>
          </a:prstGeom>
        </p:spPr>
        <p:txBody>
          <a:bodyPr anchor="t" rtlCol="false" tIns="0" lIns="0" bIns="0" rIns="0">
            <a:spAutoFit/>
          </a:bodyPr>
          <a:lstStyle/>
          <a:p>
            <a:pPr algn="l">
              <a:lnSpc>
                <a:spcPts val="4199"/>
              </a:lnSpc>
            </a:pPr>
            <a:r>
              <a:rPr lang="en-US" sz="2999">
                <a:solidFill>
                  <a:srgbClr val="000000"/>
                </a:solidFill>
                <a:latin typeface="Open Sauce"/>
                <a:ea typeface="Open Sauce"/>
                <a:cs typeface="Open Sauce"/>
                <a:sym typeface="Open Sauce"/>
              </a:rPr>
              <a:t>Un amendement résulte de nombreuses interactions.</a:t>
            </a:r>
          </a:p>
          <a:p>
            <a:pPr algn="l">
              <a:lnSpc>
                <a:spcPts val="4199"/>
              </a:lnSpc>
            </a:pPr>
          </a:p>
          <a:p>
            <a:pPr algn="l">
              <a:lnSpc>
                <a:spcPts val="4199"/>
              </a:lnSpc>
            </a:pPr>
            <a:r>
              <a:rPr lang="en-US" sz="2999">
                <a:solidFill>
                  <a:srgbClr val="000000"/>
                </a:solidFill>
                <a:latin typeface="Open Sauce"/>
                <a:ea typeface="Open Sauce"/>
                <a:cs typeface="Open Sauce"/>
                <a:sym typeface="Open Sauce"/>
              </a:rPr>
              <a:t>Certains sont discutés avec ou proposés par un ou plusieurs groupe(s) d’intérêt (“lobbies”)</a:t>
            </a:r>
          </a:p>
          <a:p>
            <a:pPr algn="l">
              <a:lnSpc>
                <a:spcPts val="4199"/>
              </a:lnSpc>
            </a:pPr>
          </a:p>
          <a:p>
            <a:pPr algn="l">
              <a:lnSpc>
                <a:spcPts val="4199"/>
              </a:lnSpc>
            </a:pPr>
            <a:r>
              <a:rPr lang="en-US" sz="2999" i="true" b="true">
                <a:solidFill>
                  <a:srgbClr val="E98E2D"/>
                </a:solidFill>
                <a:latin typeface="Open Sauce Bold Italics"/>
                <a:ea typeface="Open Sauce Bold Italics"/>
                <a:cs typeface="Open Sauce Bold Italics"/>
                <a:sym typeface="Open Sauce Bold Italics"/>
              </a:rPr>
              <a:t>Sourcing des amendements </a:t>
            </a:r>
            <a:r>
              <a:rPr lang="en-US" sz="2999">
                <a:solidFill>
                  <a:srgbClr val="000000"/>
                </a:solidFill>
                <a:latin typeface="Open Sauce"/>
                <a:ea typeface="Open Sauce"/>
                <a:cs typeface="Open Sauce"/>
                <a:sym typeface="Open Sauce"/>
              </a:rPr>
              <a:t>: citer nommément ces groupes et la nature de leur influence sur la soumission d’un amendement donné dans l’exposé des motifs.</a:t>
            </a:r>
          </a:p>
          <a:p>
            <a:pPr algn="l">
              <a:lnSpc>
                <a:spcPts val="4199"/>
              </a:lnSpc>
            </a:pPr>
          </a:p>
          <a:p>
            <a:pPr algn="l">
              <a:lnSpc>
                <a:spcPts val="840"/>
              </a:lnSpc>
            </a:pPr>
          </a:p>
          <a:p>
            <a:pPr algn="l">
              <a:lnSpc>
                <a:spcPts val="4199"/>
              </a:lnSpc>
            </a:pPr>
            <a:r>
              <a:rPr lang="en-US" sz="2999">
                <a:solidFill>
                  <a:srgbClr val="000000"/>
                </a:solidFill>
                <a:latin typeface="Open Sauce"/>
                <a:ea typeface="Open Sauce"/>
                <a:cs typeface="Open Sauce"/>
                <a:sym typeface="Open Sauce"/>
              </a:rPr>
              <a:t>      ➔ “Bonne pratique” promue par un certain nombre </a:t>
            </a:r>
          </a:p>
          <a:p>
            <a:pPr algn="l">
              <a:lnSpc>
                <a:spcPts val="4199"/>
              </a:lnSpc>
            </a:pPr>
            <a:r>
              <a:rPr lang="en-US" sz="2999">
                <a:solidFill>
                  <a:srgbClr val="000000"/>
                </a:solidFill>
                <a:latin typeface="Open Sauce"/>
                <a:ea typeface="Open Sauce"/>
                <a:cs typeface="Open Sauce"/>
                <a:sym typeface="Open Sauce"/>
              </a:rPr>
              <a:t>      </a:t>
            </a:r>
            <a:r>
              <a:rPr lang="en-US" sz="2999">
                <a:solidFill>
                  <a:srgbClr val="000000"/>
                </a:solidFill>
                <a:latin typeface="Open Sauce"/>
                <a:ea typeface="Open Sauce"/>
                <a:cs typeface="Open Sauce"/>
                <a:sym typeface="Open Sauce"/>
              </a:rPr>
              <a:t>de parlementaires mais non obligatoire</a:t>
            </a:r>
          </a:p>
        </p:txBody>
      </p:sp>
      <p:grpSp>
        <p:nvGrpSpPr>
          <p:cNvPr name="Group 5" id="5"/>
          <p:cNvGrpSpPr/>
          <p:nvPr/>
        </p:nvGrpSpPr>
        <p:grpSpPr>
          <a:xfrm rot="0">
            <a:off x="12163821" y="9358504"/>
            <a:ext cx="3629816" cy="184245"/>
            <a:chOff x="0" y="0"/>
            <a:chExt cx="956001" cy="48525"/>
          </a:xfrm>
        </p:grpSpPr>
        <p:sp>
          <p:nvSpPr>
            <p:cNvPr name="Freeform 6" id="6"/>
            <p:cNvSpPr/>
            <p:nvPr/>
          </p:nvSpPr>
          <p:spPr>
            <a:xfrm flipH="false" flipV="false" rot="0">
              <a:off x="0" y="0"/>
              <a:ext cx="956001" cy="48525"/>
            </a:xfrm>
            <a:custGeom>
              <a:avLst/>
              <a:gdLst/>
              <a:ahLst/>
              <a:cxnLst/>
              <a:rect r="r" b="b" t="t" l="l"/>
              <a:pathLst>
                <a:path h="48525" w="956001">
                  <a:moveTo>
                    <a:pt x="24263" y="0"/>
                  </a:moveTo>
                  <a:lnTo>
                    <a:pt x="931738" y="0"/>
                  </a:lnTo>
                  <a:cubicBezTo>
                    <a:pt x="945138" y="0"/>
                    <a:pt x="956001" y="10863"/>
                    <a:pt x="956001" y="24263"/>
                  </a:cubicBezTo>
                  <a:lnTo>
                    <a:pt x="956001" y="24263"/>
                  </a:lnTo>
                  <a:cubicBezTo>
                    <a:pt x="956001" y="30698"/>
                    <a:pt x="953445" y="36869"/>
                    <a:pt x="948895" y="41419"/>
                  </a:cubicBezTo>
                  <a:cubicBezTo>
                    <a:pt x="944344" y="45969"/>
                    <a:pt x="938173" y="48525"/>
                    <a:pt x="931738" y="48525"/>
                  </a:cubicBezTo>
                  <a:lnTo>
                    <a:pt x="24263" y="48525"/>
                  </a:lnTo>
                  <a:cubicBezTo>
                    <a:pt x="17828" y="48525"/>
                    <a:pt x="11657" y="45969"/>
                    <a:pt x="7106" y="41419"/>
                  </a:cubicBezTo>
                  <a:cubicBezTo>
                    <a:pt x="2556" y="36869"/>
                    <a:pt x="0" y="30698"/>
                    <a:pt x="0" y="24263"/>
                  </a:cubicBezTo>
                  <a:lnTo>
                    <a:pt x="0" y="24263"/>
                  </a:lnTo>
                  <a:cubicBezTo>
                    <a:pt x="0" y="17828"/>
                    <a:pt x="2556" y="11657"/>
                    <a:pt x="7106" y="7106"/>
                  </a:cubicBezTo>
                  <a:cubicBezTo>
                    <a:pt x="11657" y="2556"/>
                    <a:pt x="17828" y="0"/>
                    <a:pt x="24263" y="0"/>
                  </a:cubicBezTo>
                  <a:close/>
                </a:path>
              </a:pathLst>
            </a:custGeom>
            <a:solidFill>
              <a:srgbClr val="E98E2D">
                <a:alpha val="33725"/>
              </a:srgbClr>
            </a:solidFill>
          </p:spPr>
        </p:sp>
        <p:sp>
          <p:nvSpPr>
            <p:cNvPr name="TextBox 7" id="7"/>
            <p:cNvSpPr txBox="true"/>
            <p:nvPr/>
          </p:nvSpPr>
          <p:spPr>
            <a:xfrm>
              <a:off x="0" y="-38100"/>
              <a:ext cx="956001" cy="8662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923925"/>
            <a:ext cx="416898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Contexte</a:t>
            </a:r>
          </a:p>
        </p:txBody>
      </p:sp>
      <p:sp>
        <p:nvSpPr>
          <p:cNvPr name="TextBox 9" id="9"/>
          <p:cNvSpPr txBox="true"/>
          <p:nvPr/>
        </p:nvSpPr>
        <p:spPr>
          <a:xfrm rot="0">
            <a:off x="10515170" y="9252189"/>
            <a:ext cx="1450394" cy="34925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sourcing !</a:t>
            </a:r>
          </a:p>
        </p:txBody>
      </p:sp>
      <p:sp>
        <p:nvSpPr>
          <p:cNvPr name="TextBox 10" id="10"/>
          <p:cNvSpPr txBox="true"/>
          <p:nvPr/>
        </p:nvSpPr>
        <p:spPr>
          <a:xfrm rot="0">
            <a:off x="1679780" y="8293524"/>
            <a:ext cx="8835390" cy="339725"/>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Open Sauce"/>
                <a:ea typeface="Open Sauce"/>
                <a:cs typeface="Open Sauce"/>
                <a:sym typeface="Open Sauce"/>
              </a:rPr>
              <a:t> (cf. tribune de 322 élus et élues LREM dans Le Monde en octobre 2019)</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11623038" y="431401"/>
            <a:ext cx="6065230" cy="8623796"/>
          </a:xfrm>
          <a:custGeom>
            <a:avLst/>
            <a:gdLst/>
            <a:ahLst/>
            <a:cxnLst/>
            <a:rect r="r" b="b" t="t" l="l"/>
            <a:pathLst>
              <a:path h="8623796" w="6065230">
                <a:moveTo>
                  <a:pt x="0" y="0"/>
                </a:moveTo>
                <a:lnTo>
                  <a:pt x="6065230" y="0"/>
                </a:lnTo>
                <a:lnTo>
                  <a:pt x="6065230" y="8623796"/>
                </a:lnTo>
                <a:lnTo>
                  <a:pt x="0" y="8623796"/>
                </a:lnTo>
                <a:lnTo>
                  <a:pt x="0" y="0"/>
                </a:lnTo>
                <a:close/>
              </a:path>
            </a:pathLst>
          </a:custGeom>
          <a:blipFill>
            <a:blip r:embed="rId2"/>
            <a:stretch>
              <a:fillRect l="0" t="0" r="0" b="0"/>
            </a:stretch>
          </a:blipFill>
        </p:spPr>
      </p:sp>
      <p:sp>
        <p:nvSpPr>
          <p:cNvPr name="Freeform 3" id="3"/>
          <p:cNvSpPr/>
          <p:nvPr/>
        </p:nvSpPr>
        <p:spPr>
          <a:xfrm flipH="false" flipV="false" rot="0">
            <a:off x="11623038" y="8029458"/>
            <a:ext cx="6065230" cy="1826141"/>
          </a:xfrm>
          <a:custGeom>
            <a:avLst/>
            <a:gdLst/>
            <a:ahLst/>
            <a:cxnLst/>
            <a:rect r="r" b="b" t="t" l="l"/>
            <a:pathLst>
              <a:path h="1826141" w="6065230">
                <a:moveTo>
                  <a:pt x="0" y="0"/>
                </a:moveTo>
                <a:lnTo>
                  <a:pt x="6065230" y="0"/>
                </a:lnTo>
                <a:lnTo>
                  <a:pt x="6065230" y="1826141"/>
                </a:lnTo>
                <a:lnTo>
                  <a:pt x="0" y="1826141"/>
                </a:lnTo>
                <a:lnTo>
                  <a:pt x="0" y="0"/>
                </a:lnTo>
                <a:close/>
              </a:path>
            </a:pathLst>
          </a:custGeom>
          <a:blipFill>
            <a:blip r:embed="rId3"/>
            <a:stretch>
              <a:fillRect l="0" t="-41668" r="0" b="-330572"/>
            </a:stretch>
          </a:blipFill>
        </p:spPr>
      </p:sp>
      <p:grpSp>
        <p:nvGrpSpPr>
          <p:cNvPr name="Group 4" id="4"/>
          <p:cNvGrpSpPr/>
          <p:nvPr/>
        </p:nvGrpSpPr>
        <p:grpSpPr>
          <a:xfrm rot="0">
            <a:off x="12163821" y="9358504"/>
            <a:ext cx="3629816" cy="184245"/>
            <a:chOff x="0" y="0"/>
            <a:chExt cx="956001" cy="48525"/>
          </a:xfrm>
        </p:grpSpPr>
        <p:sp>
          <p:nvSpPr>
            <p:cNvPr name="Freeform 5" id="5"/>
            <p:cNvSpPr/>
            <p:nvPr/>
          </p:nvSpPr>
          <p:spPr>
            <a:xfrm flipH="false" flipV="false" rot="0">
              <a:off x="0" y="0"/>
              <a:ext cx="956001" cy="48525"/>
            </a:xfrm>
            <a:custGeom>
              <a:avLst/>
              <a:gdLst/>
              <a:ahLst/>
              <a:cxnLst/>
              <a:rect r="r" b="b" t="t" l="l"/>
              <a:pathLst>
                <a:path h="48525" w="956001">
                  <a:moveTo>
                    <a:pt x="24263" y="0"/>
                  </a:moveTo>
                  <a:lnTo>
                    <a:pt x="931738" y="0"/>
                  </a:lnTo>
                  <a:cubicBezTo>
                    <a:pt x="945138" y="0"/>
                    <a:pt x="956001" y="10863"/>
                    <a:pt x="956001" y="24263"/>
                  </a:cubicBezTo>
                  <a:lnTo>
                    <a:pt x="956001" y="24263"/>
                  </a:lnTo>
                  <a:cubicBezTo>
                    <a:pt x="956001" y="30698"/>
                    <a:pt x="953445" y="36869"/>
                    <a:pt x="948895" y="41419"/>
                  </a:cubicBezTo>
                  <a:cubicBezTo>
                    <a:pt x="944344" y="45969"/>
                    <a:pt x="938173" y="48525"/>
                    <a:pt x="931738" y="48525"/>
                  </a:cubicBezTo>
                  <a:lnTo>
                    <a:pt x="24263" y="48525"/>
                  </a:lnTo>
                  <a:cubicBezTo>
                    <a:pt x="17828" y="48525"/>
                    <a:pt x="11657" y="45969"/>
                    <a:pt x="7106" y="41419"/>
                  </a:cubicBezTo>
                  <a:cubicBezTo>
                    <a:pt x="2556" y="36869"/>
                    <a:pt x="0" y="30698"/>
                    <a:pt x="0" y="24263"/>
                  </a:cubicBezTo>
                  <a:lnTo>
                    <a:pt x="0" y="24263"/>
                  </a:lnTo>
                  <a:cubicBezTo>
                    <a:pt x="0" y="17828"/>
                    <a:pt x="2556" y="11657"/>
                    <a:pt x="7106" y="7106"/>
                  </a:cubicBezTo>
                  <a:cubicBezTo>
                    <a:pt x="11657" y="2556"/>
                    <a:pt x="17828" y="0"/>
                    <a:pt x="24263" y="0"/>
                  </a:cubicBezTo>
                  <a:close/>
                </a:path>
              </a:pathLst>
            </a:custGeom>
            <a:solidFill>
              <a:srgbClr val="E98E2D">
                <a:alpha val="33725"/>
              </a:srgbClr>
            </a:solidFill>
          </p:spPr>
        </p:sp>
        <p:sp>
          <p:nvSpPr>
            <p:cNvPr name="TextBox 6" id="6"/>
            <p:cNvSpPr txBox="true"/>
            <p:nvPr/>
          </p:nvSpPr>
          <p:spPr>
            <a:xfrm>
              <a:off x="0" y="-38100"/>
              <a:ext cx="956001" cy="8662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162462" y="7981833"/>
            <a:ext cx="5216052" cy="34925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C’est ici que le </a:t>
            </a:r>
            <a:r>
              <a:rPr lang="en-US" sz="2000" b="true">
                <a:solidFill>
                  <a:srgbClr val="E98E2D"/>
                </a:solidFill>
                <a:latin typeface="Open Sans Bold"/>
                <a:ea typeface="Open Sans Bold"/>
                <a:cs typeface="Open Sans Bold"/>
                <a:sym typeface="Open Sans Bold"/>
              </a:rPr>
              <a:t>sourcing</a:t>
            </a:r>
            <a:r>
              <a:rPr lang="en-US" sz="2000">
                <a:solidFill>
                  <a:srgbClr val="000000"/>
                </a:solidFill>
                <a:latin typeface="Open Sans"/>
                <a:ea typeface="Open Sans"/>
                <a:cs typeface="Open Sans"/>
                <a:sym typeface="Open Sans"/>
              </a:rPr>
              <a:t> peut se trouver</a:t>
            </a:r>
          </a:p>
        </p:txBody>
      </p:sp>
      <p:grpSp>
        <p:nvGrpSpPr>
          <p:cNvPr name="Group 8" id="8"/>
          <p:cNvGrpSpPr/>
          <p:nvPr/>
        </p:nvGrpSpPr>
        <p:grpSpPr>
          <a:xfrm rot="0">
            <a:off x="11115063" y="5401962"/>
            <a:ext cx="125304" cy="1609536"/>
            <a:chOff x="0" y="0"/>
            <a:chExt cx="167072" cy="2146048"/>
          </a:xfrm>
        </p:grpSpPr>
        <p:sp>
          <p:nvSpPr>
            <p:cNvPr name="AutoShape 9" id="9"/>
            <p:cNvSpPr/>
            <p:nvPr/>
          </p:nvSpPr>
          <p:spPr>
            <a:xfrm>
              <a:off x="25399" y="207"/>
              <a:ext cx="17466" cy="2145634"/>
            </a:xfrm>
            <a:prstGeom prst="line">
              <a:avLst/>
            </a:prstGeom>
            <a:ln cap="flat" w="50800">
              <a:solidFill>
                <a:srgbClr val="000000"/>
              </a:solidFill>
              <a:prstDash val="solid"/>
              <a:headEnd type="none" len="sm" w="sm"/>
              <a:tailEnd type="none" len="sm" w="sm"/>
            </a:ln>
          </p:spPr>
        </p:sp>
        <p:sp>
          <p:nvSpPr>
            <p:cNvPr name="AutoShape 10" id="10"/>
            <p:cNvSpPr/>
            <p:nvPr/>
          </p:nvSpPr>
          <p:spPr>
            <a:xfrm flipV="true">
              <a:off x="25452" y="2120147"/>
              <a:ext cx="141567" cy="294"/>
            </a:xfrm>
            <a:prstGeom prst="line">
              <a:avLst/>
            </a:prstGeom>
            <a:ln cap="flat" w="50800">
              <a:solidFill>
                <a:srgbClr val="000000"/>
              </a:solidFill>
              <a:prstDash val="solid"/>
              <a:headEnd type="none" len="sm" w="sm"/>
              <a:tailEnd type="none" len="sm" w="sm"/>
            </a:ln>
          </p:spPr>
        </p:sp>
        <p:sp>
          <p:nvSpPr>
            <p:cNvPr name="AutoShape 11" id="11"/>
            <p:cNvSpPr/>
            <p:nvPr/>
          </p:nvSpPr>
          <p:spPr>
            <a:xfrm flipV="true">
              <a:off x="25350" y="25607"/>
              <a:ext cx="141567" cy="294"/>
            </a:xfrm>
            <a:prstGeom prst="line">
              <a:avLst/>
            </a:prstGeom>
            <a:ln cap="flat" w="50800">
              <a:solidFill>
                <a:srgbClr val="000000"/>
              </a:solidFill>
              <a:prstDash val="solid"/>
              <a:headEnd type="none" len="sm" w="sm"/>
              <a:tailEnd type="none" len="sm" w="sm"/>
            </a:ln>
          </p:spPr>
        </p:sp>
      </p:grpSp>
      <p:grpSp>
        <p:nvGrpSpPr>
          <p:cNvPr name="Group 12" id="12"/>
          <p:cNvGrpSpPr/>
          <p:nvPr/>
        </p:nvGrpSpPr>
        <p:grpSpPr>
          <a:xfrm rot="0">
            <a:off x="11115063" y="3422867"/>
            <a:ext cx="125304" cy="1609536"/>
            <a:chOff x="0" y="0"/>
            <a:chExt cx="167072" cy="2146048"/>
          </a:xfrm>
        </p:grpSpPr>
        <p:sp>
          <p:nvSpPr>
            <p:cNvPr name="AutoShape 13" id="13"/>
            <p:cNvSpPr/>
            <p:nvPr/>
          </p:nvSpPr>
          <p:spPr>
            <a:xfrm>
              <a:off x="25399" y="207"/>
              <a:ext cx="17466" cy="2145634"/>
            </a:xfrm>
            <a:prstGeom prst="line">
              <a:avLst/>
            </a:prstGeom>
            <a:ln cap="flat" w="50800">
              <a:solidFill>
                <a:srgbClr val="000000"/>
              </a:solidFill>
              <a:prstDash val="solid"/>
              <a:headEnd type="none" len="sm" w="sm"/>
              <a:tailEnd type="none" len="sm" w="sm"/>
            </a:ln>
          </p:spPr>
        </p:sp>
        <p:sp>
          <p:nvSpPr>
            <p:cNvPr name="AutoShape 14" id="14"/>
            <p:cNvSpPr/>
            <p:nvPr/>
          </p:nvSpPr>
          <p:spPr>
            <a:xfrm flipV="true">
              <a:off x="25452" y="2120147"/>
              <a:ext cx="141567" cy="294"/>
            </a:xfrm>
            <a:prstGeom prst="line">
              <a:avLst/>
            </a:prstGeom>
            <a:ln cap="flat" w="50800">
              <a:solidFill>
                <a:srgbClr val="000000"/>
              </a:solidFill>
              <a:prstDash val="solid"/>
              <a:headEnd type="none" len="sm" w="sm"/>
              <a:tailEnd type="none" len="sm" w="sm"/>
            </a:ln>
          </p:spPr>
        </p:sp>
        <p:sp>
          <p:nvSpPr>
            <p:cNvPr name="AutoShape 15" id="15"/>
            <p:cNvSpPr/>
            <p:nvPr/>
          </p:nvSpPr>
          <p:spPr>
            <a:xfrm flipV="true">
              <a:off x="25350" y="25607"/>
              <a:ext cx="141567" cy="294"/>
            </a:xfrm>
            <a:prstGeom prst="line">
              <a:avLst/>
            </a:prstGeom>
            <a:ln cap="flat" w="50800">
              <a:solidFill>
                <a:srgbClr val="000000"/>
              </a:solidFill>
              <a:prstDash val="solid"/>
              <a:headEnd type="none" len="sm" w="sm"/>
              <a:tailEnd type="none" len="sm" w="sm"/>
            </a:ln>
          </p:spPr>
        </p:sp>
      </p:grpSp>
      <p:grpSp>
        <p:nvGrpSpPr>
          <p:cNvPr name="Group 16" id="16"/>
          <p:cNvGrpSpPr/>
          <p:nvPr/>
        </p:nvGrpSpPr>
        <p:grpSpPr>
          <a:xfrm rot="0">
            <a:off x="11115025" y="7224845"/>
            <a:ext cx="125342" cy="2413978"/>
            <a:chOff x="0" y="0"/>
            <a:chExt cx="167122" cy="3218638"/>
          </a:xfrm>
        </p:grpSpPr>
        <p:sp>
          <p:nvSpPr>
            <p:cNvPr name="AutoShape 17" id="17"/>
            <p:cNvSpPr/>
            <p:nvPr/>
          </p:nvSpPr>
          <p:spPr>
            <a:xfrm flipH="true">
              <a:off x="25400" y="0"/>
              <a:ext cx="50" cy="3218637"/>
            </a:xfrm>
            <a:prstGeom prst="line">
              <a:avLst/>
            </a:prstGeom>
            <a:ln cap="flat" w="50800">
              <a:solidFill>
                <a:srgbClr val="000000"/>
              </a:solidFill>
              <a:prstDash val="solid"/>
              <a:headEnd type="none" len="sm" w="sm"/>
              <a:tailEnd type="none" len="sm" w="sm"/>
            </a:ln>
          </p:spPr>
        </p:sp>
        <p:sp>
          <p:nvSpPr>
            <p:cNvPr name="AutoShape 18" id="18"/>
            <p:cNvSpPr/>
            <p:nvPr/>
          </p:nvSpPr>
          <p:spPr>
            <a:xfrm flipV="true">
              <a:off x="25502" y="3192943"/>
              <a:ext cx="141567" cy="294"/>
            </a:xfrm>
            <a:prstGeom prst="line">
              <a:avLst/>
            </a:prstGeom>
            <a:ln cap="flat" w="50800">
              <a:solidFill>
                <a:srgbClr val="000000"/>
              </a:solidFill>
              <a:prstDash val="solid"/>
              <a:headEnd type="none" len="sm" w="sm"/>
              <a:tailEnd type="none" len="sm" w="sm"/>
            </a:ln>
          </p:spPr>
        </p:sp>
        <p:sp>
          <p:nvSpPr>
            <p:cNvPr name="AutoShape 19" id="19"/>
            <p:cNvSpPr/>
            <p:nvPr/>
          </p:nvSpPr>
          <p:spPr>
            <a:xfrm flipV="true">
              <a:off x="25400" y="25400"/>
              <a:ext cx="141567" cy="294"/>
            </a:xfrm>
            <a:prstGeom prst="line">
              <a:avLst/>
            </a:prstGeom>
            <a:ln cap="flat" w="50800">
              <a:solidFill>
                <a:srgbClr val="000000"/>
              </a:solidFill>
              <a:prstDash val="solid"/>
              <a:headEnd type="none" len="sm" w="sm"/>
              <a:tailEnd type="none" len="sm" w="sm"/>
            </a:ln>
          </p:spPr>
        </p:sp>
      </p:grpSp>
      <p:sp>
        <p:nvSpPr>
          <p:cNvPr name="AutoShape 20" id="20"/>
          <p:cNvSpPr/>
          <p:nvPr/>
        </p:nvSpPr>
        <p:spPr>
          <a:xfrm flipV="true">
            <a:off x="6217570" y="8189795"/>
            <a:ext cx="417138" cy="2659"/>
          </a:xfrm>
          <a:prstGeom prst="line">
            <a:avLst/>
          </a:prstGeom>
          <a:ln cap="flat" w="19050">
            <a:solidFill>
              <a:srgbClr val="000000"/>
            </a:solidFill>
            <a:prstDash val="solid"/>
            <a:headEnd type="none" len="sm" w="sm"/>
            <a:tailEnd type="triangle" len="med" w="lg"/>
          </a:ln>
        </p:spPr>
      </p:sp>
      <p:grpSp>
        <p:nvGrpSpPr>
          <p:cNvPr name="Group 21" id="21"/>
          <p:cNvGrpSpPr/>
          <p:nvPr/>
        </p:nvGrpSpPr>
        <p:grpSpPr>
          <a:xfrm rot="0">
            <a:off x="11115025" y="799339"/>
            <a:ext cx="125342" cy="2413978"/>
            <a:chOff x="0" y="0"/>
            <a:chExt cx="167122" cy="3218638"/>
          </a:xfrm>
        </p:grpSpPr>
        <p:sp>
          <p:nvSpPr>
            <p:cNvPr name="AutoShape 22" id="22"/>
            <p:cNvSpPr/>
            <p:nvPr/>
          </p:nvSpPr>
          <p:spPr>
            <a:xfrm flipH="true">
              <a:off x="25400" y="0"/>
              <a:ext cx="50" cy="3218637"/>
            </a:xfrm>
            <a:prstGeom prst="line">
              <a:avLst/>
            </a:prstGeom>
            <a:ln cap="flat" w="50800">
              <a:solidFill>
                <a:srgbClr val="000000"/>
              </a:solidFill>
              <a:prstDash val="solid"/>
              <a:headEnd type="none" len="sm" w="sm"/>
              <a:tailEnd type="none" len="sm" w="sm"/>
            </a:ln>
          </p:spPr>
        </p:sp>
        <p:sp>
          <p:nvSpPr>
            <p:cNvPr name="AutoShape 23" id="23"/>
            <p:cNvSpPr/>
            <p:nvPr/>
          </p:nvSpPr>
          <p:spPr>
            <a:xfrm flipV="true">
              <a:off x="25502" y="3192943"/>
              <a:ext cx="141567" cy="294"/>
            </a:xfrm>
            <a:prstGeom prst="line">
              <a:avLst/>
            </a:prstGeom>
            <a:ln cap="flat" w="50800">
              <a:solidFill>
                <a:srgbClr val="000000"/>
              </a:solidFill>
              <a:prstDash val="solid"/>
              <a:headEnd type="none" len="sm" w="sm"/>
              <a:tailEnd type="none" len="sm" w="sm"/>
            </a:ln>
          </p:spPr>
        </p:sp>
        <p:sp>
          <p:nvSpPr>
            <p:cNvPr name="AutoShape 24" id="24"/>
            <p:cNvSpPr/>
            <p:nvPr/>
          </p:nvSpPr>
          <p:spPr>
            <a:xfrm flipV="true">
              <a:off x="25400" y="25400"/>
              <a:ext cx="141567" cy="294"/>
            </a:xfrm>
            <a:prstGeom prst="line">
              <a:avLst/>
            </a:prstGeom>
            <a:ln cap="flat" w="50800">
              <a:solidFill>
                <a:srgbClr val="000000"/>
              </a:solidFill>
              <a:prstDash val="solid"/>
              <a:headEnd type="none" len="sm" w="sm"/>
              <a:tailEnd type="none" len="sm" w="sm"/>
            </a:ln>
          </p:spPr>
        </p:sp>
      </p:grpSp>
      <p:sp>
        <p:nvSpPr>
          <p:cNvPr name="TextBox 25" id="25"/>
          <p:cNvSpPr txBox="true"/>
          <p:nvPr/>
        </p:nvSpPr>
        <p:spPr>
          <a:xfrm rot="0">
            <a:off x="8009084" y="5971780"/>
            <a:ext cx="2826379" cy="422275"/>
          </a:xfrm>
          <a:prstGeom prst="rect">
            <a:avLst/>
          </a:prstGeom>
        </p:spPr>
        <p:txBody>
          <a:bodyPr anchor="t" rtlCol="false" tIns="0" lIns="0" bIns="0" rIns="0">
            <a:spAutoFit/>
          </a:bodyPr>
          <a:lstStyle/>
          <a:p>
            <a:pPr algn="r">
              <a:lnSpc>
                <a:spcPts val="3499"/>
              </a:lnSpc>
            </a:pPr>
            <a:r>
              <a:rPr lang="en-US" sz="2499">
                <a:solidFill>
                  <a:srgbClr val="000000"/>
                </a:solidFill>
                <a:latin typeface="Open Sauce"/>
                <a:ea typeface="Open Sauce"/>
                <a:cs typeface="Open Sauce"/>
                <a:sym typeface="Open Sauce"/>
              </a:rPr>
              <a:t>Substance</a:t>
            </a:r>
          </a:p>
        </p:txBody>
      </p:sp>
      <p:sp>
        <p:nvSpPr>
          <p:cNvPr name="TextBox 26" id="26"/>
          <p:cNvSpPr txBox="true"/>
          <p:nvPr/>
        </p:nvSpPr>
        <p:spPr>
          <a:xfrm rot="0">
            <a:off x="1028700" y="1104900"/>
            <a:ext cx="6747508" cy="1327150"/>
          </a:xfrm>
          <a:prstGeom prst="rect">
            <a:avLst/>
          </a:prstGeom>
        </p:spPr>
        <p:txBody>
          <a:bodyPr anchor="t" rtlCol="false" tIns="0" lIns="0" bIns="0" rIns="0">
            <a:spAutoFit/>
          </a:bodyPr>
          <a:lstStyle/>
          <a:p>
            <a:pPr algn="l">
              <a:lnSpc>
                <a:spcPts val="5150"/>
              </a:lnSpc>
            </a:pPr>
            <a:r>
              <a:rPr lang="en-US" sz="5000" b="true">
                <a:solidFill>
                  <a:srgbClr val="000000"/>
                </a:solidFill>
                <a:latin typeface="Open Sauce Bold"/>
                <a:ea typeface="Open Sauce Bold"/>
                <a:cs typeface="Open Sauce Bold"/>
                <a:sym typeface="Open Sauce Bold"/>
              </a:rPr>
              <a:t>Contexte : structure</a:t>
            </a:r>
          </a:p>
          <a:p>
            <a:pPr algn="l">
              <a:lnSpc>
                <a:spcPts val="5150"/>
              </a:lnSpc>
            </a:pPr>
            <a:r>
              <a:rPr lang="en-US" sz="5000" b="true">
                <a:solidFill>
                  <a:srgbClr val="000000"/>
                </a:solidFill>
                <a:latin typeface="Open Sauce Bold"/>
                <a:ea typeface="Open Sauce Bold"/>
                <a:cs typeface="Open Sauce Bold"/>
                <a:sym typeface="Open Sauce Bold"/>
              </a:rPr>
              <a:t>d’un amendement</a:t>
            </a:r>
          </a:p>
        </p:txBody>
      </p:sp>
      <p:sp>
        <p:nvSpPr>
          <p:cNvPr name="TextBox 27" id="27"/>
          <p:cNvSpPr txBox="true"/>
          <p:nvPr/>
        </p:nvSpPr>
        <p:spPr>
          <a:xfrm rot="0">
            <a:off x="7600728" y="3990778"/>
            <a:ext cx="3234735" cy="422275"/>
          </a:xfrm>
          <a:prstGeom prst="rect">
            <a:avLst/>
          </a:prstGeom>
        </p:spPr>
        <p:txBody>
          <a:bodyPr anchor="t" rtlCol="false" tIns="0" lIns="0" bIns="0" rIns="0">
            <a:spAutoFit/>
          </a:bodyPr>
          <a:lstStyle/>
          <a:p>
            <a:pPr algn="r">
              <a:lnSpc>
                <a:spcPts val="3499"/>
              </a:lnSpc>
            </a:pPr>
            <a:r>
              <a:rPr lang="en-US" sz="2499">
                <a:solidFill>
                  <a:srgbClr val="000000"/>
                </a:solidFill>
                <a:latin typeface="Open Sauce"/>
                <a:ea typeface="Open Sauce"/>
                <a:cs typeface="Open Sauce"/>
                <a:sym typeface="Open Sauce"/>
              </a:rPr>
              <a:t>Autrices/Auteurs</a:t>
            </a:r>
          </a:p>
        </p:txBody>
      </p:sp>
      <p:sp>
        <p:nvSpPr>
          <p:cNvPr name="TextBox 28" id="28"/>
          <p:cNvSpPr txBox="true"/>
          <p:nvPr/>
        </p:nvSpPr>
        <p:spPr>
          <a:xfrm rot="0">
            <a:off x="6910994" y="7892655"/>
            <a:ext cx="3924469" cy="1057275"/>
          </a:xfrm>
          <a:prstGeom prst="rect">
            <a:avLst/>
          </a:prstGeom>
        </p:spPr>
        <p:txBody>
          <a:bodyPr anchor="t" rtlCol="false" tIns="0" lIns="0" bIns="0" rIns="0">
            <a:spAutoFit/>
          </a:bodyPr>
          <a:lstStyle/>
          <a:p>
            <a:pPr algn="r">
              <a:lnSpc>
                <a:spcPts val="4200"/>
              </a:lnSpc>
            </a:pPr>
            <a:r>
              <a:rPr lang="en-US" sz="3000" b="true">
                <a:solidFill>
                  <a:srgbClr val="000000"/>
                </a:solidFill>
                <a:latin typeface="Open Sauce Bold"/>
                <a:ea typeface="Open Sauce Bold"/>
                <a:cs typeface="Open Sauce Bold"/>
                <a:sym typeface="Open Sauce Bold"/>
              </a:rPr>
              <a:t>Exposé sommaire des motifs</a:t>
            </a:r>
          </a:p>
        </p:txBody>
      </p:sp>
      <p:sp>
        <p:nvSpPr>
          <p:cNvPr name="TextBox 29" id="29"/>
          <p:cNvSpPr txBox="true"/>
          <p:nvPr/>
        </p:nvSpPr>
        <p:spPr>
          <a:xfrm rot="0">
            <a:off x="8310858" y="1552303"/>
            <a:ext cx="2524604" cy="860425"/>
          </a:xfrm>
          <a:prstGeom prst="rect">
            <a:avLst/>
          </a:prstGeom>
        </p:spPr>
        <p:txBody>
          <a:bodyPr anchor="t" rtlCol="false" tIns="0" lIns="0" bIns="0" rIns="0">
            <a:spAutoFit/>
          </a:bodyPr>
          <a:lstStyle/>
          <a:p>
            <a:pPr algn="r">
              <a:lnSpc>
                <a:spcPts val="3499"/>
              </a:lnSpc>
            </a:pPr>
            <a:r>
              <a:rPr lang="en-US" sz="2499">
                <a:solidFill>
                  <a:srgbClr val="000000"/>
                </a:solidFill>
                <a:latin typeface="Open Sauce"/>
                <a:ea typeface="Open Sauce"/>
                <a:cs typeface="Open Sauce"/>
                <a:sym typeface="Open Sauce"/>
              </a:rPr>
              <a:t>Date, projet de loi, identifiants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27448" y="3180712"/>
            <a:ext cx="12984813" cy="265747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Open Sauce"/>
                <a:ea typeface="Open Sauce"/>
                <a:cs typeface="Open Sauce"/>
                <a:sym typeface="Open Sauce"/>
              </a:rPr>
              <a:t>La pratique est-elle répandue ? (RQ1)</a:t>
            </a:r>
          </a:p>
          <a:p>
            <a:pPr algn="l">
              <a:lnSpc>
                <a:spcPts val="4200"/>
              </a:lnSpc>
            </a:pPr>
          </a:p>
          <a:p>
            <a:pPr algn="l" marL="647700" indent="-323850" lvl="1">
              <a:lnSpc>
                <a:spcPts val="4200"/>
              </a:lnSpc>
              <a:buFont typeface="Arial"/>
              <a:buChar char="•"/>
            </a:pPr>
            <a:r>
              <a:rPr lang="en-US" sz="3000">
                <a:solidFill>
                  <a:srgbClr val="000000"/>
                </a:solidFill>
                <a:latin typeface="Open Sauce"/>
                <a:ea typeface="Open Sauce"/>
                <a:cs typeface="Open Sauce"/>
                <a:sym typeface="Open Sauce"/>
              </a:rPr>
              <a:t>La pratique est-elle uniforme entre </a:t>
            </a:r>
            <a:r>
              <a:rPr lang="en-US" sz="3000">
                <a:solidFill>
                  <a:srgbClr val="000000"/>
                </a:solidFill>
                <a:latin typeface="Open Sauce"/>
                <a:ea typeface="Open Sauce"/>
                <a:cs typeface="Open Sauce"/>
                <a:sym typeface="Open Sauce"/>
              </a:rPr>
              <a:t>les groupes politiques ? (RQ2)</a:t>
            </a:r>
          </a:p>
          <a:p>
            <a:pPr algn="l">
              <a:lnSpc>
                <a:spcPts val="4200"/>
              </a:lnSpc>
            </a:pPr>
          </a:p>
          <a:p>
            <a:pPr algn="l" marL="647700" indent="-323850" lvl="1">
              <a:lnSpc>
                <a:spcPts val="4200"/>
              </a:lnSpc>
              <a:buFont typeface="Arial"/>
              <a:buChar char="•"/>
            </a:pPr>
            <a:r>
              <a:rPr lang="en-US" sz="3000">
                <a:solidFill>
                  <a:srgbClr val="000000"/>
                </a:solidFill>
                <a:latin typeface="Open Sauce"/>
                <a:ea typeface="Open Sauce"/>
                <a:cs typeface="Open Sauce"/>
                <a:sym typeface="Open Sauce"/>
              </a:rPr>
              <a:t>L'influence déclarée est-elle fructueuse ? (RQ3)</a:t>
            </a:r>
          </a:p>
        </p:txBody>
      </p:sp>
      <p:sp>
        <p:nvSpPr>
          <p:cNvPr name="TextBox 3" id="3"/>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Questions de recherche</a:t>
            </a:r>
          </a:p>
        </p:txBody>
      </p:sp>
      <p:sp>
        <p:nvSpPr>
          <p:cNvPr name="TextBox 4" id="4"/>
          <p:cNvSpPr txBox="true"/>
          <p:nvPr/>
        </p:nvSpPr>
        <p:spPr>
          <a:xfrm rot="0">
            <a:off x="1115855" y="7231374"/>
            <a:ext cx="16056290" cy="1057275"/>
          </a:xfrm>
          <a:prstGeom prst="rect">
            <a:avLst/>
          </a:prstGeom>
        </p:spPr>
        <p:txBody>
          <a:bodyPr anchor="t" rtlCol="false" tIns="0" lIns="0" bIns="0" rIns="0">
            <a:spAutoFit/>
          </a:bodyPr>
          <a:lstStyle/>
          <a:p>
            <a:pPr algn="l">
              <a:lnSpc>
                <a:spcPts val="4200"/>
              </a:lnSpc>
            </a:pPr>
            <a:r>
              <a:rPr lang="en-US" sz="3000" u="sng">
                <a:solidFill>
                  <a:srgbClr val="000000"/>
                </a:solidFill>
                <a:latin typeface="Open Sauce"/>
                <a:ea typeface="Open Sauce"/>
                <a:cs typeface="Open Sauce"/>
                <a:sym typeface="Open Sauce"/>
              </a:rPr>
              <a:t>Méthodologiquement :</a:t>
            </a:r>
            <a:r>
              <a:rPr lang="en-US" sz="3000">
                <a:solidFill>
                  <a:srgbClr val="000000"/>
                </a:solidFill>
                <a:latin typeface="Open Sauce"/>
                <a:ea typeface="Open Sauce"/>
                <a:cs typeface="Open Sauce"/>
                <a:sym typeface="Open Sauce"/>
              </a:rPr>
              <a:t> Peut-on identifier les amendements sourcés sur un large corpus en fine-tunant un modèle de type </a:t>
            </a:r>
            <a:r>
              <a:rPr lang="en-US" sz="3000" b="true">
                <a:solidFill>
                  <a:srgbClr val="000000"/>
                </a:solidFill>
                <a:latin typeface="Open Sauce Bold"/>
                <a:ea typeface="Open Sauce Bold"/>
                <a:cs typeface="Open Sauce Bold"/>
                <a:sym typeface="Open Sauce Bold"/>
              </a:rPr>
              <a:t>encoder</a:t>
            </a:r>
            <a:r>
              <a:rPr lang="en-US" sz="3000">
                <a:solidFill>
                  <a:srgbClr val="000000"/>
                </a:solidFill>
                <a:latin typeface="Open Sauce"/>
                <a:ea typeface="Open Sauce"/>
                <a:cs typeface="Open Sauce"/>
                <a:sym typeface="Open Sauce"/>
              </a:rPr>
              <a:t> à partir d'un </a:t>
            </a:r>
            <a:r>
              <a:rPr lang="en-US" sz="3000" b="true">
                <a:solidFill>
                  <a:srgbClr val="000000"/>
                </a:solidFill>
                <a:latin typeface="Open Sauce Bold"/>
                <a:ea typeface="Open Sauce Bold"/>
                <a:cs typeface="Open Sauce Bold"/>
                <a:sym typeface="Open Sauce Bold"/>
              </a:rPr>
              <a:t>nombre limité d'annotations</a:t>
            </a:r>
            <a:r>
              <a:rPr lang="en-US" sz="3000">
                <a:solidFill>
                  <a:srgbClr val="000000"/>
                </a:solidFill>
                <a:latin typeface="Open Sauce"/>
                <a:ea typeface="Open Sauce"/>
                <a:cs typeface="Open Sauce"/>
                <a:sym typeface="Open Sauce"/>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624837" y="3466632"/>
            <a:ext cx="6301966" cy="3917722"/>
          </a:xfrm>
          <a:custGeom>
            <a:avLst/>
            <a:gdLst/>
            <a:ahLst/>
            <a:cxnLst/>
            <a:rect r="r" b="b" t="t" l="l"/>
            <a:pathLst>
              <a:path h="3917722" w="6301966">
                <a:moveTo>
                  <a:pt x="0" y="0"/>
                </a:moveTo>
                <a:lnTo>
                  <a:pt x="6301967" y="0"/>
                </a:lnTo>
                <a:lnTo>
                  <a:pt x="6301967" y="3917723"/>
                </a:lnTo>
                <a:lnTo>
                  <a:pt x="0" y="3917723"/>
                </a:lnTo>
                <a:lnTo>
                  <a:pt x="0" y="0"/>
                </a:lnTo>
                <a:close/>
              </a:path>
            </a:pathLst>
          </a:custGeom>
          <a:blipFill>
            <a:blip r:embed="rId3"/>
            <a:stretch>
              <a:fillRect l="0" t="0" r="0" b="0"/>
            </a:stretch>
          </a:blipFill>
        </p:spPr>
      </p:sp>
      <p:sp>
        <p:nvSpPr>
          <p:cNvPr name="TextBox 3" id="3"/>
          <p:cNvSpPr txBox="true"/>
          <p:nvPr/>
        </p:nvSpPr>
        <p:spPr>
          <a:xfrm rot="0">
            <a:off x="1028700" y="2223966"/>
            <a:ext cx="16518261" cy="1035141"/>
          </a:xfrm>
          <a:prstGeom prst="rect">
            <a:avLst/>
          </a:prstGeom>
        </p:spPr>
        <p:txBody>
          <a:bodyPr anchor="t" rtlCol="false" tIns="0" lIns="0" bIns="0" rIns="0">
            <a:spAutoFit/>
          </a:bodyPr>
          <a:lstStyle/>
          <a:p>
            <a:pPr algn="l">
              <a:lnSpc>
                <a:spcPts val="4199"/>
              </a:lnSpc>
            </a:pPr>
            <a:r>
              <a:rPr lang="en-US" sz="2999">
                <a:solidFill>
                  <a:srgbClr val="000000"/>
                </a:solidFill>
                <a:latin typeface="Open Sauce"/>
                <a:ea typeface="Open Sauce"/>
                <a:cs typeface="Open Sauce"/>
                <a:sym typeface="Open Sauce"/>
              </a:rPr>
              <a:t>Ensemble des amendements de la XVIIème législature de l’Assemblée Nationale (AN) jusqu’au 21-07-2026.</a:t>
            </a:r>
          </a:p>
        </p:txBody>
      </p:sp>
      <p:sp>
        <p:nvSpPr>
          <p:cNvPr name="TextBox 4" id="4"/>
          <p:cNvSpPr txBox="true"/>
          <p:nvPr/>
        </p:nvSpPr>
        <p:spPr>
          <a:xfrm rot="0">
            <a:off x="1028700" y="923925"/>
            <a:ext cx="4300954"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Données</a:t>
            </a:r>
          </a:p>
        </p:txBody>
      </p:sp>
      <p:sp>
        <p:nvSpPr>
          <p:cNvPr name="TextBox 5" id="5"/>
          <p:cNvSpPr txBox="true"/>
          <p:nvPr/>
        </p:nvSpPr>
        <p:spPr>
          <a:xfrm rot="0">
            <a:off x="1607030" y="3960707"/>
            <a:ext cx="7680801" cy="97663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Open Sauce Bold"/>
                <a:ea typeface="Open Sauce Bold"/>
                <a:cs typeface="Open Sauce Bold"/>
                <a:sym typeface="Open Sauce Bold"/>
              </a:rPr>
              <a:t>df_original </a:t>
            </a:r>
            <a:r>
              <a:rPr lang="en-US" b="true" sz="2800">
                <a:solidFill>
                  <a:srgbClr val="000000"/>
                </a:solidFill>
                <a:latin typeface="Open Sauce Bold"/>
                <a:ea typeface="Open Sauce Bold"/>
                <a:cs typeface="Open Sauce Bold"/>
                <a:sym typeface="Open Sauce Bold"/>
              </a:rPr>
              <a:t>= 123 224 amendements x 25 col</a:t>
            </a:r>
          </a:p>
          <a:p>
            <a:pPr algn="l">
              <a:lnSpc>
                <a:spcPts val="3920"/>
              </a:lnSpc>
              <a:spcBef>
                <a:spcPct val="0"/>
              </a:spcBef>
            </a:pPr>
            <a:r>
              <a:rPr lang="en-US" b="true" sz="2800">
                <a:solidFill>
                  <a:srgbClr val="000000"/>
                </a:solidFill>
                <a:latin typeface="Open Sauce Bold"/>
                <a:ea typeface="Open Sauce Bold"/>
                <a:cs typeface="Open Sauce Bold"/>
                <a:sym typeface="Open Sauce Bold"/>
              </a:rPr>
              <a:t>df_clean = 65 388 amendements x 2 col</a:t>
            </a:r>
          </a:p>
        </p:txBody>
      </p:sp>
      <p:sp>
        <p:nvSpPr>
          <p:cNvPr name="TextBox 6" id="6"/>
          <p:cNvSpPr txBox="true"/>
          <p:nvPr/>
        </p:nvSpPr>
        <p:spPr>
          <a:xfrm rot="0">
            <a:off x="1028700" y="5629411"/>
            <a:ext cx="8650904" cy="15906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Retirer les variables inutiles, les amendements dont l’exposé sommaire est vide, les </a:t>
            </a:r>
            <a:r>
              <a:rPr lang="en-US" sz="3000" u="sng">
                <a:solidFill>
                  <a:srgbClr val="000000"/>
                </a:solidFill>
                <a:latin typeface="Open Sauce"/>
                <a:ea typeface="Open Sauce"/>
                <a:cs typeface="Open Sauce"/>
                <a:sym typeface="Open Sauce"/>
              </a:rPr>
              <a:t>duplicats</a:t>
            </a:r>
            <a:r>
              <a:rPr lang="en-US" sz="3000">
                <a:solidFill>
                  <a:srgbClr val="000000"/>
                </a:solidFill>
                <a:latin typeface="Open Sauce"/>
                <a:ea typeface="Open Sauce"/>
                <a:cs typeface="Open Sauce"/>
                <a:sym typeface="Open Sauce"/>
              </a:rPr>
              <a:t>, les </a:t>
            </a:r>
            <a:r>
              <a:rPr lang="en-US" sz="3000" u="sng">
                <a:solidFill>
                  <a:srgbClr val="000000"/>
                </a:solidFill>
                <a:latin typeface="Open Sauce"/>
                <a:ea typeface="Open Sauce"/>
                <a:cs typeface="Open Sauce"/>
                <a:sym typeface="Open Sauce"/>
              </a:rPr>
              <a:t>amendements de +1024 tokens</a:t>
            </a:r>
            <a:r>
              <a:rPr lang="en-US" sz="3000">
                <a:solidFill>
                  <a:srgbClr val="000000"/>
                </a:solidFill>
                <a:latin typeface="Open Sauce"/>
                <a:ea typeface="Open Sauce"/>
                <a:cs typeface="Open Sauce"/>
                <a:sym typeface="Open Sauce"/>
              </a:rPr>
              <a:t>.</a:t>
            </a:r>
          </a:p>
        </p:txBody>
      </p:sp>
      <p:grpSp>
        <p:nvGrpSpPr>
          <p:cNvPr name="Group 7" id="7"/>
          <p:cNvGrpSpPr/>
          <p:nvPr/>
        </p:nvGrpSpPr>
        <p:grpSpPr>
          <a:xfrm rot="0">
            <a:off x="1756178" y="7316917"/>
            <a:ext cx="347639" cy="504566"/>
            <a:chOff x="0" y="0"/>
            <a:chExt cx="463519" cy="672755"/>
          </a:xfrm>
        </p:grpSpPr>
        <p:sp>
          <p:nvSpPr>
            <p:cNvPr name="AutoShape 8" id="8"/>
            <p:cNvSpPr/>
            <p:nvPr/>
          </p:nvSpPr>
          <p:spPr>
            <a:xfrm>
              <a:off x="0" y="647355"/>
              <a:ext cx="463519" cy="0"/>
            </a:xfrm>
            <a:prstGeom prst="line">
              <a:avLst/>
            </a:prstGeom>
            <a:ln cap="flat" w="50800">
              <a:solidFill>
                <a:srgbClr val="000000"/>
              </a:solidFill>
              <a:prstDash val="solid"/>
              <a:headEnd type="none" len="sm" w="sm"/>
              <a:tailEnd type="triangle" len="med" w="lg"/>
            </a:ln>
          </p:spPr>
        </p:sp>
        <p:sp>
          <p:nvSpPr>
            <p:cNvPr name="AutoShape 9" id="9"/>
            <p:cNvSpPr/>
            <p:nvPr/>
          </p:nvSpPr>
          <p:spPr>
            <a:xfrm flipV="true">
              <a:off x="25400" y="24"/>
              <a:ext cx="616" cy="647331"/>
            </a:xfrm>
            <a:prstGeom prst="line">
              <a:avLst/>
            </a:prstGeom>
            <a:ln cap="flat" w="50800">
              <a:solidFill>
                <a:srgbClr val="000000"/>
              </a:solidFill>
              <a:prstDash val="solid"/>
              <a:headEnd type="none" len="sm" w="sm"/>
              <a:tailEnd type="none" len="sm" w="sm"/>
            </a:ln>
          </p:spPr>
        </p:sp>
      </p:grpSp>
      <p:sp>
        <p:nvSpPr>
          <p:cNvPr name="TextBox 10" id="10"/>
          <p:cNvSpPr txBox="true"/>
          <p:nvPr/>
        </p:nvSpPr>
        <p:spPr>
          <a:xfrm rot="0">
            <a:off x="1851428" y="7561112"/>
            <a:ext cx="2452027" cy="12985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uce"/>
                <a:ea typeface="Open Sauce"/>
                <a:cs typeface="Open Sauce"/>
                <a:sym typeface="Open Sauce"/>
              </a:rPr>
              <a:t>éviter les annotations contradictoires</a:t>
            </a:r>
          </a:p>
        </p:txBody>
      </p:sp>
      <p:grpSp>
        <p:nvGrpSpPr>
          <p:cNvPr name="Group 11" id="11"/>
          <p:cNvGrpSpPr/>
          <p:nvPr/>
        </p:nvGrpSpPr>
        <p:grpSpPr>
          <a:xfrm rot="0">
            <a:off x="6276428" y="7316917"/>
            <a:ext cx="347639" cy="504566"/>
            <a:chOff x="0" y="0"/>
            <a:chExt cx="463519" cy="672755"/>
          </a:xfrm>
        </p:grpSpPr>
        <p:sp>
          <p:nvSpPr>
            <p:cNvPr name="AutoShape 12" id="12"/>
            <p:cNvSpPr/>
            <p:nvPr/>
          </p:nvSpPr>
          <p:spPr>
            <a:xfrm>
              <a:off x="0" y="647355"/>
              <a:ext cx="463519" cy="0"/>
            </a:xfrm>
            <a:prstGeom prst="line">
              <a:avLst/>
            </a:prstGeom>
            <a:ln cap="flat" w="50800">
              <a:solidFill>
                <a:srgbClr val="000000"/>
              </a:solidFill>
              <a:prstDash val="solid"/>
              <a:headEnd type="none" len="sm" w="sm"/>
              <a:tailEnd type="triangle" len="med" w="lg"/>
            </a:ln>
          </p:spPr>
        </p:sp>
        <p:sp>
          <p:nvSpPr>
            <p:cNvPr name="AutoShape 13" id="13"/>
            <p:cNvSpPr/>
            <p:nvPr/>
          </p:nvSpPr>
          <p:spPr>
            <a:xfrm flipV="true">
              <a:off x="25400" y="24"/>
              <a:ext cx="616" cy="647331"/>
            </a:xfrm>
            <a:prstGeom prst="line">
              <a:avLst/>
            </a:prstGeom>
            <a:ln cap="flat" w="50800">
              <a:solidFill>
                <a:srgbClr val="000000"/>
              </a:solidFill>
              <a:prstDash val="solid"/>
              <a:headEnd type="none" len="sm" w="sm"/>
              <a:tailEnd type="none" len="sm" w="sm"/>
            </a:ln>
          </p:spPr>
        </p:sp>
      </p:grpSp>
      <p:sp>
        <p:nvSpPr>
          <p:cNvPr name="TextBox 14" id="14"/>
          <p:cNvSpPr txBox="true"/>
          <p:nvPr/>
        </p:nvSpPr>
        <p:spPr>
          <a:xfrm rot="0">
            <a:off x="6109799" y="7521575"/>
            <a:ext cx="3178032" cy="1736725"/>
          </a:xfrm>
          <a:prstGeom prst="rect">
            <a:avLst/>
          </a:prstGeom>
        </p:spPr>
        <p:txBody>
          <a:bodyPr anchor="t" rtlCol="false" tIns="0" lIns="0" bIns="0" rIns="0">
            <a:spAutoFit/>
          </a:bodyPr>
          <a:lstStyle/>
          <a:p>
            <a:pPr algn="ctr">
              <a:lnSpc>
                <a:spcPts val="3499"/>
              </a:lnSpc>
            </a:pPr>
            <a:r>
              <a:rPr lang="en-US" sz="2499">
                <a:solidFill>
                  <a:srgbClr val="000000"/>
                </a:solidFill>
                <a:latin typeface="Open Sauce"/>
                <a:ea typeface="Open Sauce"/>
                <a:cs typeface="Open Sauce"/>
                <a:sym typeface="Open Sauce"/>
              </a:rPr>
              <a:t>fenêtre de </a:t>
            </a:r>
          </a:p>
          <a:p>
            <a:pPr algn="ctr">
              <a:lnSpc>
                <a:spcPts val="3499"/>
              </a:lnSpc>
              <a:spcBef>
                <a:spcPct val="0"/>
              </a:spcBef>
            </a:pPr>
            <a:r>
              <a:rPr lang="en-US" sz="2499">
                <a:solidFill>
                  <a:srgbClr val="000000"/>
                </a:solidFill>
                <a:latin typeface="Open Sauce"/>
                <a:ea typeface="Open Sauce"/>
                <a:cs typeface="Open Sauce"/>
                <a:sym typeface="Open Sauce"/>
              </a:rPr>
              <a:t>contexte maximale recommandée sur l’instance CREST </a:t>
            </a:r>
          </a:p>
        </p:txBody>
      </p:sp>
      <p:sp>
        <p:nvSpPr>
          <p:cNvPr name="TextBox 15" id="15"/>
          <p:cNvSpPr txBox="true"/>
          <p:nvPr/>
        </p:nvSpPr>
        <p:spPr>
          <a:xfrm rot="0">
            <a:off x="10753687" y="7503265"/>
            <a:ext cx="3178032"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uce"/>
                <a:ea typeface="Open Sauce"/>
                <a:cs typeface="Open Sauce"/>
                <a:sym typeface="Open Sauce"/>
              </a:rPr>
              <a:t>identifiant unique </a:t>
            </a:r>
          </a:p>
        </p:txBody>
      </p:sp>
      <p:sp>
        <p:nvSpPr>
          <p:cNvPr name="TextBox 16" id="16"/>
          <p:cNvSpPr txBox="true"/>
          <p:nvPr/>
        </p:nvSpPr>
        <p:spPr>
          <a:xfrm rot="0">
            <a:off x="13775820" y="7503265"/>
            <a:ext cx="3178032"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uce"/>
                <a:ea typeface="Open Sauce"/>
                <a:cs typeface="Open Sauce"/>
                <a:sym typeface="Open Sauce"/>
              </a:rPr>
              <a:t>texte</a:t>
            </a:r>
          </a:p>
        </p:txBody>
      </p:sp>
      <p:grpSp>
        <p:nvGrpSpPr>
          <p:cNvPr name="Group 17" id="17"/>
          <p:cNvGrpSpPr/>
          <p:nvPr/>
        </p:nvGrpSpPr>
        <p:grpSpPr>
          <a:xfrm rot="0">
            <a:off x="14013185" y="8413750"/>
            <a:ext cx="2940667" cy="638903"/>
            <a:chOff x="0" y="0"/>
            <a:chExt cx="3920889" cy="851871"/>
          </a:xfrm>
        </p:grpSpPr>
        <p:sp>
          <p:nvSpPr>
            <p:cNvPr name="Freeform 18" id="18"/>
            <p:cNvSpPr/>
            <p:nvPr/>
          </p:nvSpPr>
          <p:spPr>
            <a:xfrm flipH="false" flipV="false" rot="0">
              <a:off x="0" y="0"/>
              <a:ext cx="1277407" cy="851871"/>
            </a:xfrm>
            <a:custGeom>
              <a:avLst/>
              <a:gdLst/>
              <a:ahLst/>
              <a:cxnLst/>
              <a:rect r="r" b="b" t="t" l="l"/>
              <a:pathLst>
                <a:path h="851871" w="1277407">
                  <a:moveTo>
                    <a:pt x="0" y="0"/>
                  </a:moveTo>
                  <a:lnTo>
                    <a:pt x="1277407" y="0"/>
                  </a:lnTo>
                  <a:lnTo>
                    <a:pt x="1277407" y="851871"/>
                  </a:lnTo>
                  <a:lnTo>
                    <a:pt x="0" y="851871"/>
                  </a:lnTo>
                  <a:lnTo>
                    <a:pt x="0" y="0"/>
                  </a:lnTo>
                  <a:close/>
                </a:path>
              </a:pathLst>
            </a:custGeom>
            <a:blipFill>
              <a:blip r:embed="rId4"/>
              <a:stretch>
                <a:fillRect l="0" t="0" r="0" b="0"/>
              </a:stretch>
            </a:blipFill>
          </p:spPr>
        </p:sp>
        <p:sp>
          <p:nvSpPr>
            <p:cNvPr name="Freeform 19" id="19"/>
            <p:cNvSpPr/>
            <p:nvPr/>
          </p:nvSpPr>
          <p:spPr>
            <a:xfrm flipH="false" flipV="false" rot="0">
              <a:off x="1001232" y="103597"/>
              <a:ext cx="1330264" cy="748274"/>
            </a:xfrm>
            <a:custGeom>
              <a:avLst/>
              <a:gdLst/>
              <a:ahLst/>
              <a:cxnLst/>
              <a:rect r="r" b="b" t="t" l="l"/>
              <a:pathLst>
                <a:path h="748274" w="1330264">
                  <a:moveTo>
                    <a:pt x="0" y="0"/>
                  </a:moveTo>
                  <a:lnTo>
                    <a:pt x="1330264" y="0"/>
                  </a:lnTo>
                  <a:lnTo>
                    <a:pt x="1330264" y="748274"/>
                  </a:lnTo>
                  <a:lnTo>
                    <a:pt x="0" y="748274"/>
                  </a:lnTo>
                  <a:lnTo>
                    <a:pt x="0" y="0"/>
                  </a:lnTo>
                  <a:close/>
                </a:path>
              </a:pathLst>
            </a:custGeom>
            <a:blipFill>
              <a:blip r:embed="rId5"/>
              <a:stretch>
                <a:fillRect l="0" t="0" r="0" b="0"/>
              </a:stretch>
            </a:blipFill>
          </p:spPr>
        </p:sp>
        <p:sp>
          <p:nvSpPr>
            <p:cNvPr name="Freeform 20" id="20"/>
            <p:cNvSpPr/>
            <p:nvPr/>
          </p:nvSpPr>
          <p:spPr>
            <a:xfrm flipH="false" flipV="false" rot="0">
              <a:off x="2331496" y="69056"/>
              <a:ext cx="688815" cy="782815"/>
            </a:xfrm>
            <a:custGeom>
              <a:avLst/>
              <a:gdLst/>
              <a:ahLst/>
              <a:cxnLst/>
              <a:rect r="r" b="b" t="t" l="l"/>
              <a:pathLst>
                <a:path h="782815" w="688815">
                  <a:moveTo>
                    <a:pt x="0" y="0"/>
                  </a:moveTo>
                  <a:lnTo>
                    <a:pt x="688816" y="0"/>
                  </a:lnTo>
                  <a:lnTo>
                    <a:pt x="688816" y="782815"/>
                  </a:lnTo>
                  <a:lnTo>
                    <a:pt x="0" y="782815"/>
                  </a:lnTo>
                  <a:lnTo>
                    <a:pt x="0" y="0"/>
                  </a:lnTo>
                  <a:close/>
                </a:path>
              </a:pathLst>
            </a:custGeom>
            <a:blipFill>
              <a:blip r:embed="rId6"/>
              <a:stretch>
                <a:fillRect l="0" t="0" r="0" b="0"/>
              </a:stretch>
            </a:blipFill>
          </p:spPr>
        </p:sp>
        <p:sp>
          <p:nvSpPr>
            <p:cNvPr name="TextBox 21" id="21"/>
            <p:cNvSpPr txBox="true"/>
            <p:nvPr/>
          </p:nvSpPr>
          <p:spPr>
            <a:xfrm rot="0">
              <a:off x="3020312" y="384337"/>
              <a:ext cx="900577" cy="467534"/>
            </a:xfrm>
            <a:prstGeom prst="rect">
              <a:avLst/>
            </a:prstGeom>
          </p:spPr>
          <p:txBody>
            <a:bodyPr anchor="t" rtlCol="false" tIns="0" lIns="0" bIns="0" rIns="0">
              <a:spAutoFit/>
            </a:bodyPr>
            <a:lstStyle/>
            <a:p>
              <a:pPr algn="ctr">
                <a:lnSpc>
                  <a:spcPts val="3088"/>
                </a:lnSpc>
                <a:spcBef>
                  <a:spcPct val="0"/>
                </a:spcBef>
              </a:pPr>
              <a:r>
                <a:rPr lang="en-US" sz="2206">
                  <a:solidFill>
                    <a:srgbClr val="000000"/>
                  </a:solidFill>
                  <a:latin typeface="Open Sauce"/>
                  <a:ea typeface="Open Sauce"/>
                  <a:cs typeface="Open Sauce"/>
                  <a:sym typeface="Open Sauce"/>
                </a:rPr>
                <a: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66009" y="4141342"/>
            <a:ext cx="7238420" cy="5116958"/>
            <a:chOff x="0" y="0"/>
            <a:chExt cx="9651226" cy="6822611"/>
          </a:xfrm>
        </p:grpSpPr>
        <p:sp>
          <p:nvSpPr>
            <p:cNvPr name="AutoShape 3" id="3"/>
            <p:cNvSpPr/>
            <p:nvPr/>
          </p:nvSpPr>
          <p:spPr>
            <a:xfrm flipV="true">
              <a:off x="7026344" y="24307"/>
              <a:ext cx="21465" cy="6797960"/>
            </a:xfrm>
            <a:prstGeom prst="line">
              <a:avLst/>
            </a:prstGeom>
            <a:ln cap="flat" w="217441">
              <a:solidFill>
                <a:srgbClr val="2A3067"/>
              </a:solidFill>
              <a:prstDash val="solid"/>
              <a:headEnd type="none" len="sm" w="sm"/>
              <a:tailEnd type="none" len="sm" w="sm"/>
            </a:ln>
          </p:spPr>
        </p:sp>
        <p:grpSp>
          <p:nvGrpSpPr>
            <p:cNvPr name="Group 4" id="4"/>
            <p:cNvGrpSpPr/>
            <p:nvPr/>
          </p:nvGrpSpPr>
          <p:grpSpPr>
            <a:xfrm rot="0">
              <a:off x="4663157" y="0"/>
              <a:ext cx="4988069" cy="1022464"/>
              <a:chOff x="0" y="0"/>
              <a:chExt cx="1029588" cy="211047"/>
            </a:xfrm>
          </p:grpSpPr>
          <p:sp>
            <p:nvSpPr>
              <p:cNvPr name="Freeform 5" id="5"/>
              <p:cNvSpPr/>
              <p:nvPr/>
            </p:nvSpPr>
            <p:spPr>
              <a:xfrm flipH="false" flipV="false" rot="0">
                <a:off x="0" y="0"/>
                <a:ext cx="1029588" cy="211047"/>
              </a:xfrm>
              <a:custGeom>
                <a:avLst/>
                <a:gdLst/>
                <a:ahLst/>
                <a:cxnLst/>
                <a:rect r="r" b="b" t="t" l="l"/>
                <a:pathLst>
                  <a:path h="211047" w="1029588">
                    <a:moveTo>
                      <a:pt x="59053" y="0"/>
                    </a:moveTo>
                    <a:lnTo>
                      <a:pt x="970535" y="0"/>
                    </a:lnTo>
                    <a:cubicBezTo>
                      <a:pt x="1003149" y="0"/>
                      <a:pt x="1029588" y="26439"/>
                      <a:pt x="1029588" y="59053"/>
                    </a:cubicBezTo>
                    <a:lnTo>
                      <a:pt x="1029588" y="151994"/>
                    </a:lnTo>
                    <a:cubicBezTo>
                      <a:pt x="1029588" y="167656"/>
                      <a:pt x="1023366" y="182676"/>
                      <a:pt x="1012292" y="193751"/>
                    </a:cubicBezTo>
                    <a:cubicBezTo>
                      <a:pt x="1001217" y="204825"/>
                      <a:pt x="986197" y="211047"/>
                      <a:pt x="970535" y="211047"/>
                    </a:cubicBezTo>
                    <a:lnTo>
                      <a:pt x="59053" y="211047"/>
                    </a:lnTo>
                    <a:cubicBezTo>
                      <a:pt x="26439" y="211047"/>
                      <a:pt x="0" y="184608"/>
                      <a:pt x="0" y="151994"/>
                    </a:cubicBezTo>
                    <a:lnTo>
                      <a:pt x="0" y="59053"/>
                    </a:lnTo>
                    <a:cubicBezTo>
                      <a:pt x="0" y="26439"/>
                      <a:pt x="26439" y="0"/>
                      <a:pt x="59053" y="0"/>
                    </a:cubicBezTo>
                    <a:close/>
                  </a:path>
                </a:pathLst>
              </a:custGeom>
              <a:solidFill>
                <a:srgbClr val="EA6F26"/>
              </a:solidFill>
            </p:spPr>
          </p:sp>
          <p:sp>
            <p:nvSpPr>
              <p:cNvPr name="TextBox 6" id="6"/>
              <p:cNvSpPr txBox="true"/>
              <p:nvPr/>
            </p:nvSpPr>
            <p:spPr>
              <a:xfrm>
                <a:off x="0" y="-28575"/>
                <a:ext cx="1029588" cy="239622"/>
              </a:xfrm>
              <a:prstGeom prst="rect">
                <a:avLst/>
              </a:prstGeom>
            </p:spPr>
            <p:txBody>
              <a:bodyPr anchor="ctr" rtlCol="false" tIns="50800" lIns="50800" bIns="50800" rIns="50800"/>
              <a:lstStyle/>
              <a:p>
                <a:pPr algn="ctr">
                  <a:lnSpc>
                    <a:spcPts val="2520"/>
                  </a:lnSpc>
                  <a:spcBef>
                    <a:spcPct val="0"/>
                  </a:spcBef>
                </a:pPr>
                <a:r>
                  <a:rPr lang="en-US" b="true" sz="1800">
                    <a:solidFill>
                      <a:srgbClr val="FFFFFF"/>
                    </a:solidFill>
                    <a:latin typeface="Open Sans Bold"/>
                    <a:ea typeface="Open Sans Bold"/>
                    <a:cs typeface="Open Sans Bold"/>
                    <a:sym typeface="Open Sans Bold"/>
                  </a:rPr>
                  <a:t>Annoter les données d’entraînement aléatoirement</a:t>
                </a:r>
              </a:p>
            </p:txBody>
          </p:sp>
        </p:grpSp>
        <p:sp>
          <p:nvSpPr>
            <p:cNvPr name="Freeform 7" id="7"/>
            <p:cNvSpPr/>
            <p:nvPr/>
          </p:nvSpPr>
          <p:spPr>
            <a:xfrm flipH="false" flipV="false" rot="0">
              <a:off x="2724952" y="2343480"/>
              <a:ext cx="3633337" cy="3633337"/>
            </a:xfrm>
            <a:custGeom>
              <a:avLst/>
              <a:gdLst/>
              <a:ahLst/>
              <a:cxnLst/>
              <a:rect r="r" b="b" t="t" l="l"/>
              <a:pathLst>
                <a:path h="3633337" w="3633337">
                  <a:moveTo>
                    <a:pt x="0" y="0"/>
                  </a:moveTo>
                  <a:lnTo>
                    <a:pt x="3633337" y="0"/>
                  </a:lnTo>
                  <a:lnTo>
                    <a:pt x="3633337" y="3633338"/>
                  </a:lnTo>
                  <a:lnTo>
                    <a:pt x="0" y="3633338"/>
                  </a:lnTo>
                  <a:lnTo>
                    <a:pt x="0" y="0"/>
                  </a:lnTo>
                  <a:close/>
                </a:path>
              </a:pathLst>
            </a:custGeom>
            <a:blipFill>
              <a:blip r:embed="rId2"/>
              <a:stretch>
                <a:fillRect l="0" t="0" r="0" b="0"/>
              </a:stretch>
            </a:blipFill>
          </p:spPr>
        </p:sp>
        <p:grpSp>
          <p:nvGrpSpPr>
            <p:cNvPr name="Group 8" id="8"/>
            <p:cNvGrpSpPr/>
            <p:nvPr/>
          </p:nvGrpSpPr>
          <p:grpSpPr>
            <a:xfrm rot="0">
              <a:off x="4663157" y="5374425"/>
              <a:ext cx="4988069" cy="1447843"/>
              <a:chOff x="0" y="0"/>
              <a:chExt cx="1029588" cy="298849"/>
            </a:xfrm>
          </p:grpSpPr>
          <p:sp>
            <p:nvSpPr>
              <p:cNvPr name="Freeform 9" id="9"/>
              <p:cNvSpPr/>
              <p:nvPr/>
            </p:nvSpPr>
            <p:spPr>
              <a:xfrm flipH="false" flipV="false" rot="0">
                <a:off x="0" y="0"/>
                <a:ext cx="1029588" cy="298849"/>
              </a:xfrm>
              <a:custGeom>
                <a:avLst/>
                <a:gdLst/>
                <a:ahLst/>
                <a:cxnLst/>
                <a:rect r="r" b="b" t="t" l="l"/>
                <a:pathLst>
                  <a:path h="298849" w="1029588">
                    <a:moveTo>
                      <a:pt x="59053" y="0"/>
                    </a:moveTo>
                    <a:lnTo>
                      <a:pt x="970535" y="0"/>
                    </a:lnTo>
                    <a:cubicBezTo>
                      <a:pt x="1003149" y="0"/>
                      <a:pt x="1029588" y="26439"/>
                      <a:pt x="1029588" y="59053"/>
                    </a:cubicBezTo>
                    <a:lnTo>
                      <a:pt x="1029588" y="239797"/>
                    </a:lnTo>
                    <a:cubicBezTo>
                      <a:pt x="1029588" y="255458"/>
                      <a:pt x="1023366" y="270479"/>
                      <a:pt x="1012292" y="281553"/>
                    </a:cubicBezTo>
                    <a:cubicBezTo>
                      <a:pt x="1001217" y="292628"/>
                      <a:pt x="986197" y="298849"/>
                      <a:pt x="970535" y="298849"/>
                    </a:cubicBezTo>
                    <a:lnTo>
                      <a:pt x="59053" y="298849"/>
                    </a:lnTo>
                    <a:cubicBezTo>
                      <a:pt x="26439" y="298849"/>
                      <a:pt x="0" y="272411"/>
                      <a:pt x="0" y="239797"/>
                    </a:cubicBezTo>
                    <a:lnTo>
                      <a:pt x="0" y="59053"/>
                    </a:lnTo>
                    <a:cubicBezTo>
                      <a:pt x="0" y="26439"/>
                      <a:pt x="26439" y="0"/>
                      <a:pt x="59053" y="0"/>
                    </a:cubicBezTo>
                    <a:close/>
                  </a:path>
                </a:pathLst>
              </a:custGeom>
              <a:solidFill>
                <a:srgbClr val="EA6F26"/>
              </a:solidFill>
            </p:spPr>
          </p:sp>
          <p:sp>
            <p:nvSpPr>
              <p:cNvPr name="TextBox 10" id="10"/>
              <p:cNvSpPr txBox="true"/>
              <p:nvPr/>
            </p:nvSpPr>
            <p:spPr>
              <a:xfrm>
                <a:off x="0" y="-28575"/>
                <a:ext cx="1029588" cy="327424"/>
              </a:xfrm>
              <a:prstGeom prst="rect">
                <a:avLst/>
              </a:prstGeom>
            </p:spPr>
            <p:txBody>
              <a:bodyPr anchor="ctr" rtlCol="false" tIns="50800" lIns="50800" bIns="50800" rIns="50800"/>
              <a:lstStyle/>
              <a:p>
                <a:pPr algn="ctr">
                  <a:lnSpc>
                    <a:spcPts val="2520"/>
                  </a:lnSpc>
                </a:pPr>
                <a:r>
                  <a:rPr lang="en-US" sz="1800" b="true">
                    <a:solidFill>
                      <a:srgbClr val="FFFFFF"/>
                    </a:solidFill>
                    <a:latin typeface="Open Sans Bold"/>
                    <a:ea typeface="Open Sans Bold"/>
                    <a:cs typeface="Open Sans Bold"/>
                    <a:sym typeface="Open Sans Bold"/>
                  </a:rPr>
                  <a:t>Active learning : entraîner un modèle pour annoter les cas </a:t>
                </a:r>
              </a:p>
              <a:p>
                <a:pPr algn="ctr">
                  <a:lnSpc>
                    <a:spcPts val="2520"/>
                  </a:lnSpc>
                  <a:spcBef>
                    <a:spcPct val="0"/>
                  </a:spcBef>
                </a:pPr>
                <a:r>
                  <a:rPr lang="en-US" b="true" sz="1800">
                    <a:solidFill>
                      <a:srgbClr val="FFFFFF"/>
                    </a:solidFill>
                    <a:latin typeface="Open Sans Bold"/>
                    <a:ea typeface="Open Sans Bold"/>
                    <a:cs typeface="Open Sans Bold"/>
                    <a:sym typeface="Open Sans Bold"/>
                  </a:rPr>
                  <a:t>les plus ambigus</a:t>
                </a:r>
              </a:p>
            </p:txBody>
          </p:sp>
        </p:grpSp>
        <p:grpSp>
          <p:nvGrpSpPr>
            <p:cNvPr name="Group 11" id="11"/>
            <p:cNvGrpSpPr/>
            <p:nvPr/>
          </p:nvGrpSpPr>
          <p:grpSpPr>
            <a:xfrm rot="0">
              <a:off x="4663157" y="1957397"/>
              <a:ext cx="4988069" cy="1447843"/>
              <a:chOff x="0" y="0"/>
              <a:chExt cx="1029588" cy="298849"/>
            </a:xfrm>
          </p:grpSpPr>
          <p:sp>
            <p:nvSpPr>
              <p:cNvPr name="Freeform 12" id="12"/>
              <p:cNvSpPr/>
              <p:nvPr/>
            </p:nvSpPr>
            <p:spPr>
              <a:xfrm flipH="false" flipV="false" rot="0">
                <a:off x="0" y="0"/>
                <a:ext cx="1029588" cy="298849"/>
              </a:xfrm>
              <a:custGeom>
                <a:avLst/>
                <a:gdLst/>
                <a:ahLst/>
                <a:cxnLst/>
                <a:rect r="r" b="b" t="t" l="l"/>
                <a:pathLst>
                  <a:path h="298849" w="1029588">
                    <a:moveTo>
                      <a:pt x="59053" y="0"/>
                    </a:moveTo>
                    <a:lnTo>
                      <a:pt x="970535" y="0"/>
                    </a:lnTo>
                    <a:cubicBezTo>
                      <a:pt x="1003149" y="0"/>
                      <a:pt x="1029588" y="26439"/>
                      <a:pt x="1029588" y="59053"/>
                    </a:cubicBezTo>
                    <a:lnTo>
                      <a:pt x="1029588" y="239797"/>
                    </a:lnTo>
                    <a:cubicBezTo>
                      <a:pt x="1029588" y="255458"/>
                      <a:pt x="1023366" y="270479"/>
                      <a:pt x="1012292" y="281553"/>
                    </a:cubicBezTo>
                    <a:cubicBezTo>
                      <a:pt x="1001217" y="292628"/>
                      <a:pt x="986197" y="298849"/>
                      <a:pt x="970535" y="298849"/>
                    </a:cubicBezTo>
                    <a:lnTo>
                      <a:pt x="59053" y="298849"/>
                    </a:lnTo>
                    <a:cubicBezTo>
                      <a:pt x="26439" y="298849"/>
                      <a:pt x="0" y="272411"/>
                      <a:pt x="0" y="239797"/>
                    </a:cubicBezTo>
                    <a:lnTo>
                      <a:pt x="0" y="59053"/>
                    </a:lnTo>
                    <a:cubicBezTo>
                      <a:pt x="0" y="26439"/>
                      <a:pt x="26439" y="0"/>
                      <a:pt x="59053" y="0"/>
                    </a:cubicBezTo>
                    <a:close/>
                  </a:path>
                </a:pathLst>
              </a:custGeom>
              <a:solidFill>
                <a:srgbClr val="EA6F26"/>
              </a:solidFill>
            </p:spPr>
          </p:sp>
          <p:sp>
            <p:nvSpPr>
              <p:cNvPr name="TextBox 13" id="13"/>
              <p:cNvSpPr txBox="true"/>
              <p:nvPr/>
            </p:nvSpPr>
            <p:spPr>
              <a:xfrm>
                <a:off x="0" y="-28575"/>
                <a:ext cx="1029588" cy="327424"/>
              </a:xfrm>
              <a:prstGeom prst="rect">
                <a:avLst/>
              </a:prstGeom>
            </p:spPr>
            <p:txBody>
              <a:bodyPr anchor="ctr" rtlCol="false" tIns="50800" lIns="50800" bIns="50800" rIns="50800"/>
              <a:lstStyle/>
              <a:p>
                <a:pPr algn="ctr">
                  <a:lnSpc>
                    <a:spcPts val="2520"/>
                  </a:lnSpc>
                  <a:spcBef>
                    <a:spcPct val="0"/>
                  </a:spcBef>
                </a:pPr>
                <a:r>
                  <a:rPr lang="en-US" b="true" sz="1800">
                    <a:solidFill>
                      <a:srgbClr val="FFFFFF"/>
                    </a:solidFill>
                    <a:latin typeface="Open Sans Bold"/>
                    <a:ea typeface="Open Sans Bold"/>
                    <a:cs typeface="Open Sans Bold"/>
                    <a:sym typeface="Open Sans Bold"/>
                  </a:rPr>
                  <a:t>Search : annoter des données choisies par des RegEx, des mots-clés ou du génératif</a:t>
                </a:r>
              </a:p>
            </p:txBody>
          </p:sp>
        </p:grpSp>
        <p:grpSp>
          <p:nvGrpSpPr>
            <p:cNvPr name="Group 14" id="14"/>
            <p:cNvGrpSpPr/>
            <p:nvPr/>
          </p:nvGrpSpPr>
          <p:grpSpPr>
            <a:xfrm rot="0">
              <a:off x="0" y="3753308"/>
              <a:ext cx="4014875" cy="1129790"/>
              <a:chOff x="0" y="0"/>
              <a:chExt cx="828711" cy="233200"/>
            </a:xfrm>
          </p:grpSpPr>
          <p:sp>
            <p:nvSpPr>
              <p:cNvPr name="Freeform 15" id="15"/>
              <p:cNvSpPr/>
              <p:nvPr/>
            </p:nvSpPr>
            <p:spPr>
              <a:xfrm flipH="false" flipV="false" rot="0">
                <a:off x="0" y="0"/>
                <a:ext cx="828711" cy="233200"/>
              </a:xfrm>
              <a:custGeom>
                <a:avLst/>
                <a:gdLst/>
                <a:ahLst/>
                <a:cxnLst/>
                <a:rect r="r" b="b" t="t" l="l"/>
                <a:pathLst>
                  <a:path h="233200" w="828711">
                    <a:moveTo>
                      <a:pt x="73367" y="0"/>
                    </a:moveTo>
                    <a:lnTo>
                      <a:pt x="755344" y="0"/>
                    </a:lnTo>
                    <a:cubicBezTo>
                      <a:pt x="774802" y="0"/>
                      <a:pt x="793463" y="7730"/>
                      <a:pt x="807222" y="21489"/>
                    </a:cubicBezTo>
                    <a:cubicBezTo>
                      <a:pt x="820981" y="35248"/>
                      <a:pt x="828711" y="53909"/>
                      <a:pt x="828711" y="73367"/>
                    </a:cubicBezTo>
                    <a:lnTo>
                      <a:pt x="828711" y="159833"/>
                    </a:lnTo>
                    <a:cubicBezTo>
                      <a:pt x="828711" y="179291"/>
                      <a:pt x="820981" y="197952"/>
                      <a:pt x="807222" y="211711"/>
                    </a:cubicBezTo>
                    <a:cubicBezTo>
                      <a:pt x="793463" y="225470"/>
                      <a:pt x="774802" y="233200"/>
                      <a:pt x="755344" y="233200"/>
                    </a:cubicBezTo>
                    <a:lnTo>
                      <a:pt x="73367" y="233200"/>
                    </a:lnTo>
                    <a:cubicBezTo>
                      <a:pt x="53909" y="233200"/>
                      <a:pt x="35248" y="225470"/>
                      <a:pt x="21489" y="211711"/>
                    </a:cubicBezTo>
                    <a:cubicBezTo>
                      <a:pt x="7730" y="197952"/>
                      <a:pt x="0" y="179291"/>
                      <a:pt x="0" y="159833"/>
                    </a:cubicBezTo>
                    <a:lnTo>
                      <a:pt x="0" y="73367"/>
                    </a:lnTo>
                    <a:cubicBezTo>
                      <a:pt x="0" y="53909"/>
                      <a:pt x="7730" y="35248"/>
                      <a:pt x="21489" y="21489"/>
                    </a:cubicBezTo>
                    <a:cubicBezTo>
                      <a:pt x="35248" y="7730"/>
                      <a:pt x="53909" y="0"/>
                      <a:pt x="73367" y="0"/>
                    </a:cubicBezTo>
                    <a:close/>
                  </a:path>
                </a:pathLst>
              </a:custGeom>
              <a:solidFill>
                <a:srgbClr val="2A3067"/>
              </a:solidFill>
            </p:spPr>
          </p:sp>
          <p:sp>
            <p:nvSpPr>
              <p:cNvPr name="TextBox 16" id="16"/>
              <p:cNvSpPr txBox="true"/>
              <p:nvPr/>
            </p:nvSpPr>
            <p:spPr>
              <a:xfrm>
                <a:off x="0" y="-28575"/>
                <a:ext cx="828711" cy="261775"/>
              </a:xfrm>
              <a:prstGeom prst="rect">
                <a:avLst/>
              </a:prstGeom>
            </p:spPr>
            <p:txBody>
              <a:bodyPr anchor="ctr" rtlCol="false" tIns="50800" lIns="50800" bIns="50800" rIns="50800"/>
              <a:lstStyle/>
              <a:p>
                <a:pPr algn="ctr">
                  <a:lnSpc>
                    <a:spcPts val="2520"/>
                  </a:lnSpc>
                  <a:spcBef>
                    <a:spcPct val="0"/>
                  </a:spcBef>
                </a:pPr>
                <a:r>
                  <a:rPr lang="en-US" b="true" sz="1800">
                    <a:solidFill>
                      <a:srgbClr val="FFFFFF"/>
                    </a:solidFill>
                    <a:latin typeface="Open Sans Bold"/>
                    <a:ea typeface="Open Sans Bold"/>
                    <a:cs typeface="Open Sans Bold"/>
                    <a:sym typeface="Open Sans Bold"/>
                  </a:rPr>
                  <a:t>Modifier le codebook par itérations successives</a:t>
                </a:r>
              </a:p>
            </p:txBody>
          </p:sp>
        </p:grpSp>
      </p:grpSp>
      <p:sp>
        <p:nvSpPr>
          <p:cNvPr name="TextBox 17" id="17"/>
          <p:cNvSpPr txBox="true"/>
          <p:nvPr/>
        </p:nvSpPr>
        <p:spPr>
          <a:xfrm rot="0">
            <a:off x="1074686" y="1114425"/>
            <a:ext cx="15685922" cy="673100"/>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Rappel : le workflow d’un projet ActiveTigger</a:t>
            </a:r>
          </a:p>
        </p:txBody>
      </p:sp>
      <p:sp>
        <p:nvSpPr>
          <p:cNvPr name="TextBox 18" id="18"/>
          <p:cNvSpPr txBox="true"/>
          <p:nvPr/>
        </p:nvSpPr>
        <p:spPr>
          <a:xfrm rot="0">
            <a:off x="1166009" y="3167592"/>
            <a:ext cx="5945631" cy="701675"/>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19" id="19"/>
          <p:cNvSpPr txBox="true"/>
          <p:nvPr/>
        </p:nvSpPr>
        <p:spPr>
          <a:xfrm rot="0">
            <a:off x="1166009" y="2370048"/>
            <a:ext cx="5945631"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1 : Création du projet</a:t>
            </a:r>
          </a:p>
        </p:txBody>
      </p:sp>
      <p:sp>
        <p:nvSpPr>
          <p:cNvPr name="AutoShape 20" id="20"/>
          <p:cNvSpPr/>
          <p:nvPr/>
        </p:nvSpPr>
        <p:spPr>
          <a:xfrm flipH="true" flipV="true">
            <a:off x="9107863" y="2357914"/>
            <a:ext cx="45662" cy="7222837"/>
          </a:xfrm>
          <a:prstGeom prst="line">
            <a:avLst/>
          </a:prstGeom>
          <a:ln cap="flat" w="19050">
            <a:solidFill>
              <a:srgbClr val="2A3067"/>
            </a:solidFill>
            <a:prstDash val="solid"/>
            <a:headEnd type="none" len="sm" w="sm"/>
            <a:tailEnd type="none" len="sm" w="sm"/>
          </a:ln>
        </p:spPr>
      </p:sp>
      <p:sp>
        <p:nvSpPr>
          <p:cNvPr name="TextBox 21" id="21"/>
          <p:cNvSpPr txBox="true"/>
          <p:nvPr/>
        </p:nvSpPr>
        <p:spPr>
          <a:xfrm rot="0">
            <a:off x="9623691" y="2906135"/>
            <a:ext cx="7537477"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3 : Annoter les données de validation et de test</a:t>
            </a:r>
          </a:p>
        </p:txBody>
      </p:sp>
      <p:sp>
        <p:nvSpPr>
          <p:cNvPr name="TextBox 22" id="22"/>
          <p:cNvSpPr txBox="true"/>
          <p:nvPr/>
        </p:nvSpPr>
        <p:spPr>
          <a:xfrm rot="0">
            <a:off x="9623691" y="4103141"/>
            <a:ext cx="4104627"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4 : Entraîner des modèles</a:t>
            </a:r>
          </a:p>
        </p:txBody>
      </p:sp>
      <p:sp>
        <p:nvSpPr>
          <p:cNvPr name="TextBox 23" id="23"/>
          <p:cNvSpPr txBox="true"/>
          <p:nvPr/>
        </p:nvSpPr>
        <p:spPr>
          <a:xfrm rot="0">
            <a:off x="9623691" y="5386130"/>
            <a:ext cx="5209590"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5 : Sélectionner un modèle</a:t>
            </a:r>
          </a:p>
        </p:txBody>
      </p:sp>
      <p:sp>
        <p:nvSpPr>
          <p:cNvPr name="TextBox 24" id="24"/>
          <p:cNvSpPr txBox="true"/>
          <p:nvPr/>
        </p:nvSpPr>
        <p:spPr>
          <a:xfrm rot="0">
            <a:off x="9601200" y="6684284"/>
            <a:ext cx="5209590"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6 : Évaluer le modèle</a:t>
            </a:r>
          </a:p>
        </p:txBody>
      </p:sp>
      <p:sp>
        <p:nvSpPr>
          <p:cNvPr name="TextBox 25" id="25"/>
          <p:cNvSpPr txBox="true"/>
          <p:nvPr/>
        </p:nvSpPr>
        <p:spPr>
          <a:xfrm rot="0">
            <a:off x="9623691" y="8021498"/>
            <a:ext cx="6210963"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7 : Étendre la prédiction à tout le corpus</a:t>
            </a:r>
          </a:p>
        </p:txBody>
      </p:sp>
      <p:sp>
        <p:nvSpPr>
          <p:cNvPr name="Freeform 26" id="26"/>
          <p:cNvSpPr/>
          <p:nvPr/>
        </p:nvSpPr>
        <p:spPr>
          <a:xfrm flipH="false" flipV="false" rot="0">
            <a:off x="13331328" y="6494921"/>
            <a:ext cx="503604" cy="490785"/>
          </a:xfrm>
          <a:custGeom>
            <a:avLst/>
            <a:gdLst/>
            <a:ahLst/>
            <a:cxnLst/>
            <a:rect r="r" b="b" t="t" l="l"/>
            <a:pathLst>
              <a:path h="490785" w="503604">
                <a:moveTo>
                  <a:pt x="0" y="0"/>
                </a:moveTo>
                <a:lnTo>
                  <a:pt x="503603" y="0"/>
                </a:lnTo>
                <a:lnTo>
                  <a:pt x="503603" y="490785"/>
                </a:lnTo>
                <a:lnTo>
                  <a:pt x="0" y="490785"/>
                </a:lnTo>
                <a:lnTo>
                  <a:pt x="0" y="0"/>
                </a:lnTo>
                <a:close/>
              </a:path>
            </a:pathLst>
          </a:custGeom>
          <a:blipFill>
            <a:blip r:embed="rId3"/>
            <a:stretch>
              <a:fillRect l="0" t="0" r="0" b="0"/>
            </a:stretch>
          </a:blipFill>
        </p:spPr>
      </p:sp>
      <p:grpSp>
        <p:nvGrpSpPr>
          <p:cNvPr name="Group 27" id="27"/>
          <p:cNvGrpSpPr/>
          <p:nvPr/>
        </p:nvGrpSpPr>
        <p:grpSpPr>
          <a:xfrm rot="0">
            <a:off x="13240144" y="7099143"/>
            <a:ext cx="685971" cy="267121"/>
            <a:chOff x="0" y="0"/>
            <a:chExt cx="22819" cy="8886"/>
          </a:xfrm>
        </p:grpSpPr>
        <p:sp>
          <p:nvSpPr>
            <p:cNvPr name="Freeform 28" id="28"/>
            <p:cNvSpPr/>
            <p:nvPr/>
          </p:nvSpPr>
          <p:spPr>
            <a:xfrm flipH="false" flipV="false" rot="0">
              <a:off x="0" y="0"/>
              <a:ext cx="22819" cy="8886"/>
            </a:xfrm>
            <a:custGeom>
              <a:avLst/>
              <a:gdLst/>
              <a:ahLst/>
              <a:cxnLst/>
              <a:rect r="r" b="b" t="t" l="l"/>
              <a:pathLst>
                <a:path h="8886" w="22819">
                  <a:moveTo>
                    <a:pt x="0" y="0"/>
                  </a:moveTo>
                  <a:lnTo>
                    <a:pt x="22819" y="0"/>
                  </a:lnTo>
                  <a:lnTo>
                    <a:pt x="22819" y="8886"/>
                  </a:lnTo>
                  <a:lnTo>
                    <a:pt x="0" y="8886"/>
                  </a:lnTo>
                  <a:close/>
                </a:path>
              </a:pathLst>
            </a:custGeom>
            <a:solidFill>
              <a:srgbClr val="8CAD75"/>
            </a:solidFill>
          </p:spPr>
        </p:sp>
        <p:sp>
          <p:nvSpPr>
            <p:cNvPr name="TextBox 29" id="29"/>
            <p:cNvSpPr txBox="true"/>
            <p:nvPr/>
          </p:nvSpPr>
          <p:spPr>
            <a:xfrm>
              <a:off x="0" y="-28575"/>
              <a:ext cx="22819" cy="37461"/>
            </a:xfrm>
            <a:prstGeom prst="rect">
              <a:avLst/>
            </a:prstGeom>
          </p:spPr>
          <p:txBody>
            <a:bodyPr anchor="ctr" rtlCol="false" tIns="50487" lIns="50487" bIns="50487" rIns="50487"/>
            <a:lstStyle/>
            <a:p>
              <a:pPr algn="ctr">
                <a:lnSpc>
                  <a:spcPts val="1400"/>
                </a:lnSpc>
                <a:spcBef>
                  <a:spcPct val="0"/>
                </a:spcBef>
              </a:pPr>
              <a:r>
                <a:rPr lang="en-US" b="true" sz="1000">
                  <a:solidFill>
                    <a:srgbClr val="FFFFFF"/>
                  </a:solidFill>
                  <a:latin typeface="Gotham Bold"/>
                  <a:ea typeface="Gotham Bold"/>
                  <a:cs typeface="Gotham Bold"/>
                  <a:sym typeface="Gotham Bold"/>
                </a:rPr>
                <a:t>Test Set</a:t>
              </a:r>
            </a:p>
          </p:txBody>
        </p:sp>
      </p:grpSp>
      <p:sp>
        <p:nvSpPr>
          <p:cNvPr name="Freeform 30" id="30"/>
          <p:cNvSpPr/>
          <p:nvPr/>
        </p:nvSpPr>
        <p:spPr>
          <a:xfrm flipH="false" flipV="false" rot="0">
            <a:off x="14334278" y="5140701"/>
            <a:ext cx="503604" cy="490785"/>
          </a:xfrm>
          <a:custGeom>
            <a:avLst/>
            <a:gdLst/>
            <a:ahLst/>
            <a:cxnLst/>
            <a:rect r="r" b="b" t="t" l="l"/>
            <a:pathLst>
              <a:path h="490785" w="503604">
                <a:moveTo>
                  <a:pt x="0" y="0"/>
                </a:moveTo>
                <a:lnTo>
                  <a:pt x="503604" y="0"/>
                </a:lnTo>
                <a:lnTo>
                  <a:pt x="503604" y="490785"/>
                </a:lnTo>
                <a:lnTo>
                  <a:pt x="0" y="490785"/>
                </a:lnTo>
                <a:lnTo>
                  <a:pt x="0" y="0"/>
                </a:lnTo>
                <a:close/>
              </a:path>
            </a:pathLst>
          </a:custGeom>
          <a:blipFill>
            <a:blip r:embed="rId3"/>
            <a:stretch>
              <a:fillRect l="0" t="0" r="0" b="0"/>
            </a:stretch>
          </a:blipFill>
        </p:spPr>
      </p:sp>
      <p:grpSp>
        <p:nvGrpSpPr>
          <p:cNvPr name="Group 31" id="31"/>
          <p:cNvGrpSpPr/>
          <p:nvPr/>
        </p:nvGrpSpPr>
        <p:grpSpPr>
          <a:xfrm rot="0">
            <a:off x="14062173" y="5735380"/>
            <a:ext cx="1047814" cy="284859"/>
            <a:chOff x="0" y="0"/>
            <a:chExt cx="34857" cy="9476"/>
          </a:xfrm>
        </p:grpSpPr>
        <p:sp>
          <p:nvSpPr>
            <p:cNvPr name="Freeform 32" id="32"/>
            <p:cNvSpPr/>
            <p:nvPr/>
          </p:nvSpPr>
          <p:spPr>
            <a:xfrm flipH="false" flipV="false" rot="0">
              <a:off x="0" y="0"/>
              <a:ext cx="34857" cy="9476"/>
            </a:xfrm>
            <a:custGeom>
              <a:avLst/>
              <a:gdLst/>
              <a:ahLst/>
              <a:cxnLst/>
              <a:rect r="r" b="b" t="t" l="l"/>
              <a:pathLst>
                <a:path h="9476" w="34857">
                  <a:moveTo>
                    <a:pt x="0" y="0"/>
                  </a:moveTo>
                  <a:lnTo>
                    <a:pt x="34857" y="0"/>
                  </a:lnTo>
                  <a:lnTo>
                    <a:pt x="34857" y="9476"/>
                  </a:lnTo>
                  <a:lnTo>
                    <a:pt x="0" y="9476"/>
                  </a:lnTo>
                  <a:close/>
                </a:path>
              </a:pathLst>
            </a:custGeom>
            <a:solidFill>
              <a:srgbClr val="8CAD75"/>
            </a:solidFill>
          </p:spPr>
        </p:sp>
        <p:sp>
          <p:nvSpPr>
            <p:cNvPr name="TextBox 33" id="33"/>
            <p:cNvSpPr txBox="true"/>
            <p:nvPr/>
          </p:nvSpPr>
          <p:spPr>
            <a:xfrm>
              <a:off x="0" y="-28575"/>
              <a:ext cx="34857" cy="38051"/>
            </a:xfrm>
            <a:prstGeom prst="rect">
              <a:avLst/>
            </a:prstGeom>
          </p:spPr>
          <p:txBody>
            <a:bodyPr anchor="ctr" rtlCol="false" tIns="50487" lIns="50487" bIns="50487" rIns="50487"/>
            <a:lstStyle/>
            <a:p>
              <a:pPr algn="ctr">
                <a:lnSpc>
                  <a:spcPts val="1400"/>
                </a:lnSpc>
                <a:spcBef>
                  <a:spcPct val="0"/>
                </a:spcBef>
              </a:pPr>
              <a:r>
                <a:rPr lang="en-US" b="true" sz="1000">
                  <a:solidFill>
                    <a:srgbClr val="FFFFFF"/>
                  </a:solidFill>
                  <a:latin typeface="Gotham Bold"/>
                  <a:ea typeface="Gotham Bold"/>
                  <a:cs typeface="Gotham Bold"/>
                  <a:sym typeface="Gotham Bold"/>
                </a:rPr>
                <a:t>Validation Set</a:t>
              </a:r>
            </a:p>
          </p:txBody>
        </p:sp>
      </p:grpSp>
      <p:sp>
        <p:nvSpPr>
          <p:cNvPr name="Freeform 34" id="34"/>
          <p:cNvSpPr/>
          <p:nvPr/>
        </p:nvSpPr>
        <p:spPr>
          <a:xfrm flipH="false" flipV="false" rot="0">
            <a:off x="15734188" y="7842514"/>
            <a:ext cx="633958" cy="547284"/>
          </a:xfrm>
          <a:custGeom>
            <a:avLst/>
            <a:gdLst/>
            <a:ahLst/>
            <a:cxnLst/>
            <a:rect r="r" b="b" t="t" l="l"/>
            <a:pathLst>
              <a:path h="547284" w="633958">
                <a:moveTo>
                  <a:pt x="0" y="0"/>
                </a:moveTo>
                <a:lnTo>
                  <a:pt x="633958" y="0"/>
                </a:lnTo>
                <a:lnTo>
                  <a:pt x="633958" y="547284"/>
                </a:lnTo>
                <a:lnTo>
                  <a:pt x="0" y="547284"/>
                </a:lnTo>
                <a:lnTo>
                  <a:pt x="0" y="0"/>
                </a:lnTo>
                <a:close/>
              </a:path>
            </a:pathLst>
          </a:custGeom>
          <a:blipFill>
            <a:blip r:embed="rId4"/>
            <a:stretch>
              <a:fillRect l="0" t="0" r="0" b="0"/>
            </a:stretch>
          </a:blipFill>
        </p:spPr>
      </p:sp>
      <p:grpSp>
        <p:nvGrpSpPr>
          <p:cNvPr name="Group 35" id="35"/>
          <p:cNvGrpSpPr/>
          <p:nvPr/>
        </p:nvGrpSpPr>
        <p:grpSpPr>
          <a:xfrm rot="0">
            <a:off x="15383422" y="8502910"/>
            <a:ext cx="1377186" cy="267121"/>
            <a:chOff x="0" y="0"/>
            <a:chExt cx="45813" cy="8886"/>
          </a:xfrm>
        </p:grpSpPr>
        <p:sp>
          <p:nvSpPr>
            <p:cNvPr name="Freeform 36" id="36"/>
            <p:cNvSpPr/>
            <p:nvPr/>
          </p:nvSpPr>
          <p:spPr>
            <a:xfrm flipH="false" flipV="false" rot="0">
              <a:off x="0" y="0"/>
              <a:ext cx="45813" cy="8886"/>
            </a:xfrm>
            <a:custGeom>
              <a:avLst/>
              <a:gdLst/>
              <a:ahLst/>
              <a:cxnLst/>
              <a:rect r="r" b="b" t="t" l="l"/>
              <a:pathLst>
                <a:path h="8886" w="45813">
                  <a:moveTo>
                    <a:pt x="0" y="0"/>
                  </a:moveTo>
                  <a:lnTo>
                    <a:pt x="45813" y="0"/>
                  </a:lnTo>
                  <a:lnTo>
                    <a:pt x="45813" y="8886"/>
                  </a:lnTo>
                  <a:lnTo>
                    <a:pt x="0" y="8886"/>
                  </a:lnTo>
                  <a:close/>
                </a:path>
              </a:pathLst>
            </a:custGeom>
            <a:solidFill>
              <a:srgbClr val="8CAD75"/>
            </a:solidFill>
          </p:spPr>
        </p:sp>
        <p:sp>
          <p:nvSpPr>
            <p:cNvPr name="TextBox 37" id="37"/>
            <p:cNvSpPr txBox="true"/>
            <p:nvPr/>
          </p:nvSpPr>
          <p:spPr>
            <a:xfrm>
              <a:off x="0" y="-28575"/>
              <a:ext cx="45813" cy="37461"/>
            </a:xfrm>
            <a:prstGeom prst="rect">
              <a:avLst/>
            </a:prstGeom>
          </p:spPr>
          <p:txBody>
            <a:bodyPr anchor="ctr" rtlCol="false" tIns="50487" lIns="50487" bIns="50487" rIns="50487"/>
            <a:lstStyle/>
            <a:p>
              <a:pPr algn="ctr">
                <a:lnSpc>
                  <a:spcPts val="1400"/>
                </a:lnSpc>
                <a:spcBef>
                  <a:spcPct val="0"/>
                </a:spcBef>
              </a:pPr>
              <a:r>
                <a:rPr lang="en-US" b="true" sz="1000">
                  <a:solidFill>
                    <a:srgbClr val="FFFFFF"/>
                  </a:solidFill>
                  <a:latin typeface="Gotham Bold"/>
                  <a:ea typeface="Gotham Bold"/>
                  <a:cs typeface="Gotham Bold"/>
                  <a:sym typeface="Gotham Bold"/>
                </a:rPr>
                <a:t>Données restantes</a:t>
              </a:r>
            </a:p>
          </p:txBody>
        </p:sp>
      </p:grpSp>
      <p:sp>
        <p:nvSpPr>
          <p:cNvPr name="Freeform 38" id="38"/>
          <p:cNvSpPr/>
          <p:nvPr/>
        </p:nvSpPr>
        <p:spPr>
          <a:xfrm flipH="false" flipV="false" rot="0">
            <a:off x="13857422" y="3934835"/>
            <a:ext cx="521631" cy="517555"/>
          </a:xfrm>
          <a:custGeom>
            <a:avLst/>
            <a:gdLst/>
            <a:ahLst/>
            <a:cxnLst/>
            <a:rect r="r" b="b" t="t" l="l"/>
            <a:pathLst>
              <a:path h="517555" w="521631">
                <a:moveTo>
                  <a:pt x="0" y="0"/>
                </a:moveTo>
                <a:lnTo>
                  <a:pt x="521631" y="0"/>
                </a:lnTo>
                <a:lnTo>
                  <a:pt x="521631" y="517556"/>
                </a:lnTo>
                <a:lnTo>
                  <a:pt x="0" y="517556"/>
                </a:lnTo>
                <a:lnTo>
                  <a:pt x="0" y="0"/>
                </a:lnTo>
                <a:close/>
              </a:path>
            </a:pathLst>
          </a:custGeom>
          <a:blipFill>
            <a:blip r:embed="rId5"/>
            <a:stretch>
              <a:fillRect l="0" t="0" r="0" b="0"/>
            </a:stretch>
          </a:blipFill>
        </p:spPr>
      </p:sp>
      <p:grpSp>
        <p:nvGrpSpPr>
          <p:cNvPr name="Group 39" id="39"/>
          <p:cNvGrpSpPr/>
          <p:nvPr/>
        </p:nvGrpSpPr>
        <p:grpSpPr>
          <a:xfrm rot="0">
            <a:off x="13787720" y="4544240"/>
            <a:ext cx="661036" cy="267121"/>
            <a:chOff x="0" y="0"/>
            <a:chExt cx="23103" cy="9336"/>
          </a:xfrm>
        </p:grpSpPr>
        <p:sp>
          <p:nvSpPr>
            <p:cNvPr name="Freeform 40" id="40"/>
            <p:cNvSpPr/>
            <p:nvPr/>
          </p:nvSpPr>
          <p:spPr>
            <a:xfrm flipH="false" flipV="false" rot="0">
              <a:off x="0" y="0"/>
              <a:ext cx="23103" cy="9336"/>
            </a:xfrm>
            <a:custGeom>
              <a:avLst/>
              <a:gdLst/>
              <a:ahLst/>
              <a:cxnLst/>
              <a:rect r="r" b="b" t="t" l="l"/>
              <a:pathLst>
                <a:path h="9336" w="23103">
                  <a:moveTo>
                    <a:pt x="0" y="0"/>
                  </a:moveTo>
                  <a:lnTo>
                    <a:pt x="23103" y="0"/>
                  </a:lnTo>
                  <a:lnTo>
                    <a:pt x="23103" y="9336"/>
                  </a:lnTo>
                  <a:lnTo>
                    <a:pt x="0" y="9336"/>
                  </a:lnTo>
                  <a:close/>
                </a:path>
              </a:pathLst>
            </a:custGeom>
            <a:solidFill>
              <a:srgbClr val="8CAD75"/>
            </a:solidFill>
          </p:spPr>
        </p:sp>
        <p:sp>
          <p:nvSpPr>
            <p:cNvPr name="TextBox 41" id="41"/>
            <p:cNvSpPr txBox="true"/>
            <p:nvPr/>
          </p:nvSpPr>
          <p:spPr>
            <a:xfrm>
              <a:off x="0" y="-28575"/>
              <a:ext cx="23103" cy="37911"/>
            </a:xfrm>
            <a:prstGeom prst="rect">
              <a:avLst/>
            </a:prstGeom>
          </p:spPr>
          <p:txBody>
            <a:bodyPr anchor="ctr" rtlCol="false" tIns="50487" lIns="50487" bIns="50487" rIns="50487"/>
            <a:lstStyle/>
            <a:p>
              <a:pPr algn="ctr">
                <a:lnSpc>
                  <a:spcPts val="1400"/>
                </a:lnSpc>
                <a:spcBef>
                  <a:spcPct val="0"/>
                </a:spcBef>
              </a:pPr>
              <a:r>
                <a:rPr lang="en-US" b="true" sz="1000">
                  <a:solidFill>
                    <a:srgbClr val="FFFFFF"/>
                  </a:solidFill>
                  <a:latin typeface="Gotham Bold"/>
                  <a:ea typeface="Gotham Bold"/>
                  <a:cs typeface="Gotham Bold"/>
                  <a:sym typeface="Gotham Bold"/>
                </a:rPr>
                <a:t>Train Set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TextBox 3" id="3"/>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Annoter les données d’entraînement et fixer son codebook (étape 2)</a:t>
            </a:r>
          </a:p>
        </p:txBody>
      </p:sp>
      <p:sp>
        <p:nvSpPr>
          <p:cNvPr name="TextBox 4" id="4"/>
          <p:cNvSpPr txBox="true"/>
          <p:nvPr/>
        </p:nvSpPr>
        <p:spPr>
          <a:xfrm rot="0">
            <a:off x="1028700" y="3987335"/>
            <a:ext cx="1573185" cy="523875"/>
          </a:xfrm>
          <a:prstGeom prst="rect">
            <a:avLst/>
          </a:prstGeom>
        </p:spPr>
        <p:txBody>
          <a:bodyPr anchor="t" rtlCol="false" tIns="0" lIns="0" bIns="0" rIns="0">
            <a:spAutoFit/>
          </a:bodyPr>
          <a:lstStyle/>
          <a:p>
            <a:pPr algn="l">
              <a:lnSpc>
                <a:spcPts val="4200"/>
              </a:lnSpc>
            </a:pPr>
            <a:r>
              <a:rPr lang="en-US" sz="3000" b="true">
                <a:solidFill>
                  <a:srgbClr val="000000"/>
                </a:solidFill>
                <a:latin typeface="Open Sauce Bold"/>
                <a:ea typeface="Open Sauce Bold"/>
                <a:cs typeface="Open Sauce Bold"/>
                <a:sym typeface="Open Sauce Bold"/>
              </a:rPr>
              <a:t>Annoter</a:t>
            </a:r>
          </a:p>
        </p:txBody>
      </p:sp>
      <p:sp>
        <p:nvSpPr>
          <p:cNvPr name="Freeform 5" id="5"/>
          <p:cNvSpPr/>
          <p:nvPr/>
        </p:nvSpPr>
        <p:spPr>
          <a:xfrm flipH="false" flipV="false" rot="0">
            <a:off x="4609508" y="2622523"/>
            <a:ext cx="12392757" cy="6157651"/>
          </a:xfrm>
          <a:custGeom>
            <a:avLst/>
            <a:gdLst/>
            <a:ahLst/>
            <a:cxnLst/>
            <a:rect r="r" b="b" t="t" l="l"/>
            <a:pathLst>
              <a:path h="6157651" w="12392757">
                <a:moveTo>
                  <a:pt x="0" y="0"/>
                </a:moveTo>
                <a:lnTo>
                  <a:pt x="12392757" y="0"/>
                </a:lnTo>
                <a:lnTo>
                  <a:pt x="12392757" y="6157651"/>
                </a:lnTo>
                <a:lnTo>
                  <a:pt x="0" y="6157651"/>
                </a:lnTo>
                <a:lnTo>
                  <a:pt x="0" y="0"/>
                </a:lnTo>
                <a:close/>
              </a:path>
            </a:pathLst>
          </a:custGeom>
          <a:blipFill>
            <a:blip r:embed="rId3"/>
            <a:stretch>
              <a:fillRect l="0" t="0" r="0" b="0"/>
            </a:stretch>
          </a:blipFill>
        </p:spPr>
      </p:sp>
      <p:sp>
        <p:nvSpPr>
          <p:cNvPr name="Freeform 6" id="6"/>
          <p:cNvSpPr/>
          <p:nvPr/>
        </p:nvSpPr>
        <p:spPr>
          <a:xfrm flipH="false" flipV="false" rot="0">
            <a:off x="14668676" y="5141304"/>
            <a:ext cx="430125" cy="534317"/>
          </a:xfrm>
          <a:custGeom>
            <a:avLst/>
            <a:gdLst/>
            <a:ahLst/>
            <a:cxnLst/>
            <a:rect r="r" b="b" t="t" l="l"/>
            <a:pathLst>
              <a:path h="534317" w="430125">
                <a:moveTo>
                  <a:pt x="0" y="0"/>
                </a:moveTo>
                <a:lnTo>
                  <a:pt x="430126" y="0"/>
                </a:lnTo>
                <a:lnTo>
                  <a:pt x="430126" y="534317"/>
                </a:lnTo>
                <a:lnTo>
                  <a:pt x="0" y="5343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4999171"/>
            <a:ext cx="2652488" cy="429260"/>
          </a:xfrm>
          <a:prstGeom prst="rect">
            <a:avLst/>
          </a:prstGeom>
        </p:spPr>
        <p:txBody>
          <a:bodyPr anchor="t" rtlCol="false" tIns="0" lIns="0" bIns="0" rIns="0">
            <a:spAutoFit/>
          </a:bodyPr>
          <a:lstStyle/>
          <a:p>
            <a:pPr algn="l">
              <a:lnSpc>
                <a:spcPts val="3640"/>
              </a:lnSpc>
            </a:pPr>
            <a:r>
              <a:rPr lang="en-US" sz="2600">
                <a:solidFill>
                  <a:srgbClr val="000000"/>
                </a:solidFill>
                <a:latin typeface="Open Sauce"/>
                <a:ea typeface="Open Sauce"/>
                <a:cs typeface="Open Sauce"/>
                <a:sym typeface="Open Sauce"/>
              </a:rPr>
              <a:t>1) Aléatoirement</a:t>
            </a:r>
          </a:p>
        </p:txBody>
      </p:sp>
      <p:sp>
        <p:nvSpPr>
          <p:cNvPr name="TextBox 8" id="8"/>
          <p:cNvSpPr txBox="true"/>
          <p:nvPr/>
        </p:nvSpPr>
        <p:spPr>
          <a:xfrm rot="0">
            <a:off x="1028700" y="5914205"/>
            <a:ext cx="2517575" cy="429260"/>
          </a:xfrm>
          <a:prstGeom prst="rect">
            <a:avLst/>
          </a:prstGeom>
        </p:spPr>
        <p:txBody>
          <a:bodyPr anchor="t" rtlCol="false" tIns="0" lIns="0" bIns="0" rIns="0">
            <a:spAutoFit/>
          </a:bodyPr>
          <a:lstStyle/>
          <a:p>
            <a:pPr algn="l">
              <a:lnSpc>
                <a:spcPts val="3640"/>
              </a:lnSpc>
            </a:pPr>
            <a:r>
              <a:rPr lang="en-US" sz="2600">
                <a:solidFill>
                  <a:srgbClr val="000000"/>
                </a:solidFill>
                <a:latin typeface="Open Sauce"/>
                <a:ea typeface="Open Sauce"/>
                <a:cs typeface="Open Sauce"/>
                <a:sym typeface="Open Sauce"/>
              </a:rPr>
              <a:t>2) par RegEx</a:t>
            </a:r>
          </a:p>
        </p:txBody>
      </p:sp>
      <p:sp>
        <p:nvSpPr>
          <p:cNvPr name="TextBox 9" id="9"/>
          <p:cNvSpPr txBox="true"/>
          <p:nvPr/>
        </p:nvSpPr>
        <p:spPr>
          <a:xfrm rot="0">
            <a:off x="1028700" y="6829240"/>
            <a:ext cx="3580808" cy="429260"/>
          </a:xfrm>
          <a:prstGeom prst="rect">
            <a:avLst/>
          </a:prstGeom>
        </p:spPr>
        <p:txBody>
          <a:bodyPr anchor="t" rtlCol="false" tIns="0" lIns="0" bIns="0" rIns="0">
            <a:spAutoFit/>
          </a:bodyPr>
          <a:lstStyle/>
          <a:p>
            <a:pPr algn="l">
              <a:lnSpc>
                <a:spcPts val="3640"/>
              </a:lnSpc>
            </a:pPr>
            <a:r>
              <a:rPr lang="en-US" sz="2600">
                <a:solidFill>
                  <a:srgbClr val="000000"/>
                </a:solidFill>
                <a:latin typeface="Open Sauce"/>
                <a:ea typeface="Open Sauce"/>
                <a:cs typeface="Open Sauce"/>
                <a:sym typeface="Open Sauce"/>
              </a:rPr>
              <a:t>3) par Active learning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4036030" y="2771778"/>
            <a:ext cx="13444296" cy="6201182"/>
          </a:xfrm>
          <a:custGeom>
            <a:avLst/>
            <a:gdLst/>
            <a:ahLst/>
            <a:cxnLst/>
            <a:rect r="r" b="b" t="t" l="l"/>
            <a:pathLst>
              <a:path h="6201182" w="13444296">
                <a:moveTo>
                  <a:pt x="0" y="0"/>
                </a:moveTo>
                <a:lnTo>
                  <a:pt x="13444296" y="0"/>
                </a:lnTo>
                <a:lnTo>
                  <a:pt x="13444296" y="6201182"/>
                </a:lnTo>
                <a:lnTo>
                  <a:pt x="0" y="6201182"/>
                </a:lnTo>
                <a:lnTo>
                  <a:pt x="0" y="0"/>
                </a:lnTo>
                <a:close/>
              </a:path>
            </a:pathLst>
          </a:custGeom>
          <a:blipFill>
            <a:blip r:embed="rId3"/>
            <a:stretch>
              <a:fillRect l="0" t="0" r="0" b="0"/>
            </a:stretch>
          </a:blipFill>
        </p:spPr>
      </p:sp>
      <p:sp>
        <p:nvSpPr>
          <p:cNvPr name="TextBox 4" id="4"/>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Annoter les données d’entraînement et fixer son codebook (étape 2)</a:t>
            </a:r>
          </a:p>
        </p:txBody>
      </p:sp>
      <p:sp>
        <p:nvSpPr>
          <p:cNvPr name="TextBox 5" id="5"/>
          <p:cNvSpPr txBox="true"/>
          <p:nvPr/>
        </p:nvSpPr>
        <p:spPr>
          <a:xfrm rot="0">
            <a:off x="1028700" y="4251942"/>
            <a:ext cx="2340543" cy="1057275"/>
          </a:xfrm>
          <a:prstGeom prst="rect">
            <a:avLst/>
          </a:prstGeom>
        </p:spPr>
        <p:txBody>
          <a:bodyPr anchor="t" rtlCol="false" tIns="0" lIns="0" bIns="0" rIns="0">
            <a:spAutoFit/>
          </a:bodyPr>
          <a:lstStyle/>
          <a:p>
            <a:pPr algn="l">
              <a:lnSpc>
                <a:spcPts val="4200"/>
              </a:lnSpc>
            </a:pPr>
            <a:r>
              <a:rPr lang="en-US" sz="3000" b="true">
                <a:solidFill>
                  <a:srgbClr val="000000"/>
                </a:solidFill>
                <a:latin typeface="Open Sauce Bold"/>
                <a:ea typeface="Open Sauce Bold"/>
                <a:cs typeface="Open Sauce Bold"/>
                <a:sym typeface="Open Sauce Bold"/>
              </a:rPr>
              <a:t>Fixer son codebook</a:t>
            </a:r>
          </a:p>
        </p:txBody>
      </p:sp>
      <p:sp>
        <p:nvSpPr>
          <p:cNvPr name="TextBox 6" id="6"/>
          <p:cNvSpPr txBox="true"/>
          <p:nvPr/>
        </p:nvSpPr>
        <p:spPr>
          <a:xfrm rot="0">
            <a:off x="1028700" y="5706945"/>
            <a:ext cx="2652488" cy="886460"/>
          </a:xfrm>
          <a:prstGeom prst="rect">
            <a:avLst/>
          </a:prstGeom>
        </p:spPr>
        <p:txBody>
          <a:bodyPr anchor="t" rtlCol="false" tIns="0" lIns="0" bIns="0" rIns="0">
            <a:spAutoFit/>
          </a:bodyPr>
          <a:lstStyle/>
          <a:p>
            <a:pPr algn="l">
              <a:lnSpc>
                <a:spcPts val="3640"/>
              </a:lnSpc>
            </a:pPr>
            <a:r>
              <a:rPr lang="en-US" sz="2600">
                <a:solidFill>
                  <a:srgbClr val="000000"/>
                </a:solidFill>
                <a:latin typeface="Open Sauce"/>
                <a:ea typeface="Open Sauce"/>
                <a:cs typeface="Open Sauce"/>
                <a:sym typeface="Open Sauce"/>
              </a:rPr>
              <a:t>Par itérations successives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14035355" y="4238567"/>
            <a:ext cx="2849060" cy="757382"/>
          </a:xfrm>
          <a:custGeom>
            <a:avLst/>
            <a:gdLst/>
            <a:ahLst/>
            <a:cxnLst/>
            <a:rect r="r" b="b" t="t" l="l"/>
            <a:pathLst>
              <a:path h="757382" w="2849060">
                <a:moveTo>
                  <a:pt x="0" y="0"/>
                </a:moveTo>
                <a:lnTo>
                  <a:pt x="2849059" y="0"/>
                </a:lnTo>
                <a:lnTo>
                  <a:pt x="2849059" y="757382"/>
                </a:lnTo>
                <a:lnTo>
                  <a:pt x="0" y="757382"/>
                </a:lnTo>
                <a:lnTo>
                  <a:pt x="0" y="0"/>
                </a:lnTo>
                <a:close/>
              </a:path>
            </a:pathLst>
          </a:custGeom>
          <a:blipFill>
            <a:blip r:embed="rId3"/>
            <a:stretch>
              <a:fillRect l="0" t="0" r="0" b="0"/>
            </a:stretch>
          </a:blipFill>
        </p:spPr>
      </p:sp>
      <p:sp>
        <p:nvSpPr>
          <p:cNvPr name="Freeform 4" id="4"/>
          <p:cNvSpPr/>
          <p:nvPr/>
        </p:nvSpPr>
        <p:spPr>
          <a:xfrm>
            <a:off x="12847532" y="3881044"/>
            <a:ext cx="1069561" cy="419714"/>
          </a:xfrm>
          <a:custGeom>
            <a:avLst/>
            <a:gdLst/>
            <a:ahLst/>
            <a:cxnLst/>
            <a:rect r="r" b="b" t="t" l="l"/>
            <a:pathLst>
              <a:path h="419714" w="1069561">
                <a:moveTo>
                  <a:pt x="0" y="0"/>
                </a:moveTo>
                <a:quadBezTo>
                  <a:pt x="395968" y="620904"/>
                  <a:pt x="1069561" y="323273"/>
                </a:quadBezTo>
              </a:path>
            </a:pathLst>
          </a:custGeom>
          <a:ln cap="flat" w="28575">
            <a:solidFill>
              <a:srgbClr val="000000"/>
            </a:solidFill>
            <a:prstDash val="solid"/>
            <a:headEnd type="none" len="sm" w="sm"/>
            <a:tailEnd type="none" len="sm" w="sm"/>
          </a:ln>
        </p:spPr>
      </p:sp>
      <p:grpSp>
        <p:nvGrpSpPr>
          <p:cNvPr name="Group 5" id="5"/>
          <p:cNvGrpSpPr/>
          <p:nvPr/>
        </p:nvGrpSpPr>
        <p:grpSpPr>
          <a:xfrm rot="-3443471">
            <a:off x="12755141" y="3872734"/>
            <a:ext cx="324660" cy="283652"/>
            <a:chOff x="0" y="0"/>
            <a:chExt cx="432881" cy="378203"/>
          </a:xfrm>
        </p:grpSpPr>
        <p:sp>
          <p:nvSpPr>
            <p:cNvPr name="AutoShape 6" id="6"/>
            <p:cNvSpPr/>
            <p:nvPr/>
          </p:nvSpPr>
          <p:spPr>
            <a:xfrm flipV="true">
              <a:off x="8480" y="12417"/>
              <a:ext cx="319420" cy="218148"/>
            </a:xfrm>
            <a:prstGeom prst="line">
              <a:avLst/>
            </a:prstGeom>
            <a:ln cap="flat" w="30073">
              <a:solidFill>
                <a:srgbClr val="000000"/>
              </a:solidFill>
              <a:prstDash val="solid"/>
              <a:headEnd type="none" len="sm" w="sm"/>
              <a:tailEnd type="none" len="sm" w="sm"/>
            </a:ln>
          </p:spPr>
        </p:sp>
        <p:sp>
          <p:nvSpPr>
            <p:cNvPr name="AutoShape 7" id="7"/>
            <p:cNvSpPr/>
            <p:nvPr/>
          </p:nvSpPr>
          <p:spPr>
            <a:xfrm flipH="true" flipV="true">
              <a:off x="306196" y="21560"/>
              <a:ext cx="112360" cy="352072"/>
            </a:xfrm>
            <a:prstGeom prst="line">
              <a:avLst/>
            </a:prstGeom>
            <a:ln cap="flat" w="30073">
              <a:solidFill>
                <a:srgbClr val="000000"/>
              </a:solidFill>
              <a:prstDash val="solid"/>
              <a:headEnd type="none" len="sm" w="sm"/>
              <a:tailEnd type="none" len="sm" w="sm"/>
            </a:ln>
          </p:spPr>
        </p:sp>
      </p:grpSp>
      <p:sp>
        <p:nvSpPr>
          <p:cNvPr name="TextBox 8" id="8"/>
          <p:cNvSpPr txBox="true"/>
          <p:nvPr/>
        </p:nvSpPr>
        <p:spPr>
          <a:xfrm rot="0">
            <a:off x="1629327" y="4929274"/>
            <a:ext cx="11495094" cy="1976755"/>
          </a:xfrm>
          <a:prstGeom prst="rect">
            <a:avLst/>
          </a:prstGeom>
        </p:spPr>
        <p:txBody>
          <a:bodyPr anchor="t" rtlCol="false" tIns="0" lIns="0" bIns="0" rIns="0">
            <a:spAutoFit/>
          </a:bodyPr>
          <a:lstStyle/>
          <a:p>
            <a:pPr algn="l">
              <a:lnSpc>
                <a:spcPts val="3919"/>
              </a:lnSpc>
            </a:pPr>
            <a:r>
              <a:rPr lang="en-US" sz="2799">
                <a:solidFill>
                  <a:srgbClr val="000000"/>
                </a:solidFill>
                <a:latin typeface="Open Sauce"/>
                <a:ea typeface="Open Sauce"/>
                <a:cs typeface="Open Sauce"/>
                <a:sym typeface="Open Sauce"/>
              </a:rPr>
              <a:t>On utilise ici </a:t>
            </a:r>
            <a:r>
              <a:rPr lang="en-US" sz="2799" b="true">
                <a:solidFill>
                  <a:srgbClr val="000000"/>
                </a:solidFill>
                <a:latin typeface="Open Sauce Bold"/>
                <a:ea typeface="Open Sauce Bold"/>
                <a:cs typeface="Open Sauce Bold"/>
                <a:sym typeface="Open Sauce Bold"/>
              </a:rPr>
              <a:t>CamembertaV2base</a:t>
            </a:r>
          </a:p>
          <a:p>
            <a:pPr algn="l" marL="604519" indent="-302260" lvl="1">
              <a:lnSpc>
                <a:spcPts val="3919"/>
              </a:lnSpc>
              <a:buFont typeface="Arial"/>
              <a:buChar char="•"/>
            </a:pPr>
            <a:r>
              <a:rPr lang="en-US" sz="2799">
                <a:solidFill>
                  <a:srgbClr val="000000"/>
                </a:solidFill>
                <a:latin typeface="Open Sauce"/>
                <a:ea typeface="Open Sauce"/>
                <a:cs typeface="Open Sauce"/>
                <a:sym typeface="Open Sauce"/>
              </a:rPr>
              <a:t>Francophone</a:t>
            </a:r>
          </a:p>
          <a:p>
            <a:pPr algn="l" marL="604519" indent="-302260" lvl="1">
              <a:lnSpc>
                <a:spcPts val="3919"/>
              </a:lnSpc>
              <a:buFont typeface="Arial"/>
              <a:buChar char="•"/>
            </a:pPr>
            <a:r>
              <a:rPr lang="en-US" sz="2799">
                <a:solidFill>
                  <a:srgbClr val="000000"/>
                </a:solidFill>
                <a:latin typeface="Open Sauce"/>
                <a:ea typeface="Open Sauce"/>
                <a:cs typeface="Open Sauce"/>
                <a:sym typeface="Open Sauce"/>
              </a:rPr>
              <a:t>Fenêtre de contexte de +1024 tokens</a:t>
            </a:r>
          </a:p>
          <a:p>
            <a:pPr algn="l" marL="604519" indent="-302260" lvl="1">
              <a:lnSpc>
                <a:spcPts val="3919"/>
              </a:lnSpc>
              <a:buFont typeface="Arial"/>
              <a:buChar char="•"/>
            </a:pPr>
            <a:r>
              <a:rPr lang="en-US" sz="2799">
                <a:solidFill>
                  <a:srgbClr val="000000"/>
                </a:solidFill>
                <a:latin typeface="Open Sauce"/>
                <a:ea typeface="Open Sauce"/>
                <a:cs typeface="Open Sauce"/>
                <a:sym typeface="Open Sauce"/>
              </a:rPr>
              <a:t>Données d’entraînement conviennent</a:t>
            </a:r>
          </a:p>
        </p:txBody>
      </p:sp>
      <p:sp>
        <p:nvSpPr>
          <p:cNvPr name="TextBox 9" id="9"/>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Entraîner des modèles (étape 4)</a:t>
            </a:r>
          </a:p>
        </p:txBody>
      </p:sp>
      <p:sp>
        <p:nvSpPr>
          <p:cNvPr name="TextBox 10" id="10"/>
          <p:cNvSpPr txBox="true"/>
          <p:nvPr/>
        </p:nvSpPr>
        <p:spPr>
          <a:xfrm rot="0">
            <a:off x="1028700" y="3173023"/>
            <a:ext cx="15539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Choisir un ou des modèles dont les caractéristiques correspondent à nos données.</a:t>
            </a:r>
          </a:p>
        </p:txBody>
      </p:sp>
      <p:sp>
        <p:nvSpPr>
          <p:cNvPr name="TextBox 11" id="11"/>
          <p:cNvSpPr txBox="true"/>
          <p:nvPr/>
        </p:nvSpPr>
        <p:spPr>
          <a:xfrm rot="0">
            <a:off x="14163586" y="3927417"/>
            <a:ext cx="2768453" cy="349250"/>
          </a:xfrm>
          <a:prstGeom prst="rect">
            <a:avLst/>
          </a:prstGeom>
        </p:spPr>
        <p:txBody>
          <a:bodyPr anchor="t" rtlCol="false" tIns="0" lIns="0" bIns="0" rIns="0">
            <a:spAutoFit/>
          </a:bodyPr>
          <a:lstStyle/>
          <a:p>
            <a:pPr algn="l">
              <a:lnSpc>
                <a:spcPts val="2800"/>
              </a:lnSpc>
            </a:pPr>
            <a:r>
              <a:rPr lang="en-US" sz="2000">
                <a:solidFill>
                  <a:srgbClr val="000000"/>
                </a:solidFill>
                <a:latin typeface="Open Sauce"/>
                <a:ea typeface="Open Sauce"/>
                <a:cs typeface="Open Sauce"/>
                <a:sym typeface="Open Sauce"/>
              </a:rPr>
              <a:t>cf. documentation sur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TextBox 3" id="3"/>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Sélectionner un modèle (étape 5)</a:t>
            </a:r>
          </a:p>
        </p:txBody>
      </p:sp>
      <p:sp>
        <p:nvSpPr>
          <p:cNvPr name="TextBox 4" id="4"/>
          <p:cNvSpPr txBox="true"/>
          <p:nvPr/>
        </p:nvSpPr>
        <p:spPr>
          <a:xfrm rot="0">
            <a:off x="1028700" y="2234617"/>
            <a:ext cx="15539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Sélection du modèle le plus performant sur le set de validation.</a:t>
            </a:r>
          </a:p>
        </p:txBody>
      </p:sp>
      <p:sp>
        <p:nvSpPr>
          <p:cNvPr name="Freeform 5" id="5"/>
          <p:cNvSpPr/>
          <p:nvPr/>
        </p:nvSpPr>
        <p:spPr>
          <a:xfrm flipH="false" flipV="false" rot="0">
            <a:off x="6201438" y="3973494"/>
            <a:ext cx="5531665" cy="2165837"/>
          </a:xfrm>
          <a:custGeom>
            <a:avLst/>
            <a:gdLst/>
            <a:ahLst/>
            <a:cxnLst/>
            <a:rect r="r" b="b" t="t" l="l"/>
            <a:pathLst>
              <a:path h="2165837" w="5531665">
                <a:moveTo>
                  <a:pt x="0" y="0"/>
                </a:moveTo>
                <a:lnTo>
                  <a:pt x="5531665" y="0"/>
                </a:lnTo>
                <a:lnTo>
                  <a:pt x="5531665" y="2165837"/>
                </a:lnTo>
                <a:lnTo>
                  <a:pt x="0" y="2165837"/>
                </a:lnTo>
                <a:lnTo>
                  <a:pt x="0" y="0"/>
                </a:lnTo>
                <a:close/>
              </a:path>
            </a:pathLst>
          </a:custGeom>
          <a:blipFill>
            <a:blip r:embed="rId3"/>
            <a:stretch>
              <a:fillRect l="0" t="0" r="0" b="0"/>
            </a:stretch>
          </a:blipFill>
        </p:spPr>
      </p:sp>
      <p:sp>
        <p:nvSpPr>
          <p:cNvPr name="Freeform 6" id="6"/>
          <p:cNvSpPr/>
          <p:nvPr/>
        </p:nvSpPr>
        <p:spPr>
          <a:xfrm flipH="false" flipV="false" rot="0">
            <a:off x="7686221" y="3272842"/>
            <a:ext cx="3870153" cy="471632"/>
          </a:xfrm>
          <a:custGeom>
            <a:avLst/>
            <a:gdLst/>
            <a:ahLst/>
            <a:cxnLst/>
            <a:rect r="r" b="b" t="t" l="l"/>
            <a:pathLst>
              <a:path h="471632" w="3870153">
                <a:moveTo>
                  <a:pt x="0" y="0"/>
                </a:moveTo>
                <a:lnTo>
                  <a:pt x="3870152" y="0"/>
                </a:lnTo>
                <a:lnTo>
                  <a:pt x="3870152" y="471632"/>
                </a:lnTo>
                <a:lnTo>
                  <a:pt x="0" y="471632"/>
                </a:lnTo>
                <a:lnTo>
                  <a:pt x="0" y="0"/>
                </a:lnTo>
                <a:close/>
              </a:path>
            </a:pathLst>
          </a:custGeom>
          <a:blipFill>
            <a:blip r:embed="rId4"/>
            <a:stretch>
              <a:fillRect l="0" t="0" r="0" b="0"/>
            </a:stretch>
          </a:blipFill>
        </p:spPr>
      </p:sp>
      <p:sp>
        <p:nvSpPr>
          <p:cNvPr name="TextBox 7" id="7"/>
          <p:cNvSpPr txBox="true"/>
          <p:nvPr/>
        </p:nvSpPr>
        <p:spPr>
          <a:xfrm rot="0">
            <a:off x="6453610" y="3372844"/>
            <a:ext cx="1110183" cy="275946"/>
          </a:xfrm>
          <a:prstGeom prst="rect">
            <a:avLst/>
          </a:prstGeom>
        </p:spPr>
        <p:txBody>
          <a:bodyPr anchor="t" rtlCol="false" tIns="0" lIns="0" bIns="0" rIns="0">
            <a:spAutoFit/>
          </a:bodyPr>
          <a:lstStyle/>
          <a:p>
            <a:pPr algn="just">
              <a:lnSpc>
                <a:spcPts val="2384"/>
              </a:lnSpc>
              <a:spcBef>
                <a:spcPct val="0"/>
              </a:spcBef>
            </a:pPr>
            <a:r>
              <a:rPr lang="en-US" b="true" sz="1703" i="true">
                <a:solidFill>
                  <a:srgbClr val="FFFFFF"/>
                </a:solidFill>
                <a:latin typeface="Open Sauce Bold Italics"/>
                <a:ea typeface="Open Sauce Bold Italics"/>
                <a:cs typeface="Open Sauce Bold Italics"/>
                <a:sym typeface="Open Sauce Bold Italics"/>
              </a:rPr>
              <a:t>Modèle B</a:t>
            </a:r>
          </a:p>
        </p:txBody>
      </p:sp>
      <p:sp>
        <p:nvSpPr>
          <p:cNvPr name="Freeform 8" id="8"/>
          <p:cNvSpPr/>
          <p:nvPr/>
        </p:nvSpPr>
        <p:spPr>
          <a:xfrm flipH="false" flipV="false" rot="0">
            <a:off x="11332054" y="6233567"/>
            <a:ext cx="5927246" cy="3026600"/>
          </a:xfrm>
          <a:custGeom>
            <a:avLst/>
            <a:gdLst/>
            <a:ahLst/>
            <a:cxnLst/>
            <a:rect r="r" b="b" t="t" l="l"/>
            <a:pathLst>
              <a:path h="3026600" w="5927246">
                <a:moveTo>
                  <a:pt x="0" y="0"/>
                </a:moveTo>
                <a:lnTo>
                  <a:pt x="5927246" y="0"/>
                </a:lnTo>
                <a:lnTo>
                  <a:pt x="5927246" y="3026600"/>
                </a:lnTo>
                <a:lnTo>
                  <a:pt x="0" y="3026600"/>
                </a:lnTo>
                <a:lnTo>
                  <a:pt x="0" y="0"/>
                </a:lnTo>
                <a:close/>
              </a:path>
            </a:pathLst>
          </a:custGeom>
          <a:blipFill>
            <a:blip r:embed="rId5"/>
            <a:stretch>
              <a:fillRect l="0" t="0" r="0" b="0"/>
            </a:stretch>
          </a:blipFill>
        </p:spPr>
      </p:sp>
      <p:sp>
        <p:nvSpPr>
          <p:cNvPr name="TextBox 9" id="9"/>
          <p:cNvSpPr txBox="true"/>
          <p:nvPr/>
        </p:nvSpPr>
        <p:spPr>
          <a:xfrm rot="0">
            <a:off x="8097533" y="8207449"/>
            <a:ext cx="3245666" cy="824865"/>
          </a:xfrm>
          <a:prstGeom prst="rect">
            <a:avLst/>
          </a:prstGeom>
        </p:spPr>
        <p:txBody>
          <a:bodyPr anchor="t" rtlCol="false" tIns="0" lIns="0" bIns="0" rIns="0">
            <a:spAutoFit/>
          </a:bodyPr>
          <a:lstStyle/>
          <a:p>
            <a:pPr algn="r">
              <a:lnSpc>
                <a:spcPts val="3360"/>
              </a:lnSpc>
            </a:pPr>
            <a:r>
              <a:rPr lang="en-US" sz="2400">
                <a:solidFill>
                  <a:srgbClr val="000000"/>
                </a:solidFill>
                <a:latin typeface="Open Sauce"/>
                <a:ea typeface="Open Sauce"/>
                <a:cs typeface="Open Sauce"/>
                <a:sym typeface="Open Sauce"/>
              </a:rPr>
              <a:t>Note : losses d’entraînement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5161233" y="6802934"/>
            <a:ext cx="6100055" cy="2380098"/>
          </a:xfrm>
          <a:custGeom>
            <a:avLst/>
            <a:gdLst/>
            <a:ahLst/>
            <a:cxnLst/>
            <a:rect r="r" b="b" t="t" l="l"/>
            <a:pathLst>
              <a:path h="2380098" w="6100055">
                <a:moveTo>
                  <a:pt x="0" y="0"/>
                </a:moveTo>
                <a:lnTo>
                  <a:pt x="6100056" y="0"/>
                </a:lnTo>
                <a:lnTo>
                  <a:pt x="6100056" y="2380097"/>
                </a:lnTo>
                <a:lnTo>
                  <a:pt x="0" y="2380097"/>
                </a:lnTo>
                <a:lnTo>
                  <a:pt x="0" y="0"/>
                </a:lnTo>
                <a:close/>
              </a:path>
            </a:pathLst>
          </a:custGeom>
          <a:blipFill>
            <a:blip r:embed="rId3"/>
            <a:stretch>
              <a:fillRect l="-204304" t="-61085" r="0" b="-94824"/>
            </a:stretch>
          </a:blipFill>
        </p:spPr>
      </p:sp>
      <p:grpSp>
        <p:nvGrpSpPr>
          <p:cNvPr name="Group 4" id="4"/>
          <p:cNvGrpSpPr/>
          <p:nvPr/>
        </p:nvGrpSpPr>
        <p:grpSpPr>
          <a:xfrm rot="6396356">
            <a:off x="11143419" y="6603086"/>
            <a:ext cx="401263" cy="829113"/>
            <a:chOff x="0" y="0"/>
            <a:chExt cx="535018" cy="1105484"/>
          </a:xfrm>
        </p:grpSpPr>
        <p:sp>
          <p:nvSpPr>
            <p:cNvPr name="Freeform 5" id="5"/>
            <p:cNvSpPr/>
            <p:nvPr/>
          </p:nvSpPr>
          <p:spPr>
            <a:xfrm>
              <a:off x="135771" y="11149"/>
              <a:ext cx="387109" cy="1020352"/>
            </a:xfrm>
            <a:custGeom>
              <a:avLst/>
              <a:gdLst/>
              <a:ahLst/>
              <a:cxnLst/>
              <a:rect r="r" b="b" t="t" l="l"/>
              <a:pathLst>
                <a:path h="1020352" w="387109">
                  <a:moveTo>
                    <a:pt x="98543" y="0"/>
                  </a:moveTo>
                  <a:quadBezTo>
                    <a:pt x="-195312" y="634086"/>
                    <a:pt x="387109" y="1020352"/>
                  </a:quadBezTo>
                </a:path>
              </a:pathLst>
            </a:custGeom>
            <a:ln cap="flat" w="26755">
              <a:solidFill>
                <a:srgbClr val="000000"/>
              </a:solidFill>
              <a:prstDash val="solid"/>
              <a:headEnd type="none" len="sm" w="sm"/>
              <a:tailEnd type="none" len="sm" w="sm"/>
            </a:ln>
          </p:spPr>
        </p:sp>
        <p:sp>
          <p:nvSpPr>
            <p:cNvPr name="AutoShape 6" id="6"/>
            <p:cNvSpPr/>
            <p:nvPr/>
          </p:nvSpPr>
          <p:spPr>
            <a:xfrm flipV="true">
              <a:off x="15330" y="9586"/>
              <a:ext cx="227349" cy="155269"/>
            </a:xfrm>
            <a:prstGeom prst="line">
              <a:avLst/>
            </a:prstGeom>
            <a:ln cap="flat" w="21404">
              <a:solidFill>
                <a:srgbClr val="000000"/>
              </a:solidFill>
              <a:prstDash val="solid"/>
              <a:headEnd type="none" len="sm" w="sm"/>
              <a:tailEnd type="none" len="sm" w="sm"/>
            </a:ln>
          </p:spPr>
        </p:sp>
        <p:sp>
          <p:nvSpPr>
            <p:cNvPr name="AutoShape 7" id="7"/>
            <p:cNvSpPr/>
            <p:nvPr/>
          </p:nvSpPr>
          <p:spPr>
            <a:xfrm flipH="true" flipV="true">
              <a:off x="227231" y="16094"/>
              <a:ext cx="79973" cy="250589"/>
            </a:xfrm>
            <a:prstGeom prst="line">
              <a:avLst/>
            </a:prstGeom>
            <a:ln cap="flat" w="21404">
              <a:solidFill>
                <a:srgbClr val="000000"/>
              </a:solidFill>
              <a:prstDash val="solid"/>
              <a:headEnd type="none" len="sm" w="sm"/>
              <a:tailEnd type="none" len="sm" w="sm"/>
            </a:ln>
          </p:spPr>
        </p:sp>
      </p:grpSp>
      <p:sp>
        <p:nvSpPr>
          <p:cNvPr name="Freeform 8" id="8"/>
          <p:cNvSpPr/>
          <p:nvPr/>
        </p:nvSpPr>
        <p:spPr>
          <a:xfrm flipH="false" flipV="false" rot="0">
            <a:off x="11801381" y="9183031"/>
            <a:ext cx="4559594" cy="529239"/>
          </a:xfrm>
          <a:custGeom>
            <a:avLst/>
            <a:gdLst/>
            <a:ahLst/>
            <a:cxnLst/>
            <a:rect r="r" b="b" t="t" l="l"/>
            <a:pathLst>
              <a:path h="529239" w="4559594">
                <a:moveTo>
                  <a:pt x="0" y="0"/>
                </a:moveTo>
                <a:lnTo>
                  <a:pt x="4559594" y="0"/>
                </a:lnTo>
                <a:lnTo>
                  <a:pt x="4559594" y="529239"/>
                </a:lnTo>
                <a:lnTo>
                  <a:pt x="0" y="529239"/>
                </a:lnTo>
                <a:lnTo>
                  <a:pt x="0" y="0"/>
                </a:lnTo>
                <a:close/>
              </a:path>
            </a:pathLst>
          </a:custGeom>
          <a:blipFill>
            <a:blip r:embed="rId4"/>
            <a:stretch>
              <a:fillRect l="-478" t="0" r="0" b="-478"/>
            </a:stretch>
          </a:blipFill>
        </p:spPr>
      </p:sp>
      <p:grpSp>
        <p:nvGrpSpPr>
          <p:cNvPr name="Group 9" id="9"/>
          <p:cNvGrpSpPr/>
          <p:nvPr/>
        </p:nvGrpSpPr>
        <p:grpSpPr>
          <a:xfrm rot="4158669">
            <a:off x="12563238" y="8778118"/>
            <a:ext cx="271269" cy="560511"/>
            <a:chOff x="0" y="0"/>
            <a:chExt cx="361692" cy="747348"/>
          </a:xfrm>
        </p:grpSpPr>
        <p:sp>
          <p:nvSpPr>
            <p:cNvPr name="Freeform 10" id="10"/>
            <p:cNvSpPr/>
            <p:nvPr/>
          </p:nvSpPr>
          <p:spPr>
            <a:xfrm>
              <a:off x="91786" y="7537"/>
              <a:ext cx="261700" cy="689796"/>
            </a:xfrm>
            <a:custGeom>
              <a:avLst/>
              <a:gdLst/>
              <a:ahLst/>
              <a:cxnLst/>
              <a:rect r="r" b="b" t="t" l="l"/>
              <a:pathLst>
                <a:path h="689796" w="261700">
                  <a:moveTo>
                    <a:pt x="66619" y="0"/>
                  </a:moveTo>
                  <a:quadBezTo>
                    <a:pt x="-132038" y="428666"/>
                    <a:pt x="261700" y="689796"/>
                  </a:quadBezTo>
                </a:path>
              </a:pathLst>
            </a:custGeom>
            <a:ln cap="flat" w="18088">
              <a:solidFill>
                <a:srgbClr val="000000"/>
              </a:solidFill>
              <a:prstDash val="solid"/>
              <a:headEnd type="none" len="sm" w="sm"/>
              <a:tailEnd type="none" len="sm" w="sm"/>
            </a:ln>
          </p:spPr>
        </p:sp>
        <p:sp>
          <p:nvSpPr>
            <p:cNvPr name="AutoShape 11" id="11"/>
            <p:cNvSpPr/>
            <p:nvPr/>
          </p:nvSpPr>
          <p:spPr>
            <a:xfrm flipV="true">
              <a:off x="10363" y="6480"/>
              <a:ext cx="153697" cy="104967"/>
            </a:xfrm>
            <a:prstGeom prst="line">
              <a:avLst/>
            </a:prstGeom>
            <a:ln cap="flat" w="14470">
              <a:solidFill>
                <a:srgbClr val="000000"/>
              </a:solidFill>
              <a:prstDash val="solid"/>
              <a:headEnd type="none" len="sm" w="sm"/>
              <a:tailEnd type="none" len="sm" w="sm"/>
            </a:ln>
          </p:spPr>
        </p:sp>
        <p:sp>
          <p:nvSpPr>
            <p:cNvPr name="AutoShape 12" id="12"/>
            <p:cNvSpPr/>
            <p:nvPr/>
          </p:nvSpPr>
          <p:spPr>
            <a:xfrm flipH="true" flipV="true">
              <a:off x="153616" y="10880"/>
              <a:ext cx="54065" cy="169408"/>
            </a:xfrm>
            <a:prstGeom prst="line">
              <a:avLst/>
            </a:prstGeom>
            <a:ln cap="flat" w="14470">
              <a:solidFill>
                <a:srgbClr val="000000"/>
              </a:solidFill>
              <a:prstDash val="solid"/>
              <a:headEnd type="none" len="sm" w="sm"/>
              <a:tailEnd type="none" len="sm" w="sm"/>
            </a:ln>
          </p:spPr>
        </p:sp>
      </p:grpSp>
      <p:sp>
        <p:nvSpPr>
          <p:cNvPr name="Freeform 13" id="13"/>
          <p:cNvSpPr/>
          <p:nvPr/>
        </p:nvSpPr>
        <p:spPr>
          <a:xfrm flipH="false" flipV="false" rot="0">
            <a:off x="7743656" y="3707596"/>
            <a:ext cx="4868343" cy="2094609"/>
          </a:xfrm>
          <a:custGeom>
            <a:avLst/>
            <a:gdLst/>
            <a:ahLst/>
            <a:cxnLst/>
            <a:rect r="r" b="b" t="t" l="l"/>
            <a:pathLst>
              <a:path h="2094609" w="4868343">
                <a:moveTo>
                  <a:pt x="0" y="0"/>
                </a:moveTo>
                <a:lnTo>
                  <a:pt x="4868343" y="0"/>
                </a:lnTo>
                <a:lnTo>
                  <a:pt x="4868343" y="2094609"/>
                </a:lnTo>
                <a:lnTo>
                  <a:pt x="0" y="2094609"/>
                </a:lnTo>
                <a:lnTo>
                  <a:pt x="0" y="0"/>
                </a:lnTo>
                <a:close/>
              </a:path>
            </a:pathLst>
          </a:custGeom>
          <a:blipFill>
            <a:blip r:embed="rId5"/>
            <a:stretch>
              <a:fillRect l="0" t="-48968" r="0" b="0"/>
            </a:stretch>
          </a:blipFill>
        </p:spPr>
      </p:sp>
      <p:sp>
        <p:nvSpPr>
          <p:cNvPr name="TextBox 14" id="14"/>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Focus modèles : Que signifient les scores ?</a:t>
            </a:r>
          </a:p>
        </p:txBody>
      </p:sp>
      <p:sp>
        <p:nvSpPr>
          <p:cNvPr name="TextBox 15" id="15"/>
          <p:cNvSpPr txBox="true"/>
          <p:nvPr/>
        </p:nvSpPr>
        <p:spPr>
          <a:xfrm rot="0">
            <a:off x="13066124" y="8751669"/>
            <a:ext cx="4933240" cy="30670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Open Sauce"/>
                <a:ea typeface="Open Sauce"/>
                <a:cs typeface="Open Sauce"/>
                <a:sym typeface="Open Sauce"/>
              </a:rPr>
              <a:t>moyenne des F1 de chaque label</a:t>
            </a:r>
          </a:p>
        </p:txBody>
      </p:sp>
      <p:sp>
        <p:nvSpPr>
          <p:cNvPr name="TextBox 16" id="16"/>
          <p:cNvSpPr txBox="true"/>
          <p:nvPr/>
        </p:nvSpPr>
        <p:spPr>
          <a:xfrm rot="0">
            <a:off x="11901480" y="7070468"/>
            <a:ext cx="2605842" cy="6210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Open Sauce"/>
                <a:ea typeface="Open Sauce"/>
                <a:cs typeface="Open Sauce"/>
                <a:sym typeface="Open Sauce"/>
              </a:rPr>
              <a:t>moyenne harmonique de recall et precision</a:t>
            </a:r>
          </a:p>
        </p:txBody>
      </p:sp>
      <p:sp>
        <p:nvSpPr>
          <p:cNvPr name="TextBox 17" id="17"/>
          <p:cNvSpPr txBox="true"/>
          <p:nvPr/>
        </p:nvSpPr>
        <p:spPr>
          <a:xfrm rot="0">
            <a:off x="7923153" y="2704710"/>
            <a:ext cx="2150640" cy="867156"/>
          </a:xfrm>
          <a:prstGeom prst="rect">
            <a:avLst/>
          </a:prstGeom>
        </p:spPr>
        <p:txBody>
          <a:bodyPr anchor="t" rtlCol="false" tIns="0" lIns="0" bIns="0" rIns="0">
            <a:spAutoFit/>
          </a:bodyPr>
          <a:lstStyle/>
          <a:p>
            <a:pPr algn="ctr">
              <a:lnSpc>
                <a:spcPts val="2231"/>
              </a:lnSpc>
            </a:pPr>
            <a:r>
              <a:rPr lang="en-US" sz="1799">
                <a:solidFill>
                  <a:srgbClr val="000000"/>
                </a:solidFill>
                <a:latin typeface="Calibri (MS)"/>
                <a:ea typeface="Calibri (MS)"/>
                <a:cs typeface="Calibri (MS)"/>
                <a:sym typeface="Calibri (MS)"/>
              </a:rPr>
              <a:t>Combien d’éléments sélectionnés sont pertinents ?</a:t>
            </a:r>
          </a:p>
        </p:txBody>
      </p:sp>
      <p:sp>
        <p:nvSpPr>
          <p:cNvPr name="TextBox 18" id="18"/>
          <p:cNvSpPr txBox="true"/>
          <p:nvPr/>
        </p:nvSpPr>
        <p:spPr>
          <a:xfrm rot="0">
            <a:off x="10520137" y="2704710"/>
            <a:ext cx="1947809" cy="867156"/>
          </a:xfrm>
          <a:prstGeom prst="rect">
            <a:avLst/>
          </a:prstGeom>
        </p:spPr>
        <p:txBody>
          <a:bodyPr anchor="t" rtlCol="false" tIns="0" lIns="0" bIns="0" rIns="0">
            <a:spAutoFit/>
          </a:bodyPr>
          <a:lstStyle/>
          <a:p>
            <a:pPr algn="ctr">
              <a:lnSpc>
                <a:spcPts val="2231"/>
              </a:lnSpc>
            </a:pPr>
            <a:r>
              <a:rPr lang="en-US" sz="1799">
                <a:solidFill>
                  <a:srgbClr val="000000"/>
                </a:solidFill>
                <a:latin typeface="Calibri (MS)"/>
                <a:ea typeface="Calibri (MS)"/>
                <a:cs typeface="Calibri (MS)"/>
                <a:sym typeface="Calibri (MS)"/>
              </a:rPr>
              <a:t>Combien d’éléments pertinents sont sélectionnés ?</a:t>
            </a:r>
          </a:p>
        </p:txBody>
      </p:sp>
      <p:sp>
        <p:nvSpPr>
          <p:cNvPr name="Freeform 19" id="19"/>
          <p:cNvSpPr/>
          <p:nvPr/>
        </p:nvSpPr>
        <p:spPr>
          <a:xfrm flipH="false" flipV="false" rot="0">
            <a:off x="3963723" y="2296082"/>
            <a:ext cx="3346830" cy="4329961"/>
          </a:xfrm>
          <a:custGeom>
            <a:avLst/>
            <a:gdLst/>
            <a:ahLst/>
            <a:cxnLst/>
            <a:rect r="r" b="b" t="t" l="l"/>
            <a:pathLst>
              <a:path h="4329961" w="3346830">
                <a:moveTo>
                  <a:pt x="0" y="0"/>
                </a:moveTo>
                <a:lnTo>
                  <a:pt x="3346829" y="0"/>
                </a:lnTo>
                <a:lnTo>
                  <a:pt x="3346829" y="4329960"/>
                </a:lnTo>
                <a:lnTo>
                  <a:pt x="0" y="4329960"/>
                </a:lnTo>
                <a:lnTo>
                  <a:pt x="0" y="0"/>
                </a:lnTo>
                <a:close/>
              </a:path>
            </a:pathLst>
          </a:custGeom>
          <a:blipFill>
            <a:blip r:embed="rId6"/>
            <a:stretch>
              <a:fillRect l="0" t="0" r="0" b="0"/>
            </a:stretch>
          </a:blipFill>
        </p:spPr>
      </p:sp>
      <p:sp>
        <p:nvSpPr>
          <p:cNvPr name="TextBox 20" id="20"/>
          <p:cNvSpPr txBox="true"/>
          <p:nvPr/>
        </p:nvSpPr>
        <p:spPr>
          <a:xfrm rot="0">
            <a:off x="3810523" y="6519553"/>
            <a:ext cx="2150640" cy="193929"/>
          </a:xfrm>
          <a:prstGeom prst="rect">
            <a:avLst/>
          </a:prstGeom>
        </p:spPr>
        <p:txBody>
          <a:bodyPr anchor="t" rtlCol="false" tIns="0" lIns="0" bIns="0" rIns="0">
            <a:spAutoFit/>
          </a:bodyPr>
          <a:lstStyle/>
          <a:p>
            <a:pPr algn="ctr">
              <a:lnSpc>
                <a:spcPts val="1487"/>
              </a:lnSpc>
            </a:pPr>
            <a:r>
              <a:rPr lang="en-US" sz="1199">
                <a:solidFill>
                  <a:srgbClr val="000000"/>
                </a:solidFill>
                <a:latin typeface="Calibri (MS)"/>
                <a:ea typeface="Calibri (MS)"/>
                <a:cs typeface="Calibri (MS)"/>
                <a:sym typeface="Calibri (MS)"/>
              </a:rPr>
              <a:t>(= jugés positifs)</a:t>
            </a:r>
          </a:p>
        </p:txBody>
      </p:sp>
      <p:sp>
        <p:nvSpPr>
          <p:cNvPr name="TextBox 21" id="21"/>
          <p:cNvSpPr txBox="true"/>
          <p:nvPr/>
        </p:nvSpPr>
        <p:spPr>
          <a:xfrm rot="0">
            <a:off x="3810523" y="2163561"/>
            <a:ext cx="2150640" cy="193929"/>
          </a:xfrm>
          <a:prstGeom prst="rect">
            <a:avLst/>
          </a:prstGeom>
        </p:spPr>
        <p:txBody>
          <a:bodyPr anchor="t" rtlCol="false" tIns="0" lIns="0" bIns="0" rIns="0">
            <a:spAutoFit/>
          </a:bodyPr>
          <a:lstStyle/>
          <a:p>
            <a:pPr algn="ctr">
              <a:lnSpc>
                <a:spcPts val="1487"/>
              </a:lnSpc>
            </a:pPr>
            <a:r>
              <a:rPr lang="en-US" sz="1199">
                <a:solidFill>
                  <a:srgbClr val="000000"/>
                </a:solidFill>
                <a:latin typeface="Calibri (MS)"/>
                <a:ea typeface="Calibri (MS)"/>
                <a:cs typeface="Calibri (MS)"/>
                <a:sym typeface="Calibri (MS)"/>
              </a:rPr>
              <a:t>(= réellement positifs)</a:t>
            </a:r>
          </a:p>
        </p:txBody>
      </p:sp>
      <p:sp>
        <p:nvSpPr>
          <p:cNvPr name="TextBox 22" id="22"/>
          <p:cNvSpPr txBox="true"/>
          <p:nvPr/>
        </p:nvSpPr>
        <p:spPr>
          <a:xfrm rot="0">
            <a:off x="10395645" y="5578348"/>
            <a:ext cx="2196792" cy="689610"/>
          </a:xfrm>
          <a:prstGeom prst="rect">
            <a:avLst/>
          </a:prstGeom>
        </p:spPr>
        <p:txBody>
          <a:bodyPr anchor="t" rtlCol="false" tIns="0" lIns="0" bIns="0" rIns="0">
            <a:spAutoFit/>
          </a:bodyPr>
          <a:lstStyle/>
          <a:p>
            <a:pPr algn="ctr">
              <a:lnSpc>
                <a:spcPts val="1770"/>
              </a:lnSpc>
              <a:spcBef>
                <a:spcPct val="0"/>
              </a:spcBef>
            </a:pPr>
            <a:r>
              <a:rPr lang="en-US" sz="1500">
                <a:solidFill>
                  <a:srgbClr val="939596"/>
                </a:solidFill>
                <a:latin typeface="Calibri (MS)"/>
                <a:ea typeface="Calibri (MS)"/>
                <a:cs typeface="Calibri (MS)"/>
                <a:sym typeface="Calibri (MS)"/>
              </a:rPr>
              <a:t>proche de 1 = le modèle sélectionne presque tous les éléments pertinents. </a:t>
            </a:r>
          </a:p>
        </p:txBody>
      </p:sp>
      <p:sp>
        <p:nvSpPr>
          <p:cNvPr name="TextBox 23" id="23"/>
          <p:cNvSpPr txBox="true"/>
          <p:nvPr/>
        </p:nvSpPr>
        <p:spPr>
          <a:xfrm rot="0">
            <a:off x="7835079" y="5578348"/>
            <a:ext cx="2173403" cy="689610"/>
          </a:xfrm>
          <a:prstGeom prst="rect">
            <a:avLst/>
          </a:prstGeom>
        </p:spPr>
        <p:txBody>
          <a:bodyPr anchor="t" rtlCol="false" tIns="0" lIns="0" bIns="0" rIns="0">
            <a:spAutoFit/>
          </a:bodyPr>
          <a:lstStyle/>
          <a:p>
            <a:pPr algn="ctr">
              <a:lnSpc>
                <a:spcPts val="1770"/>
              </a:lnSpc>
              <a:spcBef>
                <a:spcPct val="0"/>
              </a:spcBef>
            </a:pPr>
            <a:r>
              <a:rPr lang="en-US" sz="1500">
                <a:solidFill>
                  <a:srgbClr val="939596"/>
                </a:solidFill>
                <a:latin typeface="Calibri (MS)"/>
                <a:ea typeface="Calibri (MS)"/>
                <a:cs typeface="Calibri (MS)"/>
                <a:sym typeface="Calibri (MS)"/>
              </a:rPr>
              <a:t>proche de 1 = le modèle ne sélectionne presque que des éléments pertinents.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7687172" y="3272842"/>
            <a:ext cx="4307891" cy="368079"/>
          </a:xfrm>
          <a:custGeom>
            <a:avLst/>
            <a:gdLst/>
            <a:ahLst/>
            <a:cxnLst/>
            <a:rect r="r" b="b" t="t" l="l"/>
            <a:pathLst>
              <a:path h="368079" w="4307891">
                <a:moveTo>
                  <a:pt x="0" y="0"/>
                </a:moveTo>
                <a:lnTo>
                  <a:pt x="4307891" y="0"/>
                </a:lnTo>
                <a:lnTo>
                  <a:pt x="4307891" y="368080"/>
                </a:lnTo>
                <a:lnTo>
                  <a:pt x="0" y="368080"/>
                </a:lnTo>
                <a:lnTo>
                  <a:pt x="0" y="0"/>
                </a:lnTo>
                <a:close/>
              </a:path>
            </a:pathLst>
          </a:custGeom>
          <a:blipFill>
            <a:blip r:embed="rId3"/>
            <a:stretch>
              <a:fillRect l="0" t="0" r="0" b="0"/>
            </a:stretch>
          </a:blipFill>
        </p:spPr>
      </p:sp>
      <p:sp>
        <p:nvSpPr>
          <p:cNvPr name="Freeform 4" id="4"/>
          <p:cNvSpPr/>
          <p:nvPr/>
        </p:nvSpPr>
        <p:spPr>
          <a:xfrm flipH="false" flipV="false" rot="0">
            <a:off x="6292937" y="3793097"/>
            <a:ext cx="5702125" cy="2439243"/>
          </a:xfrm>
          <a:custGeom>
            <a:avLst/>
            <a:gdLst/>
            <a:ahLst/>
            <a:cxnLst/>
            <a:rect r="r" b="b" t="t" l="l"/>
            <a:pathLst>
              <a:path h="2439243" w="5702125">
                <a:moveTo>
                  <a:pt x="0" y="0"/>
                </a:moveTo>
                <a:lnTo>
                  <a:pt x="5702126" y="0"/>
                </a:lnTo>
                <a:lnTo>
                  <a:pt x="5702126" y="2439242"/>
                </a:lnTo>
                <a:lnTo>
                  <a:pt x="0" y="2439242"/>
                </a:lnTo>
                <a:lnTo>
                  <a:pt x="0" y="0"/>
                </a:lnTo>
                <a:close/>
              </a:path>
            </a:pathLst>
          </a:custGeom>
          <a:blipFill>
            <a:blip r:embed="rId4"/>
            <a:stretch>
              <a:fillRect l="0" t="0" r="0" b="0"/>
            </a:stretch>
          </a:blipFill>
        </p:spPr>
      </p:sp>
      <p:sp>
        <p:nvSpPr>
          <p:cNvPr name="TextBox 5" id="5"/>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Évaluer le modèle (étape 6)</a:t>
            </a:r>
          </a:p>
        </p:txBody>
      </p:sp>
      <p:sp>
        <p:nvSpPr>
          <p:cNvPr name="TextBox 6" id="6"/>
          <p:cNvSpPr txBox="true"/>
          <p:nvPr/>
        </p:nvSpPr>
        <p:spPr>
          <a:xfrm rot="0">
            <a:off x="1028700" y="2234617"/>
            <a:ext cx="15539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Évaluation du modèle sélectionné sur le set de test.</a:t>
            </a:r>
          </a:p>
        </p:txBody>
      </p:sp>
      <p:sp>
        <p:nvSpPr>
          <p:cNvPr name="TextBox 7" id="7"/>
          <p:cNvSpPr txBox="true"/>
          <p:nvPr/>
        </p:nvSpPr>
        <p:spPr>
          <a:xfrm rot="0">
            <a:off x="6467093" y="3309384"/>
            <a:ext cx="1110183" cy="275946"/>
          </a:xfrm>
          <a:prstGeom prst="rect">
            <a:avLst/>
          </a:prstGeom>
        </p:spPr>
        <p:txBody>
          <a:bodyPr anchor="t" rtlCol="false" tIns="0" lIns="0" bIns="0" rIns="0">
            <a:spAutoFit/>
          </a:bodyPr>
          <a:lstStyle/>
          <a:p>
            <a:pPr algn="just">
              <a:lnSpc>
                <a:spcPts val="2384"/>
              </a:lnSpc>
              <a:spcBef>
                <a:spcPct val="0"/>
              </a:spcBef>
            </a:pPr>
            <a:r>
              <a:rPr lang="en-US" b="true" sz="1703" i="true">
                <a:solidFill>
                  <a:srgbClr val="FFFFFF"/>
                </a:solidFill>
                <a:latin typeface="Open Sauce Bold Italics"/>
                <a:ea typeface="Open Sauce Bold Italics"/>
                <a:cs typeface="Open Sauce Bold Italics"/>
                <a:sym typeface="Open Sauce Bold Italics"/>
              </a:rPr>
              <a:t>Modèle B</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10786" y="1237550"/>
            <a:ext cx="8705918" cy="6501888"/>
          </a:xfrm>
          <a:custGeom>
            <a:avLst/>
            <a:gdLst/>
            <a:ahLst/>
            <a:cxnLst/>
            <a:rect r="r" b="b" t="t" l="l"/>
            <a:pathLst>
              <a:path h="6501888" w="8705918">
                <a:moveTo>
                  <a:pt x="0" y="0"/>
                </a:moveTo>
                <a:lnTo>
                  <a:pt x="8705918" y="0"/>
                </a:lnTo>
                <a:lnTo>
                  <a:pt x="8705918" y="6501888"/>
                </a:lnTo>
                <a:lnTo>
                  <a:pt x="0" y="6501888"/>
                </a:lnTo>
                <a:lnTo>
                  <a:pt x="0" y="0"/>
                </a:lnTo>
                <a:close/>
              </a:path>
            </a:pathLst>
          </a:custGeom>
          <a:blipFill>
            <a:blip r:embed="rId2"/>
            <a:stretch>
              <a:fillRect l="0" t="0" r="0" b="0"/>
            </a:stretch>
          </a:blipFill>
        </p:spPr>
      </p:sp>
      <p:sp>
        <p:nvSpPr>
          <p:cNvPr name="Freeform 3" id="3"/>
          <p:cNvSpPr/>
          <p:nvPr/>
        </p:nvSpPr>
        <p:spPr>
          <a:xfrm flipH="false" flipV="false" rot="0">
            <a:off x="1289513" y="4633798"/>
            <a:ext cx="5985100" cy="4218102"/>
          </a:xfrm>
          <a:custGeom>
            <a:avLst/>
            <a:gdLst/>
            <a:ahLst/>
            <a:cxnLst/>
            <a:rect r="r" b="b" t="t" l="l"/>
            <a:pathLst>
              <a:path h="4218102" w="5985100">
                <a:moveTo>
                  <a:pt x="0" y="0"/>
                </a:moveTo>
                <a:lnTo>
                  <a:pt x="5985100" y="0"/>
                </a:lnTo>
                <a:lnTo>
                  <a:pt x="5985100" y="4218102"/>
                </a:lnTo>
                <a:lnTo>
                  <a:pt x="0" y="4218102"/>
                </a:lnTo>
                <a:lnTo>
                  <a:pt x="0" y="0"/>
                </a:lnTo>
                <a:close/>
              </a:path>
            </a:pathLst>
          </a:custGeom>
          <a:blipFill>
            <a:blip r:embed="rId3"/>
            <a:stretch>
              <a:fillRect l="0" t="-15895" r="0" b="0"/>
            </a:stretch>
          </a:blipFill>
        </p:spPr>
      </p:sp>
      <p:sp>
        <p:nvSpPr>
          <p:cNvPr name="TextBox 4" id="4"/>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Résultats</a:t>
            </a:r>
          </a:p>
        </p:txBody>
      </p:sp>
      <p:sp>
        <p:nvSpPr>
          <p:cNvPr name="TextBox 5" id="5"/>
          <p:cNvSpPr txBox="true"/>
          <p:nvPr/>
        </p:nvSpPr>
        <p:spPr>
          <a:xfrm rot="0">
            <a:off x="1289513" y="2497549"/>
            <a:ext cx="5693746" cy="860425"/>
          </a:xfrm>
          <a:prstGeom prst="rect">
            <a:avLst/>
          </a:prstGeom>
        </p:spPr>
        <p:txBody>
          <a:bodyPr anchor="t" rtlCol="false" tIns="0" lIns="0" bIns="0" rIns="0">
            <a:spAutoFit/>
          </a:bodyPr>
          <a:lstStyle/>
          <a:p>
            <a:pPr algn="l">
              <a:lnSpc>
                <a:spcPts val="3499"/>
              </a:lnSpc>
            </a:pPr>
            <a:r>
              <a:rPr lang="en-US" sz="2499">
                <a:solidFill>
                  <a:srgbClr val="000000"/>
                </a:solidFill>
                <a:latin typeface="Open Sauce"/>
                <a:ea typeface="Open Sauce"/>
                <a:cs typeface="Open Sauce"/>
                <a:sym typeface="Open Sauce"/>
              </a:rPr>
              <a:t>(RQ1) : Pratique minoritaire mais non marginale. </a:t>
            </a:r>
          </a:p>
        </p:txBody>
      </p:sp>
      <p:sp>
        <p:nvSpPr>
          <p:cNvPr name="TextBox 6" id="6"/>
          <p:cNvSpPr txBox="true"/>
          <p:nvPr/>
        </p:nvSpPr>
        <p:spPr>
          <a:xfrm rot="0">
            <a:off x="8835615" y="8397875"/>
            <a:ext cx="8882565" cy="860425"/>
          </a:xfrm>
          <a:prstGeom prst="rect">
            <a:avLst/>
          </a:prstGeom>
        </p:spPr>
        <p:txBody>
          <a:bodyPr anchor="t" rtlCol="false" tIns="0" lIns="0" bIns="0" rIns="0">
            <a:spAutoFit/>
          </a:bodyPr>
          <a:lstStyle/>
          <a:p>
            <a:pPr algn="l">
              <a:lnSpc>
                <a:spcPts val="3499"/>
              </a:lnSpc>
            </a:pPr>
            <a:r>
              <a:rPr lang="en-US" sz="2499">
                <a:solidFill>
                  <a:srgbClr val="000000"/>
                </a:solidFill>
                <a:latin typeface="Open Sauce"/>
                <a:ea typeface="Open Sauce"/>
                <a:cs typeface="Open Sauce"/>
                <a:sym typeface="Open Sauce"/>
              </a:rPr>
              <a:t>(RQ3) : Les amendements “source” ne sont pas davantage adoptés que les “non-source”.</a:t>
            </a:r>
          </a:p>
        </p:txBody>
      </p:sp>
      <p:sp>
        <p:nvSpPr>
          <p:cNvPr name="TextBox 7" id="7"/>
          <p:cNvSpPr txBox="true"/>
          <p:nvPr/>
        </p:nvSpPr>
        <p:spPr>
          <a:xfrm rot="0">
            <a:off x="9144000" y="7701338"/>
            <a:ext cx="8900691" cy="217170"/>
          </a:xfrm>
          <a:prstGeom prst="rect">
            <a:avLst/>
          </a:prstGeom>
        </p:spPr>
        <p:txBody>
          <a:bodyPr anchor="t" rtlCol="false" tIns="0" lIns="0" bIns="0" rIns="0">
            <a:spAutoFit/>
          </a:bodyPr>
          <a:lstStyle/>
          <a:p>
            <a:pPr algn="l">
              <a:lnSpc>
                <a:spcPts val="1679"/>
              </a:lnSpc>
            </a:pPr>
            <a:r>
              <a:rPr lang="en-US" sz="1199">
                <a:solidFill>
                  <a:srgbClr val="000000"/>
                </a:solidFill>
                <a:latin typeface="Times New Roman"/>
                <a:ea typeface="Times New Roman"/>
                <a:cs typeface="Times New Roman"/>
                <a:sym typeface="Times New Roman"/>
              </a:rPr>
              <a:t>*à l’exclusion des amendements dont l’exposé sommaire est null ou d’une longueur &gt;1024 tokens.</a:t>
            </a:r>
          </a:p>
        </p:txBody>
      </p:sp>
      <p:sp>
        <p:nvSpPr>
          <p:cNvPr name="TextBox 8" id="8"/>
          <p:cNvSpPr txBox="true"/>
          <p:nvPr/>
        </p:nvSpPr>
        <p:spPr>
          <a:xfrm rot="0">
            <a:off x="2005034" y="4190617"/>
            <a:ext cx="4554057" cy="443180"/>
          </a:xfrm>
          <a:prstGeom prst="rect">
            <a:avLst/>
          </a:prstGeom>
        </p:spPr>
        <p:txBody>
          <a:bodyPr anchor="t" rtlCol="false" tIns="0" lIns="0" bIns="0" rIns="0">
            <a:spAutoFit/>
          </a:bodyPr>
          <a:lstStyle/>
          <a:p>
            <a:pPr algn="ctr">
              <a:lnSpc>
                <a:spcPts val="1706"/>
              </a:lnSpc>
            </a:pPr>
            <a:r>
              <a:rPr lang="en-US" sz="1580">
                <a:solidFill>
                  <a:srgbClr val="000000"/>
                </a:solidFill>
                <a:latin typeface="Times New Roman"/>
                <a:ea typeface="Times New Roman"/>
                <a:cs typeface="Times New Roman"/>
                <a:sym typeface="Times New Roman"/>
              </a:rPr>
              <a:t>Répartition des amendements de la XVIIème législature* selon leur sourcing (en %)</a:t>
            </a:r>
          </a:p>
        </p:txBody>
      </p:sp>
      <p:sp>
        <p:nvSpPr>
          <p:cNvPr name="TextBox 9" id="9"/>
          <p:cNvSpPr txBox="true"/>
          <p:nvPr/>
        </p:nvSpPr>
        <p:spPr>
          <a:xfrm rot="0">
            <a:off x="1289513" y="8634730"/>
            <a:ext cx="8900691" cy="217170"/>
          </a:xfrm>
          <a:prstGeom prst="rect">
            <a:avLst/>
          </a:prstGeom>
        </p:spPr>
        <p:txBody>
          <a:bodyPr anchor="t" rtlCol="false" tIns="0" lIns="0" bIns="0" rIns="0">
            <a:spAutoFit/>
          </a:bodyPr>
          <a:lstStyle/>
          <a:p>
            <a:pPr algn="l">
              <a:lnSpc>
                <a:spcPts val="1679"/>
              </a:lnSpc>
            </a:pPr>
            <a:r>
              <a:rPr lang="en-US" sz="1199">
                <a:solidFill>
                  <a:srgbClr val="000000"/>
                </a:solidFill>
                <a:latin typeface="Times New Roman"/>
                <a:ea typeface="Times New Roman"/>
                <a:cs typeface="Times New Roman"/>
                <a:sym typeface="Times New Roman"/>
              </a:rPr>
              <a:t>*à l’exclusion des amendements dont l’exposé sommaire est null ou d’une longueur &gt;1024 tokens.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282466" y="4763146"/>
            <a:ext cx="5345860" cy="4246467"/>
          </a:xfrm>
          <a:custGeom>
            <a:avLst/>
            <a:gdLst/>
            <a:ahLst/>
            <a:cxnLst/>
            <a:rect r="r" b="b" t="t" l="l"/>
            <a:pathLst>
              <a:path h="4246467" w="5345860">
                <a:moveTo>
                  <a:pt x="0" y="0"/>
                </a:moveTo>
                <a:lnTo>
                  <a:pt x="5345860" y="0"/>
                </a:lnTo>
                <a:lnTo>
                  <a:pt x="5345860" y="4246467"/>
                </a:lnTo>
                <a:lnTo>
                  <a:pt x="0" y="4246467"/>
                </a:lnTo>
                <a:lnTo>
                  <a:pt x="0" y="0"/>
                </a:lnTo>
                <a:close/>
              </a:path>
            </a:pathLst>
          </a:custGeom>
          <a:blipFill>
            <a:blip r:embed="rId2"/>
            <a:stretch>
              <a:fillRect l="0" t="0" r="0" b="0"/>
            </a:stretch>
          </a:blipFill>
        </p:spPr>
      </p:sp>
      <p:sp>
        <p:nvSpPr>
          <p:cNvPr name="Freeform 3" id="3"/>
          <p:cNvSpPr/>
          <p:nvPr/>
        </p:nvSpPr>
        <p:spPr>
          <a:xfrm flipH="false" flipV="false" rot="0">
            <a:off x="1028700" y="2059389"/>
            <a:ext cx="8882565" cy="7167614"/>
          </a:xfrm>
          <a:custGeom>
            <a:avLst/>
            <a:gdLst/>
            <a:ahLst/>
            <a:cxnLst/>
            <a:rect r="r" b="b" t="t" l="l"/>
            <a:pathLst>
              <a:path h="7167614" w="8882565">
                <a:moveTo>
                  <a:pt x="0" y="0"/>
                </a:moveTo>
                <a:lnTo>
                  <a:pt x="8882565" y="0"/>
                </a:lnTo>
                <a:lnTo>
                  <a:pt x="8882565" y="7167615"/>
                </a:lnTo>
                <a:lnTo>
                  <a:pt x="0" y="7167615"/>
                </a:lnTo>
                <a:lnTo>
                  <a:pt x="0" y="0"/>
                </a:lnTo>
                <a:close/>
              </a:path>
            </a:pathLst>
          </a:custGeom>
          <a:blipFill>
            <a:blip r:embed="rId3"/>
            <a:stretch>
              <a:fillRect l="0" t="0" r="0" b="0"/>
            </a:stretch>
          </a:blipFill>
        </p:spPr>
      </p:sp>
      <p:sp>
        <p:nvSpPr>
          <p:cNvPr name="TextBox 4" id="4"/>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Résultats</a:t>
            </a:r>
          </a:p>
        </p:txBody>
      </p:sp>
      <p:sp>
        <p:nvSpPr>
          <p:cNvPr name="TextBox 5" id="5"/>
          <p:cNvSpPr txBox="true"/>
          <p:nvPr/>
        </p:nvSpPr>
        <p:spPr>
          <a:xfrm rot="0">
            <a:off x="9144000" y="1824439"/>
            <a:ext cx="8882565" cy="422275"/>
          </a:xfrm>
          <a:prstGeom prst="rect">
            <a:avLst/>
          </a:prstGeom>
        </p:spPr>
        <p:txBody>
          <a:bodyPr anchor="t" rtlCol="false" tIns="0" lIns="0" bIns="0" rIns="0">
            <a:spAutoFit/>
          </a:bodyPr>
          <a:lstStyle/>
          <a:p>
            <a:pPr algn="l">
              <a:lnSpc>
                <a:spcPts val="3499"/>
              </a:lnSpc>
            </a:pPr>
            <a:r>
              <a:rPr lang="en-US" sz="2499">
                <a:solidFill>
                  <a:srgbClr val="000000"/>
                </a:solidFill>
                <a:latin typeface="Open Sauce"/>
                <a:ea typeface="Open Sauce"/>
                <a:cs typeface="Open Sauce"/>
                <a:sym typeface="Open Sauce"/>
              </a:rPr>
              <a:t>(RQ2) : Différence substantielle entre groupes politiques.</a:t>
            </a:r>
          </a:p>
        </p:txBody>
      </p:sp>
      <p:sp>
        <p:nvSpPr>
          <p:cNvPr name="TextBox 6" id="6"/>
          <p:cNvSpPr txBox="true"/>
          <p:nvPr/>
        </p:nvSpPr>
        <p:spPr>
          <a:xfrm rot="0">
            <a:off x="1590590" y="9220200"/>
            <a:ext cx="8900691" cy="217170"/>
          </a:xfrm>
          <a:prstGeom prst="rect">
            <a:avLst/>
          </a:prstGeom>
        </p:spPr>
        <p:txBody>
          <a:bodyPr anchor="t" rtlCol="false" tIns="0" lIns="0" bIns="0" rIns="0">
            <a:spAutoFit/>
          </a:bodyPr>
          <a:lstStyle/>
          <a:p>
            <a:pPr algn="l">
              <a:lnSpc>
                <a:spcPts val="1679"/>
              </a:lnSpc>
            </a:pPr>
            <a:r>
              <a:rPr lang="en-US" sz="1199">
                <a:solidFill>
                  <a:srgbClr val="000000"/>
                </a:solidFill>
                <a:latin typeface="Times New Roman"/>
                <a:ea typeface="Times New Roman"/>
                <a:cs typeface="Times New Roman"/>
                <a:sym typeface="Times New Roman"/>
              </a:rPr>
              <a:t>*à l’exclusion des amendements dont l’exposé sommaire est null ou d’une longueur &gt;1024 tokens.</a:t>
            </a:r>
          </a:p>
        </p:txBody>
      </p:sp>
      <p:sp>
        <p:nvSpPr>
          <p:cNvPr name="TextBox 7" id="7"/>
          <p:cNvSpPr txBox="true"/>
          <p:nvPr/>
        </p:nvSpPr>
        <p:spPr>
          <a:xfrm rot="0">
            <a:off x="9314274" y="4362568"/>
            <a:ext cx="3815954"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Open Sauce"/>
                <a:ea typeface="Open Sauce"/>
                <a:cs typeface="Open Sauce"/>
                <a:sym typeface="Open Sauce"/>
              </a:rPr>
              <a:t>À mettre au regard du volume des amendements déposés </a:t>
            </a:r>
          </a:p>
        </p:txBody>
      </p:sp>
      <p:sp>
        <p:nvSpPr>
          <p:cNvPr name="TextBox 8" id="8"/>
          <p:cNvSpPr txBox="true"/>
          <p:nvPr/>
        </p:nvSpPr>
        <p:spPr>
          <a:xfrm rot="0">
            <a:off x="9314274" y="2769177"/>
            <a:ext cx="7131983" cy="8604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Open Sauce"/>
                <a:ea typeface="Open Sauce"/>
                <a:cs typeface="Open Sauce"/>
                <a:sym typeface="Open Sauce"/>
              </a:rPr>
              <a:t>Les NI et LIOT sont-ils plus soumis à influence ou plus transparents ?</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Intérêt, limites</a:t>
            </a:r>
          </a:p>
        </p:txBody>
      </p:sp>
      <p:sp>
        <p:nvSpPr>
          <p:cNvPr name="TextBox 3" id="3"/>
          <p:cNvSpPr txBox="true"/>
          <p:nvPr/>
        </p:nvSpPr>
        <p:spPr>
          <a:xfrm rot="0">
            <a:off x="1028700" y="2214441"/>
            <a:ext cx="16518261" cy="523875"/>
          </a:xfrm>
          <a:prstGeom prst="rect">
            <a:avLst/>
          </a:prstGeom>
        </p:spPr>
        <p:txBody>
          <a:bodyPr anchor="t" rtlCol="false" tIns="0" lIns="0" bIns="0" rIns="0">
            <a:spAutoFit/>
          </a:bodyPr>
          <a:lstStyle/>
          <a:p>
            <a:pPr algn="ctr">
              <a:lnSpc>
                <a:spcPts val="4200"/>
              </a:lnSpc>
            </a:pPr>
            <a:r>
              <a:rPr lang="en-US" b="true" sz="3000">
                <a:solidFill>
                  <a:srgbClr val="E98E2D"/>
                </a:solidFill>
                <a:latin typeface="Open Sauce Bold"/>
                <a:ea typeface="Open Sauce Bold"/>
                <a:cs typeface="Open Sauce Bold"/>
                <a:sym typeface="Open Sauce Bold"/>
              </a:rPr>
              <a:t>Est-ce qu’un decoder (Claude, ChatGPT) aurait pu le faire ?</a:t>
            </a:r>
          </a:p>
        </p:txBody>
      </p:sp>
      <p:sp>
        <p:nvSpPr>
          <p:cNvPr name="TextBox 4" id="4"/>
          <p:cNvSpPr txBox="true"/>
          <p:nvPr/>
        </p:nvSpPr>
        <p:spPr>
          <a:xfrm rot="0">
            <a:off x="1028700" y="3306362"/>
            <a:ext cx="14815226"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Si le codebook est déjà optimal, oui.</a:t>
            </a:r>
          </a:p>
        </p:txBody>
      </p:sp>
      <p:sp>
        <p:nvSpPr>
          <p:cNvPr name="TextBox 5" id="5"/>
          <p:cNvSpPr txBox="true"/>
          <p:nvPr/>
        </p:nvSpPr>
        <p:spPr>
          <a:xfrm rot="0">
            <a:off x="1920485" y="4287437"/>
            <a:ext cx="14815226" cy="26574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MAIS mettre en perspective la nature de notre cas : </a:t>
            </a:r>
          </a:p>
          <a:p>
            <a:pPr algn="l" marL="647700" indent="-323850" lvl="1">
              <a:lnSpc>
                <a:spcPts val="4200"/>
              </a:lnSpc>
              <a:buFont typeface="Arial"/>
              <a:buChar char="•"/>
            </a:pPr>
            <a:r>
              <a:rPr lang="en-US" sz="3000">
                <a:solidFill>
                  <a:srgbClr val="000000"/>
                </a:solidFill>
                <a:latin typeface="Open Sauce"/>
                <a:ea typeface="Open Sauce"/>
                <a:cs typeface="Open Sauce"/>
                <a:sym typeface="Open Sauce"/>
              </a:rPr>
              <a:t>Codebook amélioré :</a:t>
            </a:r>
            <a:r>
              <a:rPr lang="en-US" b="true" sz="3000">
                <a:solidFill>
                  <a:srgbClr val="000000"/>
                </a:solidFill>
                <a:latin typeface="Open Sauce Bold"/>
                <a:ea typeface="Open Sauce Bold"/>
                <a:cs typeface="Open Sauce Bold"/>
                <a:sym typeface="Open Sauce Bold"/>
              </a:rPr>
              <a:t> Augmentation </a:t>
            </a:r>
            <a:r>
              <a:rPr lang="en-US" sz="3000">
                <a:solidFill>
                  <a:srgbClr val="000000"/>
                </a:solidFill>
                <a:latin typeface="Open Sauce"/>
                <a:ea typeface="Open Sauce"/>
                <a:cs typeface="Open Sauce"/>
                <a:sym typeface="Open Sauce"/>
              </a:rPr>
              <a:t>de la chercheuse ou du chercheur</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Simplicité de la tâche</a:t>
            </a:r>
            <a:r>
              <a:rPr lang="en-US" sz="3000">
                <a:solidFill>
                  <a:srgbClr val="000000"/>
                </a:solidFill>
                <a:latin typeface="Open Sauce"/>
                <a:ea typeface="Open Sauce"/>
                <a:cs typeface="Open Sauce"/>
                <a:sym typeface="Open Sauce"/>
              </a:rPr>
              <a:t> (peu d’appréciation subjective)</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Absence de sensibilité des données </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Coût temporel limité </a:t>
            </a:r>
            <a:r>
              <a:rPr lang="en-US" sz="3000">
                <a:solidFill>
                  <a:srgbClr val="000000"/>
                </a:solidFill>
                <a:latin typeface="Open Sauce"/>
                <a:ea typeface="Open Sauce"/>
                <a:cs typeface="Open Sauce"/>
                <a:sym typeface="Open Sauce"/>
              </a:rPr>
              <a:t>(peu d’annotations)</a:t>
            </a:r>
          </a:p>
        </p:txBody>
      </p:sp>
      <p:sp>
        <p:nvSpPr>
          <p:cNvPr name="TextBox 6" id="6"/>
          <p:cNvSpPr txBox="true"/>
          <p:nvPr/>
        </p:nvSpPr>
        <p:spPr>
          <a:xfrm rot="0">
            <a:off x="1920485" y="7402112"/>
            <a:ext cx="14815226" cy="15906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À cela s’ajoutent : </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Coûts économique, environnemental </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Réplicabilité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703452" y="3570946"/>
            <a:ext cx="4881096" cy="863600"/>
          </a:xfrm>
          <a:prstGeom prst="rect">
            <a:avLst/>
          </a:prstGeom>
        </p:spPr>
        <p:txBody>
          <a:bodyPr anchor="t" rtlCol="false" tIns="0" lIns="0" bIns="0" rIns="0">
            <a:spAutoFit/>
          </a:bodyPr>
          <a:lstStyle/>
          <a:p>
            <a:pPr algn="ctr">
              <a:lnSpc>
                <a:spcPts val="7000"/>
              </a:lnSpc>
            </a:pPr>
            <a:r>
              <a:rPr lang="en-US" sz="5000" b="true">
                <a:solidFill>
                  <a:srgbClr val="000000"/>
                </a:solidFill>
                <a:latin typeface="Open Sauce Bold"/>
                <a:ea typeface="Open Sauce Bold"/>
                <a:cs typeface="Open Sauce Bold"/>
                <a:sym typeface="Open Sauce Bold"/>
              </a:rPr>
              <a:t>Merci !</a:t>
            </a:r>
          </a:p>
        </p:txBody>
      </p:sp>
      <p:sp>
        <p:nvSpPr>
          <p:cNvPr name="Freeform 3" id="3"/>
          <p:cNvSpPr/>
          <p:nvPr/>
        </p:nvSpPr>
        <p:spPr>
          <a:xfrm flipH="false" flipV="false" rot="0">
            <a:off x="8634413" y="2629369"/>
            <a:ext cx="1019174" cy="1046352"/>
          </a:xfrm>
          <a:custGeom>
            <a:avLst/>
            <a:gdLst/>
            <a:ahLst/>
            <a:cxnLst/>
            <a:rect r="r" b="b" t="t" l="l"/>
            <a:pathLst>
              <a:path h="1046352" w="1019174">
                <a:moveTo>
                  <a:pt x="0" y="0"/>
                </a:moveTo>
                <a:lnTo>
                  <a:pt x="1019174" y="0"/>
                </a:lnTo>
                <a:lnTo>
                  <a:pt x="1019174" y="1046352"/>
                </a:lnTo>
                <a:lnTo>
                  <a:pt x="0" y="1046352"/>
                </a:lnTo>
                <a:lnTo>
                  <a:pt x="0" y="0"/>
                </a:lnTo>
                <a:close/>
              </a:path>
            </a:pathLst>
          </a:custGeom>
          <a:blipFill>
            <a:blip r:embed="rId2"/>
            <a:stretch>
              <a:fillRect l="0" t="0" r="0" b="0"/>
            </a:stretch>
          </a:blipFill>
        </p:spPr>
      </p:sp>
      <p:sp>
        <p:nvSpPr>
          <p:cNvPr name="TextBox 4" id="4"/>
          <p:cNvSpPr txBox="true"/>
          <p:nvPr/>
        </p:nvSpPr>
        <p:spPr>
          <a:xfrm rot="0">
            <a:off x="2863163" y="5385190"/>
            <a:ext cx="12561675" cy="1057275"/>
          </a:xfrm>
          <a:prstGeom prst="rect">
            <a:avLst/>
          </a:prstGeom>
        </p:spPr>
        <p:txBody>
          <a:bodyPr anchor="t" rtlCol="false" tIns="0" lIns="0" bIns="0" rIns="0">
            <a:spAutoFit/>
          </a:bodyPr>
          <a:lstStyle/>
          <a:p>
            <a:pPr algn="ctr">
              <a:lnSpc>
                <a:spcPts val="4200"/>
              </a:lnSpc>
            </a:pPr>
            <a:r>
              <a:rPr lang="en-US" sz="3000">
                <a:solidFill>
                  <a:srgbClr val="000000"/>
                </a:solidFill>
                <a:latin typeface="Open Sauce"/>
                <a:ea typeface="Open Sauce"/>
                <a:cs typeface="Open Sauce"/>
                <a:sym typeface="Open Sauce"/>
              </a:rPr>
              <a:t>Demande de compte, documentation, lien GitHub, lien Discord : </a:t>
            </a:r>
          </a:p>
          <a:p>
            <a:pPr algn="ctr">
              <a:lnSpc>
                <a:spcPts val="4200"/>
              </a:lnSpc>
            </a:pPr>
            <a:r>
              <a:rPr lang="en-US" sz="3000" b="true">
                <a:solidFill>
                  <a:srgbClr val="000000"/>
                </a:solidFill>
                <a:latin typeface="Open Sauce Bold"/>
                <a:ea typeface="Open Sauce Bold"/>
                <a:cs typeface="Open Sauce Bold"/>
                <a:sym typeface="Open Sauce Bold"/>
              </a:rPr>
              <a:t>https://activetigger.com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DAHX_sqzZ4c</dc:identifier>
  <dcterms:modified xsi:type="dcterms:W3CDTF">2011-08-01T06:04:30Z</dcterms:modified>
  <cp:revision>1</cp:revision>
  <dc:title>Use_case_VCOURTE</dc:title>
</cp:coreProperties>
</file>