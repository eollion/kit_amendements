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sldSz cx="18288000" cy="10287000"/>
  <p:notesSz cx="6858000" cy="9144000"/>
  <p:embeddedFontLst>
    <p:embeddedFont>
      <p:font typeface="Calibri (MS)" panose="020F0502020204030204" pitchFamily="34" charset="0"/>
      <p:regular r:id="rId42"/>
    </p:embeddedFont>
    <p:embeddedFont>
      <p:font typeface="Gotham Bold" pitchFamily="2" charset="0"/>
      <p:regular r:id="rId43"/>
      <p:bold r:id="rId44"/>
    </p:embeddedFont>
    <p:embeddedFont>
      <p:font typeface="Open Sans" panose="020B0606030504020204" pitchFamily="34" charset="0"/>
      <p:regular r:id="rId45"/>
      <p:bold r:id="rId46"/>
      <p:italic r:id="rId47"/>
      <p:boldItalic r:id="rId48"/>
    </p:embeddedFont>
    <p:embeddedFont>
      <p:font typeface="Open Sans Bold" panose="020B0806030504020204" pitchFamily="34" charset="0"/>
      <p:regular r:id="rId49"/>
      <p:bold r:id="rId50"/>
    </p:embeddedFont>
    <p:embeddedFont>
      <p:font typeface="Open Sauce" pitchFamily="2" charset="77"/>
      <p:regular r:id="rId51"/>
    </p:embeddedFont>
    <p:embeddedFont>
      <p:font typeface="Open Sauce Bold" pitchFamily="2" charset="77"/>
      <p:regular r:id="rId52"/>
      <p:bold r:id="rId53"/>
    </p:embeddedFont>
    <p:embeddedFont>
      <p:font typeface="Open Sauce Bold Italics" pitchFamily="2" charset="77"/>
      <p:regular r:id="rId54"/>
      <p:bold r:id="rId55"/>
      <p:italic r:id="rId56"/>
      <p:boldItalic r:id="rId57"/>
    </p:embeddedFont>
    <p:embeddedFont>
      <p:font typeface="Open Sauce Italics" pitchFamily="2" charset="77"/>
      <p:regular r:id="rId58"/>
      <p:italic r:id="rId5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autoAdjust="0"/>
    <p:restoredTop sz="95803" autoAdjust="0"/>
  </p:normalViewPr>
  <p:slideViewPr>
    <p:cSldViewPr>
      <p:cViewPr varScale="1">
        <p:scale>
          <a:sx n="76" d="100"/>
          <a:sy n="76" d="100"/>
        </p:scale>
        <p:origin x="544" y="21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1.fntdata"/><Relationship Id="rId47" Type="http://schemas.openxmlformats.org/officeDocument/2006/relationships/font" Target="fonts/font6.fntdata"/><Relationship Id="rId50" Type="http://schemas.openxmlformats.org/officeDocument/2006/relationships/font" Target="fonts/font9.fntdata"/><Relationship Id="rId55" Type="http://schemas.openxmlformats.org/officeDocument/2006/relationships/font" Target="fonts/font14.fntdata"/><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4.fntdata"/><Relationship Id="rId53" Type="http://schemas.openxmlformats.org/officeDocument/2006/relationships/font" Target="fonts/font12.fntdata"/><Relationship Id="rId58" Type="http://schemas.openxmlformats.org/officeDocument/2006/relationships/font" Target="fonts/font17.fntdata"/><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2.fntdata"/><Relationship Id="rId48" Type="http://schemas.openxmlformats.org/officeDocument/2006/relationships/font" Target="fonts/font7.fntdata"/><Relationship Id="rId56" Type="http://schemas.openxmlformats.org/officeDocument/2006/relationships/font" Target="fonts/font15.fntdata"/><Relationship Id="rId8" Type="http://schemas.openxmlformats.org/officeDocument/2006/relationships/slide" Target="slides/slide7.xml"/><Relationship Id="rId51" Type="http://schemas.openxmlformats.org/officeDocument/2006/relationships/font" Target="fonts/font10.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5.fntdata"/><Relationship Id="rId59" Type="http://schemas.openxmlformats.org/officeDocument/2006/relationships/font" Target="fonts/font18.fntdata"/><Relationship Id="rId20" Type="http://schemas.openxmlformats.org/officeDocument/2006/relationships/slide" Target="slides/slide19.xml"/><Relationship Id="rId41" Type="http://schemas.openxmlformats.org/officeDocument/2006/relationships/notesMaster" Target="notesMasters/notesMaster1.xml"/><Relationship Id="rId54" Type="http://schemas.openxmlformats.org/officeDocument/2006/relationships/font" Target="fonts/font13.fntdata"/><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8.fntdata"/><Relationship Id="rId57" Type="http://schemas.openxmlformats.org/officeDocument/2006/relationships/font" Target="fonts/font16.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3.fntdata"/><Relationship Id="rId52" Type="http://schemas.openxmlformats.org/officeDocument/2006/relationships/font" Target="fonts/font11.fntdata"/><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13.10.2026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‹N°›</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Les députées disposent du droit d’amendement, c’est-à-dire qu’elles peuvent soumettre au vote des modifications aux textes de loi qui leur sont présentés.   </a:t>
            </a:r>
          </a:p>
          <a:p>
            <a:r>
              <a:rPr lang="en-US"/>
              <a:t>Un amendement peut émerger de multiples interactions, allant de discussions avec des administrées jusqu’à la lecture de rapports experts. Cependant, certains sont travaillés en étroite collaboration avec un ou plusieurs groupe(s) d’intérêt, voire proposés “clé en main” par ceux-ci. Pour lutter contre le risque de conflits d’intérêt et promouvoir la transparence de leurs pratiques, certaines députées ont pris pour habitude de citer nommément l’origine de l’amendement lorsque celui-ci provient d’une collaboration avec un représentant d’intérêt. C’est ce qu’on appelle le sourcing des amendements.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Ce use case a </a:t>
            </a:r>
            <a:r>
              <a:rPr lang="en-US" dirty="0" err="1"/>
              <a:t>avant</a:t>
            </a:r>
            <a:r>
              <a:rPr lang="en-US" dirty="0"/>
              <a:t> tout </a:t>
            </a:r>
            <a:r>
              <a:rPr lang="en-US" dirty="0" err="1"/>
              <a:t>une</a:t>
            </a:r>
            <a:r>
              <a:rPr lang="en-US" dirty="0"/>
              <a:t> </a:t>
            </a:r>
            <a:r>
              <a:rPr lang="en-US" dirty="0" err="1"/>
              <a:t>visée</a:t>
            </a:r>
            <a:r>
              <a:rPr lang="en-US" dirty="0"/>
              <a:t> </a:t>
            </a:r>
            <a:r>
              <a:rPr lang="en-US" dirty="0" err="1"/>
              <a:t>pédagogique</a:t>
            </a:r>
            <a:r>
              <a:rPr lang="en-US" dirty="0"/>
              <a:t>. Les questions </a:t>
            </a:r>
            <a:r>
              <a:rPr lang="en-US" dirty="0" err="1"/>
              <a:t>posées</a:t>
            </a:r>
            <a:r>
              <a:rPr lang="en-US" dirty="0"/>
              <a:t> </a:t>
            </a:r>
            <a:r>
              <a:rPr lang="en-US" dirty="0" err="1"/>
              <a:t>sont</a:t>
            </a:r>
            <a:r>
              <a:rPr lang="en-US" dirty="0"/>
              <a:t> </a:t>
            </a:r>
            <a:r>
              <a:rPr lang="en-US" dirty="0" err="1"/>
              <a:t>donc</a:t>
            </a:r>
            <a:r>
              <a:rPr lang="en-US" dirty="0"/>
              <a:t> </a:t>
            </a:r>
            <a:r>
              <a:rPr lang="en-US" dirty="0" err="1"/>
              <a:t>d'ordre</a:t>
            </a:r>
            <a:r>
              <a:rPr lang="en-US" dirty="0"/>
              <a:t> </a:t>
            </a:r>
            <a:r>
              <a:rPr lang="en-US" dirty="0" err="1"/>
              <a:t>descriptif</a:t>
            </a:r>
            <a:r>
              <a:rPr lang="en-US" dirty="0"/>
              <a:t> et </a:t>
            </a:r>
            <a:r>
              <a:rPr lang="en-US" dirty="0" err="1"/>
              <a:t>n'ont</a:t>
            </a:r>
            <a:r>
              <a:rPr lang="en-US" dirty="0"/>
              <a:t> pas pour base la </a:t>
            </a:r>
            <a:r>
              <a:rPr lang="en-US" dirty="0" err="1"/>
              <a:t>littérature</a:t>
            </a:r>
            <a:r>
              <a:rPr lang="en-US" dirty="0"/>
              <a:t> </a:t>
            </a:r>
            <a:r>
              <a:rPr lang="en-US" dirty="0" err="1"/>
              <a:t>académique</a:t>
            </a:r>
            <a:r>
              <a:rPr lang="en-US" dirty="0"/>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Seuls 664 </a:t>
            </a:r>
            <a:r>
              <a:rPr lang="en-US" dirty="0" err="1"/>
              <a:t>amendements</a:t>
            </a:r>
            <a:r>
              <a:rPr lang="en-US" dirty="0"/>
              <a:t> </a:t>
            </a:r>
            <a:r>
              <a:rPr lang="en-US" dirty="0" err="1"/>
              <a:t>uniques</a:t>
            </a:r>
            <a:r>
              <a:rPr lang="en-US" dirty="0"/>
              <a:t> </a:t>
            </a:r>
            <a:r>
              <a:rPr lang="en-US" dirty="0" err="1"/>
              <a:t>ont</a:t>
            </a:r>
            <a:r>
              <a:rPr lang="en-US" dirty="0"/>
              <a:t> +1024 tokens. </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facultative. </a:t>
            </a:r>
          </a:p>
          <a:p>
            <a:endParaRPr lang="en-US"/>
          </a:p>
          <a:p>
            <a:r>
              <a:rPr lang="en-US"/>
              <a:t>Conclusion : Amendement, en retirant ceux de +1024 tokens (on ne peut pas les laisser se faire tronquer car souvent le sourcing apparait à la fin de l'amendement)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facultative.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Passer rapidement si pas de manipulation des auditeurs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Explication des scores à faire </a:t>
            </a:r>
            <a:r>
              <a:rPr lang="en-US" dirty="0" err="1"/>
              <a:t>plutôt</a:t>
            </a:r>
            <a:r>
              <a:rPr lang="en-US" dirty="0"/>
              <a:t> dans </a:t>
            </a:r>
            <a:r>
              <a:rPr lang="en-US" dirty="0" err="1"/>
              <a:t>l'étape</a:t>
            </a:r>
            <a:r>
              <a:rPr lang="en-US" dirty="0"/>
              <a:t> 5 (cf. slide focus).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8.sv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8.svg"/><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8.sv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20.png"/><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8.sv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23.png"/><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31.png"/><Relationship Id="rId4" Type="http://schemas.openxmlformats.org/officeDocument/2006/relationships/image" Target="../media/image30.pn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7.xml"/><Relationship Id="rId5" Type="http://schemas.openxmlformats.org/officeDocument/2006/relationships/image" Target="../media/image33.png"/><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37.png"/></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1.png"/></Relationships>
</file>

<file path=ppt/slides/_rels/slide31.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1.png"/><Relationship Id="rId7" Type="http://schemas.openxmlformats.org/officeDocument/2006/relationships/image" Target="../media/image44.pn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3.png"/><Relationship Id="rId11" Type="http://schemas.openxmlformats.org/officeDocument/2006/relationships/image" Target="../media/image48.png"/><Relationship Id="rId5" Type="http://schemas.openxmlformats.org/officeDocument/2006/relationships/image" Target="../media/image42.png"/><Relationship Id="rId10" Type="http://schemas.openxmlformats.org/officeDocument/2006/relationships/image" Target="../media/image47.png"/><Relationship Id="rId4" Type="http://schemas.openxmlformats.org/officeDocument/2006/relationships/image" Target="../media/image41.png"/><Relationship Id="rId9" Type="http://schemas.openxmlformats.org/officeDocument/2006/relationships/image" Target="../media/image46.png"/></Relationships>
</file>

<file path=ppt/slides/_rels/slide32.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1.png"/><Relationship Id="rId7" Type="http://schemas.openxmlformats.org/officeDocument/2006/relationships/image" Target="../media/image44.pn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43.png"/><Relationship Id="rId11" Type="http://schemas.openxmlformats.org/officeDocument/2006/relationships/image" Target="../media/image48.png"/><Relationship Id="rId5" Type="http://schemas.openxmlformats.org/officeDocument/2006/relationships/image" Target="../media/image42.png"/><Relationship Id="rId10" Type="http://schemas.openxmlformats.org/officeDocument/2006/relationships/image" Target="../media/image47.png"/><Relationship Id="rId4" Type="http://schemas.openxmlformats.org/officeDocument/2006/relationships/image" Target="../media/image41.png"/><Relationship Id="rId9" Type="http://schemas.openxmlformats.org/officeDocument/2006/relationships/image" Target="../media/image46.png"/></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0.pn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49.png"/></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7.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51.png"/></Relationships>
</file>

<file path=ppt/slides/_rels/slide3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7.xml"/><Relationship Id="rId1" Type="http://schemas.openxmlformats.org/officeDocument/2006/relationships/slideLayout" Target="../slideLayouts/slideLayout7.xml"/><Relationship Id="rId4" Type="http://schemas.openxmlformats.org/officeDocument/2006/relationships/image" Target="../media/image53.png"/></Relationships>
</file>

<file path=ppt/slides/_rels/slide3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55.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3205297"/>
            <a:ext cx="1482272" cy="1521799"/>
          </a:xfrm>
          <a:custGeom>
            <a:avLst/>
            <a:gdLst/>
            <a:ahLst/>
            <a:cxnLst/>
            <a:rect l="l" t="t" r="r" b="b"/>
            <a:pathLst>
              <a:path w="1482272" h="1521799">
                <a:moveTo>
                  <a:pt x="0" y="0"/>
                </a:moveTo>
                <a:lnTo>
                  <a:pt x="1482272" y="0"/>
                </a:lnTo>
                <a:lnTo>
                  <a:pt x="1482272" y="1521799"/>
                </a:lnTo>
                <a:lnTo>
                  <a:pt x="0" y="1521799"/>
                </a:lnTo>
                <a:lnTo>
                  <a:pt x="0" y="0"/>
                </a:lnTo>
                <a:close/>
              </a:path>
            </a:pathLst>
          </a:custGeom>
          <a:blipFill>
            <a:blip r:embed="rId2"/>
            <a:stretch>
              <a:fillRect/>
            </a:stretch>
          </a:blipFill>
        </p:spPr>
        <p:txBody>
          <a:bodyPr/>
          <a:lstStyle/>
          <a:p>
            <a:endParaRPr lang="fr-FR"/>
          </a:p>
        </p:txBody>
      </p:sp>
      <p:sp>
        <p:nvSpPr>
          <p:cNvPr id="3" name="TextBox 3"/>
          <p:cNvSpPr txBox="1"/>
          <p:nvPr/>
        </p:nvSpPr>
        <p:spPr>
          <a:xfrm>
            <a:off x="2913659" y="3039096"/>
            <a:ext cx="15651832" cy="1749425"/>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Use Case : les amendements de la XVIIème législature de l’Assemblée Nationale </a:t>
            </a:r>
          </a:p>
        </p:txBody>
      </p:sp>
      <p:sp>
        <p:nvSpPr>
          <p:cNvPr id="4" name="AutoShape 4"/>
          <p:cNvSpPr/>
          <p:nvPr/>
        </p:nvSpPr>
        <p:spPr>
          <a:xfrm flipV="1">
            <a:off x="1028700" y="1028700"/>
            <a:ext cx="16230600" cy="19050"/>
          </a:xfrm>
          <a:prstGeom prst="line">
            <a:avLst/>
          </a:prstGeom>
          <a:ln w="28575" cap="flat">
            <a:solidFill>
              <a:srgbClr val="000000"/>
            </a:solidFill>
            <a:prstDash val="solid"/>
            <a:headEnd type="none" w="sm" len="sm"/>
            <a:tailEnd type="none" w="sm" len="sm"/>
          </a:ln>
        </p:spPr>
        <p:txBody>
          <a:bodyPr/>
          <a:lstStyle/>
          <a:p>
            <a:endParaRPr lang="fr-FR"/>
          </a:p>
        </p:txBody>
      </p:sp>
      <p:sp>
        <p:nvSpPr>
          <p:cNvPr id="5" name="TextBox 5"/>
          <p:cNvSpPr txBox="1"/>
          <p:nvPr/>
        </p:nvSpPr>
        <p:spPr>
          <a:xfrm>
            <a:off x="2510972" y="5758829"/>
            <a:ext cx="13408785" cy="1384300"/>
          </a:xfrm>
          <a:prstGeom prst="rect">
            <a:avLst/>
          </a:prstGeom>
        </p:spPr>
        <p:txBody>
          <a:bodyPr lIns="0" tIns="0" rIns="0" bIns="0" rtlCol="0" anchor="t">
            <a:spAutoFit/>
          </a:bodyPr>
          <a:lstStyle/>
          <a:p>
            <a:pPr algn="l">
              <a:lnSpc>
                <a:spcPts val="5599"/>
              </a:lnSpc>
            </a:pPr>
            <a:r>
              <a:rPr lang="en-US" sz="3999">
                <a:solidFill>
                  <a:srgbClr val="000000"/>
                </a:solidFill>
                <a:latin typeface="Open Sauce"/>
                <a:ea typeface="Open Sauce"/>
                <a:cs typeface="Open Sauce"/>
                <a:sym typeface="Open Sauce"/>
              </a:rPr>
              <a:t>Objectif : classer automatiquement ces amendements comme </a:t>
            </a:r>
            <a:r>
              <a:rPr lang="en-US" sz="3999" b="1">
                <a:solidFill>
                  <a:srgbClr val="E98E2D"/>
                </a:solidFill>
                <a:latin typeface="Open Sauce Bold"/>
                <a:ea typeface="Open Sauce Bold"/>
                <a:cs typeface="Open Sauce Bold"/>
                <a:sym typeface="Open Sauce Bold"/>
              </a:rPr>
              <a:t>sourcés</a:t>
            </a:r>
            <a:r>
              <a:rPr lang="en-US" sz="3999">
                <a:solidFill>
                  <a:srgbClr val="000000"/>
                </a:solidFill>
                <a:latin typeface="Open Sauce"/>
                <a:ea typeface="Open Sauce"/>
                <a:cs typeface="Open Sauce"/>
                <a:sym typeface="Open Sauce"/>
              </a:rPr>
              <a:t> ou </a:t>
            </a:r>
            <a:r>
              <a:rPr lang="en-US" sz="3999" b="1">
                <a:solidFill>
                  <a:srgbClr val="E98E2D"/>
                </a:solidFill>
                <a:latin typeface="Open Sauce Bold"/>
                <a:ea typeface="Open Sauce Bold"/>
                <a:cs typeface="Open Sauce Bold"/>
                <a:sym typeface="Open Sauce Bold"/>
              </a:rPr>
              <a:t>non-sourcés </a:t>
            </a:r>
            <a:r>
              <a:rPr lang="en-US" sz="3999">
                <a:solidFill>
                  <a:srgbClr val="000000"/>
                </a:solidFill>
                <a:latin typeface="Open Sauce"/>
                <a:ea typeface="Open Sauce"/>
                <a:cs typeface="Open Sauce"/>
                <a:sym typeface="Open Sauce"/>
              </a:rPr>
              <a:t>avec ActiveTigger.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651874" y="2413792"/>
            <a:ext cx="13037934" cy="5238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Introduction : contexte, questions de recherche et données</a:t>
            </a:r>
          </a:p>
        </p:txBody>
      </p:sp>
      <p:sp>
        <p:nvSpPr>
          <p:cNvPr id="3" name="TextBox 3"/>
          <p:cNvSpPr txBox="1"/>
          <p:nvPr/>
        </p:nvSpPr>
        <p:spPr>
          <a:xfrm>
            <a:off x="1028700" y="923925"/>
            <a:ext cx="8882565"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Plan de la session</a:t>
            </a:r>
          </a:p>
        </p:txBody>
      </p:sp>
      <p:sp>
        <p:nvSpPr>
          <p:cNvPr id="4" name="TextBox 4"/>
          <p:cNvSpPr txBox="1"/>
          <p:nvPr/>
        </p:nvSpPr>
        <p:spPr>
          <a:xfrm>
            <a:off x="1651874" y="3497342"/>
            <a:ext cx="12273760" cy="37242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1. Créer un projet </a:t>
            </a:r>
          </a:p>
          <a:p>
            <a:pPr algn="l">
              <a:lnSpc>
                <a:spcPts val="4200"/>
              </a:lnSpc>
            </a:pPr>
            <a:r>
              <a:rPr lang="en-US" sz="3000">
                <a:solidFill>
                  <a:srgbClr val="000000"/>
                </a:solidFill>
                <a:latin typeface="Open Sauce"/>
                <a:ea typeface="Open Sauce"/>
                <a:cs typeface="Open Sauce"/>
                <a:sym typeface="Open Sauce"/>
              </a:rPr>
              <a:t>2. Annoter les données d’entraînement et fixer son codebook</a:t>
            </a:r>
          </a:p>
          <a:p>
            <a:pPr algn="l">
              <a:lnSpc>
                <a:spcPts val="4200"/>
              </a:lnSpc>
            </a:pPr>
            <a:r>
              <a:rPr lang="en-US" sz="3000">
                <a:solidFill>
                  <a:srgbClr val="000000"/>
                </a:solidFill>
                <a:latin typeface="Open Sauce"/>
                <a:ea typeface="Open Sauce"/>
                <a:cs typeface="Open Sauce"/>
                <a:sym typeface="Open Sauce"/>
              </a:rPr>
              <a:t>3. Annoter les données de validation et de test</a:t>
            </a:r>
          </a:p>
          <a:p>
            <a:pPr algn="l">
              <a:lnSpc>
                <a:spcPts val="4200"/>
              </a:lnSpc>
            </a:pPr>
            <a:r>
              <a:rPr lang="en-US" sz="3000">
                <a:solidFill>
                  <a:srgbClr val="000000"/>
                </a:solidFill>
                <a:latin typeface="Open Sauce"/>
                <a:ea typeface="Open Sauce"/>
                <a:cs typeface="Open Sauce"/>
                <a:sym typeface="Open Sauce"/>
              </a:rPr>
              <a:t>4. Entraîner des modèles</a:t>
            </a:r>
          </a:p>
          <a:p>
            <a:pPr algn="l">
              <a:lnSpc>
                <a:spcPts val="4200"/>
              </a:lnSpc>
            </a:pPr>
            <a:r>
              <a:rPr lang="en-US" sz="3000">
                <a:solidFill>
                  <a:srgbClr val="000000"/>
                </a:solidFill>
                <a:latin typeface="Open Sauce"/>
                <a:ea typeface="Open Sauce"/>
                <a:cs typeface="Open Sauce"/>
                <a:sym typeface="Open Sauce"/>
              </a:rPr>
              <a:t>5. Sélectionner un modèle </a:t>
            </a:r>
          </a:p>
          <a:p>
            <a:pPr algn="l">
              <a:lnSpc>
                <a:spcPts val="4200"/>
              </a:lnSpc>
            </a:pPr>
            <a:r>
              <a:rPr lang="en-US" sz="3000">
                <a:solidFill>
                  <a:srgbClr val="000000"/>
                </a:solidFill>
                <a:latin typeface="Open Sauce"/>
                <a:ea typeface="Open Sauce"/>
                <a:cs typeface="Open Sauce"/>
                <a:sym typeface="Open Sauce"/>
              </a:rPr>
              <a:t>6. Évaluer le modèle</a:t>
            </a:r>
          </a:p>
          <a:p>
            <a:pPr algn="l">
              <a:lnSpc>
                <a:spcPts val="4200"/>
              </a:lnSpc>
            </a:pPr>
            <a:r>
              <a:rPr lang="en-US" sz="3000">
                <a:solidFill>
                  <a:srgbClr val="000000"/>
                </a:solidFill>
                <a:latin typeface="Open Sauce"/>
                <a:ea typeface="Open Sauce"/>
                <a:cs typeface="Open Sauce"/>
                <a:sym typeface="Open Sauce"/>
              </a:rPr>
              <a:t>7. Étendre les prédictions</a:t>
            </a:r>
          </a:p>
        </p:txBody>
      </p:sp>
      <p:sp>
        <p:nvSpPr>
          <p:cNvPr id="5" name="AutoShape 5"/>
          <p:cNvSpPr/>
          <p:nvPr/>
        </p:nvSpPr>
        <p:spPr>
          <a:xfrm flipH="1" flipV="1">
            <a:off x="13780936" y="3707937"/>
            <a:ext cx="1" cy="3513680"/>
          </a:xfrm>
          <a:prstGeom prst="line">
            <a:avLst/>
          </a:prstGeom>
          <a:ln w="38100" cap="flat">
            <a:solidFill>
              <a:srgbClr val="000000"/>
            </a:solidFill>
            <a:prstDash val="solid"/>
            <a:headEnd type="none" w="sm" len="sm"/>
            <a:tailEnd type="none" w="sm" len="sm"/>
          </a:ln>
        </p:spPr>
        <p:txBody>
          <a:bodyPr/>
          <a:lstStyle/>
          <a:p>
            <a:endParaRPr lang="fr-FR"/>
          </a:p>
        </p:txBody>
      </p:sp>
      <p:sp>
        <p:nvSpPr>
          <p:cNvPr id="6" name="AutoShape 6"/>
          <p:cNvSpPr/>
          <p:nvPr/>
        </p:nvSpPr>
        <p:spPr>
          <a:xfrm flipH="1">
            <a:off x="13568582" y="3734436"/>
            <a:ext cx="212350" cy="221"/>
          </a:xfrm>
          <a:prstGeom prst="line">
            <a:avLst/>
          </a:prstGeom>
          <a:ln w="38100" cap="flat">
            <a:solidFill>
              <a:srgbClr val="000000"/>
            </a:solidFill>
            <a:prstDash val="solid"/>
            <a:headEnd type="none" w="sm" len="sm"/>
            <a:tailEnd type="none" w="sm" len="sm"/>
          </a:ln>
        </p:spPr>
        <p:txBody>
          <a:bodyPr/>
          <a:lstStyle/>
          <a:p>
            <a:endParaRPr lang="fr-FR"/>
          </a:p>
        </p:txBody>
      </p:sp>
      <p:sp>
        <p:nvSpPr>
          <p:cNvPr id="7" name="AutoShape 7"/>
          <p:cNvSpPr/>
          <p:nvPr/>
        </p:nvSpPr>
        <p:spPr>
          <a:xfrm flipH="1">
            <a:off x="13568562" y="7202346"/>
            <a:ext cx="212350" cy="221"/>
          </a:xfrm>
          <a:prstGeom prst="line">
            <a:avLst/>
          </a:prstGeom>
          <a:ln w="38100" cap="flat">
            <a:solidFill>
              <a:srgbClr val="000000"/>
            </a:solidFill>
            <a:prstDash val="solid"/>
            <a:headEnd type="none" w="sm" len="sm"/>
            <a:tailEnd type="none" w="sm" len="sm"/>
          </a:ln>
        </p:spPr>
        <p:txBody>
          <a:bodyPr/>
          <a:lstStyle/>
          <a:p>
            <a:endParaRPr lang="fr-FR"/>
          </a:p>
        </p:txBody>
      </p:sp>
      <p:sp>
        <p:nvSpPr>
          <p:cNvPr id="8" name="TextBox 8"/>
          <p:cNvSpPr txBox="1"/>
          <p:nvPr/>
        </p:nvSpPr>
        <p:spPr>
          <a:xfrm>
            <a:off x="14099104" y="5759299"/>
            <a:ext cx="2537022" cy="523875"/>
          </a:xfrm>
          <a:prstGeom prst="rect">
            <a:avLst/>
          </a:prstGeom>
        </p:spPr>
        <p:txBody>
          <a:bodyPr lIns="0" tIns="0" rIns="0" bIns="0" rtlCol="0" anchor="t">
            <a:spAutoFit/>
          </a:bodyPr>
          <a:lstStyle/>
          <a:p>
            <a:pPr algn="ctr">
              <a:lnSpc>
                <a:spcPts val="4200"/>
              </a:lnSpc>
              <a:spcBef>
                <a:spcPct val="0"/>
              </a:spcBef>
            </a:pPr>
            <a:r>
              <a:rPr lang="en-US" sz="3000">
                <a:solidFill>
                  <a:srgbClr val="000000"/>
                </a:solidFill>
                <a:latin typeface="Open Sauce"/>
                <a:ea typeface="Open Sauce"/>
                <a:cs typeface="Open Sauce"/>
                <a:sym typeface="Open Sauce"/>
              </a:rPr>
              <a:t>ActiveTigger</a:t>
            </a:r>
          </a:p>
        </p:txBody>
      </p:sp>
      <p:sp>
        <p:nvSpPr>
          <p:cNvPr id="9" name="TextBox 9"/>
          <p:cNvSpPr txBox="1"/>
          <p:nvPr/>
        </p:nvSpPr>
        <p:spPr>
          <a:xfrm>
            <a:off x="1651874" y="7783592"/>
            <a:ext cx="5835332" cy="1057275"/>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uce"/>
                <a:ea typeface="Open Sauce"/>
                <a:cs typeface="Open Sauce"/>
                <a:sym typeface="Open Sauce"/>
              </a:rPr>
              <a:t>8. Résultats</a:t>
            </a:r>
          </a:p>
          <a:p>
            <a:pPr algn="l">
              <a:lnSpc>
                <a:spcPts val="4200"/>
              </a:lnSpc>
              <a:spcBef>
                <a:spcPct val="0"/>
              </a:spcBef>
            </a:pPr>
            <a:r>
              <a:rPr lang="en-US" sz="3000">
                <a:solidFill>
                  <a:srgbClr val="000000"/>
                </a:solidFill>
                <a:latin typeface="Open Sauce"/>
                <a:ea typeface="Open Sauce"/>
                <a:cs typeface="Open Sauce"/>
                <a:sym typeface="Open Sauce"/>
              </a:rPr>
              <a:t>9. Intérêt et limites de notre cas</a:t>
            </a:r>
          </a:p>
        </p:txBody>
      </p:sp>
      <p:sp>
        <p:nvSpPr>
          <p:cNvPr id="10" name="Freeform 10"/>
          <p:cNvSpPr/>
          <p:nvPr/>
        </p:nvSpPr>
        <p:spPr>
          <a:xfrm flipH="1">
            <a:off x="14898501" y="4767478"/>
            <a:ext cx="938226" cy="963246"/>
          </a:xfrm>
          <a:custGeom>
            <a:avLst/>
            <a:gdLst/>
            <a:ahLst/>
            <a:cxnLst/>
            <a:rect l="l" t="t" r="r" b="b"/>
            <a:pathLst>
              <a:path w="938226" h="963246">
                <a:moveTo>
                  <a:pt x="938227" y="0"/>
                </a:moveTo>
                <a:lnTo>
                  <a:pt x="0" y="0"/>
                </a:lnTo>
                <a:lnTo>
                  <a:pt x="0" y="963246"/>
                </a:lnTo>
                <a:lnTo>
                  <a:pt x="938227" y="963246"/>
                </a:lnTo>
                <a:lnTo>
                  <a:pt x="938227" y="0"/>
                </a:lnTo>
                <a:close/>
              </a:path>
            </a:pathLst>
          </a:custGeom>
          <a:blipFill>
            <a:blip r:embed="rId2"/>
            <a:stretch>
              <a:fillRect/>
            </a:stretch>
          </a:blipFill>
        </p:spPr>
        <p:txBody>
          <a:bodyPr/>
          <a:lstStyle/>
          <a:p>
            <a:endParaRPr lang="fr-F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1623038" y="431401"/>
            <a:ext cx="6065230" cy="8623796"/>
          </a:xfrm>
          <a:custGeom>
            <a:avLst/>
            <a:gdLst/>
            <a:ahLst/>
            <a:cxnLst/>
            <a:rect l="l" t="t" r="r" b="b"/>
            <a:pathLst>
              <a:path w="6065230" h="8623796">
                <a:moveTo>
                  <a:pt x="0" y="0"/>
                </a:moveTo>
                <a:lnTo>
                  <a:pt x="6065230" y="0"/>
                </a:lnTo>
                <a:lnTo>
                  <a:pt x="6065230" y="8623796"/>
                </a:lnTo>
                <a:lnTo>
                  <a:pt x="0" y="8623796"/>
                </a:lnTo>
                <a:lnTo>
                  <a:pt x="0" y="0"/>
                </a:lnTo>
                <a:close/>
              </a:path>
            </a:pathLst>
          </a:custGeom>
          <a:blipFill>
            <a:blip r:embed="rId3"/>
            <a:stretch>
              <a:fillRect/>
            </a:stretch>
          </a:blipFill>
        </p:spPr>
        <p:txBody>
          <a:bodyPr/>
          <a:lstStyle/>
          <a:p>
            <a:endParaRPr lang="fr-FR"/>
          </a:p>
        </p:txBody>
      </p:sp>
      <p:sp>
        <p:nvSpPr>
          <p:cNvPr id="3" name="Freeform 3"/>
          <p:cNvSpPr/>
          <p:nvPr/>
        </p:nvSpPr>
        <p:spPr>
          <a:xfrm>
            <a:off x="11623038" y="8029458"/>
            <a:ext cx="6065230" cy="1826141"/>
          </a:xfrm>
          <a:custGeom>
            <a:avLst/>
            <a:gdLst/>
            <a:ahLst/>
            <a:cxnLst/>
            <a:rect l="l" t="t" r="r" b="b"/>
            <a:pathLst>
              <a:path w="6065230" h="1826141">
                <a:moveTo>
                  <a:pt x="0" y="0"/>
                </a:moveTo>
                <a:lnTo>
                  <a:pt x="6065230" y="0"/>
                </a:lnTo>
                <a:lnTo>
                  <a:pt x="6065230" y="1826141"/>
                </a:lnTo>
                <a:lnTo>
                  <a:pt x="0" y="1826141"/>
                </a:lnTo>
                <a:lnTo>
                  <a:pt x="0" y="0"/>
                </a:lnTo>
                <a:close/>
              </a:path>
            </a:pathLst>
          </a:custGeom>
          <a:blipFill>
            <a:blip r:embed="rId4"/>
            <a:stretch>
              <a:fillRect t="-41668" b="-330572"/>
            </a:stretch>
          </a:blipFill>
        </p:spPr>
        <p:txBody>
          <a:bodyPr/>
          <a:lstStyle/>
          <a:p>
            <a:endParaRPr lang="fr-FR"/>
          </a:p>
        </p:txBody>
      </p:sp>
      <p:sp>
        <p:nvSpPr>
          <p:cNvPr id="4" name="TextBox 4"/>
          <p:cNvSpPr txBox="1"/>
          <p:nvPr/>
        </p:nvSpPr>
        <p:spPr>
          <a:xfrm>
            <a:off x="1069060" y="2313962"/>
            <a:ext cx="10515878" cy="5880611"/>
          </a:xfrm>
          <a:prstGeom prst="rect">
            <a:avLst/>
          </a:prstGeom>
        </p:spPr>
        <p:txBody>
          <a:bodyPr lIns="0" tIns="0" rIns="0" bIns="0" rtlCol="0" anchor="t">
            <a:spAutoFit/>
          </a:bodyPr>
          <a:lstStyle/>
          <a:p>
            <a:pPr algn="l">
              <a:lnSpc>
                <a:spcPts val="4199"/>
              </a:lnSpc>
            </a:pPr>
            <a:r>
              <a:rPr lang="en-US" sz="2999">
                <a:solidFill>
                  <a:srgbClr val="000000"/>
                </a:solidFill>
                <a:latin typeface="Open Sauce"/>
                <a:ea typeface="Open Sauce"/>
                <a:cs typeface="Open Sauce"/>
                <a:sym typeface="Open Sauce"/>
              </a:rPr>
              <a:t>Un amendement résulte de nombreuses interactions.</a:t>
            </a:r>
          </a:p>
          <a:p>
            <a:pPr algn="l">
              <a:lnSpc>
                <a:spcPts val="4199"/>
              </a:lnSpc>
            </a:pPr>
            <a:endParaRPr lang="en-US" sz="2999">
              <a:solidFill>
                <a:srgbClr val="000000"/>
              </a:solidFill>
              <a:latin typeface="Open Sauce"/>
              <a:ea typeface="Open Sauce"/>
              <a:cs typeface="Open Sauce"/>
              <a:sym typeface="Open Sauce"/>
            </a:endParaRPr>
          </a:p>
          <a:p>
            <a:pPr algn="l">
              <a:lnSpc>
                <a:spcPts val="4199"/>
              </a:lnSpc>
            </a:pPr>
            <a:r>
              <a:rPr lang="en-US" sz="2999">
                <a:solidFill>
                  <a:srgbClr val="000000"/>
                </a:solidFill>
                <a:latin typeface="Open Sauce"/>
                <a:ea typeface="Open Sauce"/>
                <a:cs typeface="Open Sauce"/>
                <a:sym typeface="Open Sauce"/>
              </a:rPr>
              <a:t>Certains sont discutés avec ou proposés par un ou plusieurs groupe(s) d’intérêt (“lobbies”)</a:t>
            </a:r>
          </a:p>
          <a:p>
            <a:pPr algn="l">
              <a:lnSpc>
                <a:spcPts val="4199"/>
              </a:lnSpc>
            </a:pPr>
            <a:endParaRPr lang="en-US" sz="2999">
              <a:solidFill>
                <a:srgbClr val="000000"/>
              </a:solidFill>
              <a:latin typeface="Open Sauce"/>
              <a:ea typeface="Open Sauce"/>
              <a:cs typeface="Open Sauce"/>
              <a:sym typeface="Open Sauce"/>
            </a:endParaRPr>
          </a:p>
          <a:p>
            <a:pPr algn="l">
              <a:lnSpc>
                <a:spcPts val="4199"/>
              </a:lnSpc>
            </a:pPr>
            <a:r>
              <a:rPr lang="en-US" sz="2999" b="1" i="1">
                <a:solidFill>
                  <a:srgbClr val="E98E2D"/>
                </a:solidFill>
                <a:latin typeface="Open Sauce Bold Italics"/>
                <a:ea typeface="Open Sauce Bold Italics"/>
                <a:cs typeface="Open Sauce Bold Italics"/>
                <a:sym typeface="Open Sauce Bold Italics"/>
              </a:rPr>
              <a:t>Sourcing des amendements </a:t>
            </a:r>
            <a:r>
              <a:rPr lang="en-US" sz="2999">
                <a:solidFill>
                  <a:srgbClr val="000000"/>
                </a:solidFill>
                <a:latin typeface="Open Sauce"/>
                <a:ea typeface="Open Sauce"/>
                <a:cs typeface="Open Sauce"/>
                <a:sym typeface="Open Sauce"/>
              </a:rPr>
              <a:t>: citer nommément ces groupes et la nature de leur influence sur la soumission d’un amendement donné dans l’exposé des motifs.</a:t>
            </a:r>
          </a:p>
          <a:p>
            <a:pPr algn="l">
              <a:lnSpc>
                <a:spcPts val="4199"/>
              </a:lnSpc>
            </a:pPr>
            <a:endParaRPr lang="en-US" sz="2999">
              <a:solidFill>
                <a:srgbClr val="000000"/>
              </a:solidFill>
              <a:latin typeface="Open Sauce"/>
              <a:ea typeface="Open Sauce"/>
              <a:cs typeface="Open Sauce"/>
              <a:sym typeface="Open Sauce"/>
            </a:endParaRPr>
          </a:p>
          <a:p>
            <a:pPr algn="l">
              <a:lnSpc>
                <a:spcPts val="840"/>
              </a:lnSpc>
            </a:pPr>
            <a:endParaRPr lang="en-US" sz="2999">
              <a:solidFill>
                <a:srgbClr val="000000"/>
              </a:solidFill>
              <a:latin typeface="Open Sauce"/>
              <a:ea typeface="Open Sauce"/>
              <a:cs typeface="Open Sauce"/>
              <a:sym typeface="Open Sauce"/>
            </a:endParaRPr>
          </a:p>
          <a:p>
            <a:pPr algn="l">
              <a:lnSpc>
                <a:spcPts val="4199"/>
              </a:lnSpc>
            </a:pPr>
            <a:r>
              <a:rPr lang="en-US" sz="2999">
                <a:solidFill>
                  <a:srgbClr val="000000"/>
                </a:solidFill>
                <a:latin typeface="Open Sauce"/>
                <a:ea typeface="Open Sauce"/>
                <a:cs typeface="Open Sauce"/>
                <a:sym typeface="Open Sauce"/>
              </a:rPr>
              <a:t>      ➔ “Bonne pratique” promue par un certain nombre </a:t>
            </a:r>
          </a:p>
          <a:p>
            <a:pPr algn="l">
              <a:lnSpc>
                <a:spcPts val="4199"/>
              </a:lnSpc>
            </a:pPr>
            <a:r>
              <a:rPr lang="en-US" sz="2999">
                <a:solidFill>
                  <a:srgbClr val="000000"/>
                </a:solidFill>
                <a:latin typeface="Open Sauce"/>
                <a:ea typeface="Open Sauce"/>
                <a:cs typeface="Open Sauce"/>
                <a:sym typeface="Open Sauce"/>
              </a:rPr>
              <a:t>      de parlementaires mais non obligatoire</a:t>
            </a:r>
          </a:p>
        </p:txBody>
      </p:sp>
      <p:grpSp>
        <p:nvGrpSpPr>
          <p:cNvPr id="5" name="Group 5"/>
          <p:cNvGrpSpPr/>
          <p:nvPr/>
        </p:nvGrpSpPr>
        <p:grpSpPr>
          <a:xfrm>
            <a:off x="12163821" y="9358504"/>
            <a:ext cx="3629816" cy="184245"/>
            <a:chOff x="0" y="0"/>
            <a:chExt cx="956001" cy="48525"/>
          </a:xfrm>
        </p:grpSpPr>
        <p:sp>
          <p:nvSpPr>
            <p:cNvPr id="6" name="Freeform 6"/>
            <p:cNvSpPr/>
            <p:nvPr/>
          </p:nvSpPr>
          <p:spPr>
            <a:xfrm>
              <a:off x="0" y="0"/>
              <a:ext cx="956001" cy="48525"/>
            </a:xfrm>
            <a:custGeom>
              <a:avLst/>
              <a:gdLst/>
              <a:ahLst/>
              <a:cxnLst/>
              <a:rect l="l" t="t" r="r" b="b"/>
              <a:pathLst>
                <a:path w="956001" h="48525">
                  <a:moveTo>
                    <a:pt x="24263" y="0"/>
                  </a:moveTo>
                  <a:lnTo>
                    <a:pt x="931738" y="0"/>
                  </a:lnTo>
                  <a:cubicBezTo>
                    <a:pt x="945138" y="0"/>
                    <a:pt x="956001" y="10863"/>
                    <a:pt x="956001" y="24263"/>
                  </a:cubicBezTo>
                  <a:lnTo>
                    <a:pt x="956001" y="24263"/>
                  </a:lnTo>
                  <a:cubicBezTo>
                    <a:pt x="956001" y="30698"/>
                    <a:pt x="953445" y="36869"/>
                    <a:pt x="948895" y="41419"/>
                  </a:cubicBezTo>
                  <a:cubicBezTo>
                    <a:pt x="944344" y="45969"/>
                    <a:pt x="938173" y="48525"/>
                    <a:pt x="931738" y="48525"/>
                  </a:cubicBezTo>
                  <a:lnTo>
                    <a:pt x="24263" y="48525"/>
                  </a:lnTo>
                  <a:cubicBezTo>
                    <a:pt x="17828" y="48525"/>
                    <a:pt x="11657" y="45969"/>
                    <a:pt x="7106" y="41419"/>
                  </a:cubicBezTo>
                  <a:cubicBezTo>
                    <a:pt x="2556" y="36869"/>
                    <a:pt x="0" y="30698"/>
                    <a:pt x="0" y="24263"/>
                  </a:cubicBezTo>
                  <a:lnTo>
                    <a:pt x="0" y="24263"/>
                  </a:lnTo>
                  <a:cubicBezTo>
                    <a:pt x="0" y="17828"/>
                    <a:pt x="2556" y="11657"/>
                    <a:pt x="7106" y="7106"/>
                  </a:cubicBezTo>
                  <a:cubicBezTo>
                    <a:pt x="11657" y="2556"/>
                    <a:pt x="17828" y="0"/>
                    <a:pt x="24263" y="0"/>
                  </a:cubicBezTo>
                  <a:close/>
                </a:path>
              </a:pathLst>
            </a:custGeom>
            <a:solidFill>
              <a:srgbClr val="E98E2D">
                <a:alpha val="33725"/>
              </a:srgbClr>
            </a:solidFill>
          </p:spPr>
          <p:txBody>
            <a:bodyPr/>
            <a:lstStyle/>
            <a:p>
              <a:endParaRPr lang="fr-FR"/>
            </a:p>
          </p:txBody>
        </p:sp>
        <p:sp>
          <p:nvSpPr>
            <p:cNvPr id="7" name="TextBox 7"/>
            <p:cNvSpPr txBox="1"/>
            <p:nvPr/>
          </p:nvSpPr>
          <p:spPr>
            <a:xfrm>
              <a:off x="0" y="-38100"/>
              <a:ext cx="956001" cy="86625"/>
            </a:xfrm>
            <a:prstGeom prst="rect">
              <a:avLst/>
            </a:prstGeom>
          </p:spPr>
          <p:txBody>
            <a:bodyPr lIns="50800" tIns="50800" rIns="50800" bIns="50800" rtlCol="0" anchor="ctr"/>
            <a:lstStyle/>
            <a:p>
              <a:pPr algn="ctr">
                <a:lnSpc>
                  <a:spcPts val="2659"/>
                </a:lnSpc>
                <a:spcBef>
                  <a:spcPct val="0"/>
                </a:spcBef>
              </a:pPr>
              <a:endParaRPr/>
            </a:p>
          </p:txBody>
        </p:sp>
      </p:grpSp>
      <p:sp>
        <p:nvSpPr>
          <p:cNvPr id="8" name="TextBox 8"/>
          <p:cNvSpPr txBox="1"/>
          <p:nvPr/>
        </p:nvSpPr>
        <p:spPr>
          <a:xfrm>
            <a:off x="1028700" y="923925"/>
            <a:ext cx="4168986"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Contexte</a:t>
            </a:r>
          </a:p>
        </p:txBody>
      </p:sp>
      <p:sp>
        <p:nvSpPr>
          <p:cNvPr id="9" name="TextBox 9"/>
          <p:cNvSpPr txBox="1"/>
          <p:nvPr/>
        </p:nvSpPr>
        <p:spPr>
          <a:xfrm>
            <a:off x="10515170" y="9252189"/>
            <a:ext cx="1450394" cy="349250"/>
          </a:xfrm>
          <a:prstGeom prst="rect">
            <a:avLst/>
          </a:prstGeom>
        </p:spPr>
        <p:txBody>
          <a:bodyPr lIns="0" tIns="0" rIns="0" bIns="0" rtlCol="0" anchor="t">
            <a:spAutoFit/>
          </a:bodyPr>
          <a:lstStyle/>
          <a:p>
            <a:pPr algn="ctr">
              <a:lnSpc>
                <a:spcPts val="2800"/>
              </a:lnSpc>
            </a:pPr>
            <a:r>
              <a:rPr lang="en-US" sz="2000">
                <a:solidFill>
                  <a:srgbClr val="000000"/>
                </a:solidFill>
                <a:latin typeface="Open Sans"/>
                <a:ea typeface="Open Sans"/>
                <a:cs typeface="Open Sans"/>
                <a:sym typeface="Open Sans"/>
              </a:rPr>
              <a:t>sourcing !</a:t>
            </a:r>
          </a:p>
        </p:txBody>
      </p:sp>
      <p:sp>
        <p:nvSpPr>
          <p:cNvPr id="10" name="TextBox 10"/>
          <p:cNvSpPr txBox="1"/>
          <p:nvPr/>
        </p:nvSpPr>
        <p:spPr>
          <a:xfrm>
            <a:off x="1679780" y="8293524"/>
            <a:ext cx="8835390" cy="339725"/>
          </a:xfrm>
          <a:prstGeom prst="rect">
            <a:avLst/>
          </a:prstGeom>
        </p:spPr>
        <p:txBody>
          <a:bodyPr lIns="0" tIns="0" rIns="0" bIns="0" rtlCol="0" anchor="t">
            <a:spAutoFit/>
          </a:bodyPr>
          <a:lstStyle/>
          <a:p>
            <a:pPr algn="ctr">
              <a:lnSpc>
                <a:spcPts val="2799"/>
              </a:lnSpc>
              <a:spcBef>
                <a:spcPct val="0"/>
              </a:spcBef>
            </a:pPr>
            <a:r>
              <a:rPr lang="en-US" sz="1999">
                <a:solidFill>
                  <a:srgbClr val="000000"/>
                </a:solidFill>
                <a:latin typeface="Open Sauce"/>
                <a:ea typeface="Open Sauce"/>
                <a:cs typeface="Open Sauce"/>
                <a:sym typeface="Open Sauce"/>
              </a:rPr>
              <a:t> (cf. tribune de 322 élus et élues LREM dans Le Monde en octobre 2019)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Freeform 2"/>
          <p:cNvSpPr/>
          <p:nvPr/>
        </p:nvSpPr>
        <p:spPr>
          <a:xfrm>
            <a:off x="11623038" y="431401"/>
            <a:ext cx="6065230" cy="8623796"/>
          </a:xfrm>
          <a:custGeom>
            <a:avLst/>
            <a:gdLst/>
            <a:ahLst/>
            <a:cxnLst/>
            <a:rect l="l" t="t" r="r" b="b"/>
            <a:pathLst>
              <a:path w="6065230" h="8623796">
                <a:moveTo>
                  <a:pt x="0" y="0"/>
                </a:moveTo>
                <a:lnTo>
                  <a:pt x="6065230" y="0"/>
                </a:lnTo>
                <a:lnTo>
                  <a:pt x="6065230" y="8623796"/>
                </a:lnTo>
                <a:lnTo>
                  <a:pt x="0" y="8623796"/>
                </a:lnTo>
                <a:lnTo>
                  <a:pt x="0" y="0"/>
                </a:lnTo>
                <a:close/>
              </a:path>
            </a:pathLst>
          </a:custGeom>
          <a:blipFill>
            <a:blip r:embed="rId2"/>
            <a:stretch>
              <a:fillRect/>
            </a:stretch>
          </a:blipFill>
        </p:spPr>
        <p:txBody>
          <a:bodyPr/>
          <a:lstStyle/>
          <a:p>
            <a:endParaRPr lang="fr-FR"/>
          </a:p>
        </p:txBody>
      </p:sp>
      <p:sp>
        <p:nvSpPr>
          <p:cNvPr id="3" name="Freeform 3"/>
          <p:cNvSpPr/>
          <p:nvPr/>
        </p:nvSpPr>
        <p:spPr>
          <a:xfrm>
            <a:off x="11623038" y="8029458"/>
            <a:ext cx="6065230" cy="1826141"/>
          </a:xfrm>
          <a:custGeom>
            <a:avLst/>
            <a:gdLst/>
            <a:ahLst/>
            <a:cxnLst/>
            <a:rect l="l" t="t" r="r" b="b"/>
            <a:pathLst>
              <a:path w="6065230" h="1826141">
                <a:moveTo>
                  <a:pt x="0" y="0"/>
                </a:moveTo>
                <a:lnTo>
                  <a:pt x="6065230" y="0"/>
                </a:lnTo>
                <a:lnTo>
                  <a:pt x="6065230" y="1826141"/>
                </a:lnTo>
                <a:lnTo>
                  <a:pt x="0" y="1826141"/>
                </a:lnTo>
                <a:lnTo>
                  <a:pt x="0" y="0"/>
                </a:lnTo>
                <a:close/>
              </a:path>
            </a:pathLst>
          </a:custGeom>
          <a:blipFill>
            <a:blip r:embed="rId3"/>
            <a:stretch>
              <a:fillRect t="-41668" b="-330572"/>
            </a:stretch>
          </a:blipFill>
        </p:spPr>
        <p:txBody>
          <a:bodyPr/>
          <a:lstStyle/>
          <a:p>
            <a:endParaRPr lang="fr-FR"/>
          </a:p>
        </p:txBody>
      </p:sp>
      <p:grpSp>
        <p:nvGrpSpPr>
          <p:cNvPr id="4" name="Group 4"/>
          <p:cNvGrpSpPr/>
          <p:nvPr/>
        </p:nvGrpSpPr>
        <p:grpSpPr>
          <a:xfrm>
            <a:off x="12163821" y="9358504"/>
            <a:ext cx="3629816" cy="184245"/>
            <a:chOff x="0" y="0"/>
            <a:chExt cx="956001" cy="48525"/>
          </a:xfrm>
        </p:grpSpPr>
        <p:sp>
          <p:nvSpPr>
            <p:cNvPr id="5" name="Freeform 5"/>
            <p:cNvSpPr/>
            <p:nvPr/>
          </p:nvSpPr>
          <p:spPr>
            <a:xfrm>
              <a:off x="0" y="0"/>
              <a:ext cx="956001" cy="48525"/>
            </a:xfrm>
            <a:custGeom>
              <a:avLst/>
              <a:gdLst/>
              <a:ahLst/>
              <a:cxnLst/>
              <a:rect l="l" t="t" r="r" b="b"/>
              <a:pathLst>
                <a:path w="956001" h="48525">
                  <a:moveTo>
                    <a:pt x="24263" y="0"/>
                  </a:moveTo>
                  <a:lnTo>
                    <a:pt x="931738" y="0"/>
                  </a:lnTo>
                  <a:cubicBezTo>
                    <a:pt x="945138" y="0"/>
                    <a:pt x="956001" y="10863"/>
                    <a:pt x="956001" y="24263"/>
                  </a:cubicBezTo>
                  <a:lnTo>
                    <a:pt x="956001" y="24263"/>
                  </a:lnTo>
                  <a:cubicBezTo>
                    <a:pt x="956001" y="30698"/>
                    <a:pt x="953445" y="36869"/>
                    <a:pt x="948895" y="41419"/>
                  </a:cubicBezTo>
                  <a:cubicBezTo>
                    <a:pt x="944344" y="45969"/>
                    <a:pt x="938173" y="48525"/>
                    <a:pt x="931738" y="48525"/>
                  </a:cubicBezTo>
                  <a:lnTo>
                    <a:pt x="24263" y="48525"/>
                  </a:lnTo>
                  <a:cubicBezTo>
                    <a:pt x="17828" y="48525"/>
                    <a:pt x="11657" y="45969"/>
                    <a:pt x="7106" y="41419"/>
                  </a:cubicBezTo>
                  <a:cubicBezTo>
                    <a:pt x="2556" y="36869"/>
                    <a:pt x="0" y="30698"/>
                    <a:pt x="0" y="24263"/>
                  </a:cubicBezTo>
                  <a:lnTo>
                    <a:pt x="0" y="24263"/>
                  </a:lnTo>
                  <a:cubicBezTo>
                    <a:pt x="0" y="17828"/>
                    <a:pt x="2556" y="11657"/>
                    <a:pt x="7106" y="7106"/>
                  </a:cubicBezTo>
                  <a:cubicBezTo>
                    <a:pt x="11657" y="2556"/>
                    <a:pt x="17828" y="0"/>
                    <a:pt x="24263" y="0"/>
                  </a:cubicBezTo>
                  <a:close/>
                </a:path>
              </a:pathLst>
            </a:custGeom>
            <a:solidFill>
              <a:srgbClr val="E98E2D">
                <a:alpha val="33725"/>
              </a:srgbClr>
            </a:solidFill>
          </p:spPr>
          <p:txBody>
            <a:bodyPr/>
            <a:lstStyle/>
            <a:p>
              <a:endParaRPr lang="fr-FR"/>
            </a:p>
          </p:txBody>
        </p:sp>
        <p:sp>
          <p:nvSpPr>
            <p:cNvPr id="6" name="TextBox 6"/>
            <p:cNvSpPr txBox="1"/>
            <p:nvPr/>
          </p:nvSpPr>
          <p:spPr>
            <a:xfrm>
              <a:off x="0" y="-38100"/>
              <a:ext cx="956001" cy="86625"/>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7"/>
          <p:cNvSpPr txBox="1"/>
          <p:nvPr/>
        </p:nvSpPr>
        <p:spPr>
          <a:xfrm>
            <a:off x="1162462" y="7981833"/>
            <a:ext cx="5216052" cy="349250"/>
          </a:xfrm>
          <a:prstGeom prst="rect">
            <a:avLst/>
          </a:prstGeom>
        </p:spPr>
        <p:txBody>
          <a:bodyPr lIns="0" tIns="0" rIns="0" bIns="0" rtlCol="0" anchor="t">
            <a:spAutoFit/>
          </a:bodyPr>
          <a:lstStyle/>
          <a:p>
            <a:pPr algn="ctr">
              <a:lnSpc>
                <a:spcPts val="2800"/>
              </a:lnSpc>
            </a:pPr>
            <a:r>
              <a:rPr lang="en-US" sz="2000">
                <a:solidFill>
                  <a:srgbClr val="000000"/>
                </a:solidFill>
                <a:latin typeface="Open Sans"/>
                <a:ea typeface="Open Sans"/>
                <a:cs typeface="Open Sans"/>
                <a:sym typeface="Open Sans"/>
              </a:rPr>
              <a:t>C’est ici que le </a:t>
            </a:r>
            <a:r>
              <a:rPr lang="en-US" sz="2000" b="1">
                <a:solidFill>
                  <a:srgbClr val="E98E2D"/>
                </a:solidFill>
                <a:latin typeface="Open Sans Bold"/>
                <a:ea typeface="Open Sans Bold"/>
                <a:cs typeface="Open Sans Bold"/>
                <a:sym typeface="Open Sans Bold"/>
              </a:rPr>
              <a:t>sourcing</a:t>
            </a:r>
            <a:r>
              <a:rPr lang="en-US" sz="2000">
                <a:solidFill>
                  <a:srgbClr val="000000"/>
                </a:solidFill>
                <a:latin typeface="Open Sans"/>
                <a:ea typeface="Open Sans"/>
                <a:cs typeface="Open Sans"/>
                <a:sym typeface="Open Sans"/>
              </a:rPr>
              <a:t> peut se trouver</a:t>
            </a:r>
          </a:p>
        </p:txBody>
      </p:sp>
      <p:grpSp>
        <p:nvGrpSpPr>
          <p:cNvPr id="8" name="Group 8"/>
          <p:cNvGrpSpPr/>
          <p:nvPr/>
        </p:nvGrpSpPr>
        <p:grpSpPr>
          <a:xfrm>
            <a:off x="11115063" y="5401962"/>
            <a:ext cx="125304" cy="1609536"/>
            <a:chOff x="0" y="0"/>
            <a:chExt cx="167072" cy="2146048"/>
          </a:xfrm>
        </p:grpSpPr>
        <p:sp>
          <p:nvSpPr>
            <p:cNvPr id="9" name="AutoShape 9"/>
            <p:cNvSpPr/>
            <p:nvPr/>
          </p:nvSpPr>
          <p:spPr>
            <a:xfrm>
              <a:off x="25399" y="207"/>
              <a:ext cx="17466" cy="2145634"/>
            </a:xfrm>
            <a:prstGeom prst="line">
              <a:avLst/>
            </a:prstGeom>
            <a:ln w="50800" cap="flat">
              <a:solidFill>
                <a:srgbClr val="000000"/>
              </a:solidFill>
              <a:prstDash val="solid"/>
              <a:headEnd type="none" w="sm" len="sm"/>
              <a:tailEnd type="none" w="sm" len="sm"/>
            </a:ln>
          </p:spPr>
          <p:txBody>
            <a:bodyPr/>
            <a:lstStyle/>
            <a:p>
              <a:endParaRPr lang="fr-FR"/>
            </a:p>
          </p:txBody>
        </p:sp>
        <p:sp>
          <p:nvSpPr>
            <p:cNvPr id="10" name="AutoShape 10"/>
            <p:cNvSpPr/>
            <p:nvPr/>
          </p:nvSpPr>
          <p:spPr>
            <a:xfrm flipV="1">
              <a:off x="25452" y="2120147"/>
              <a:ext cx="141567" cy="294"/>
            </a:xfrm>
            <a:prstGeom prst="line">
              <a:avLst/>
            </a:prstGeom>
            <a:ln w="50800" cap="flat">
              <a:solidFill>
                <a:srgbClr val="000000"/>
              </a:solidFill>
              <a:prstDash val="solid"/>
              <a:headEnd type="none" w="sm" len="sm"/>
              <a:tailEnd type="none" w="sm" len="sm"/>
            </a:ln>
          </p:spPr>
          <p:txBody>
            <a:bodyPr/>
            <a:lstStyle/>
            <a:p>
              <a:endParaRPr lang="fr-FR"/>
            </a:p>
          </p:txBody>
        </p:sp>
        <p:sp>
          <p:nvSpPr>
            <p:cNvPr id="11" name="AutoShape 11"/>
            <p:cNvSpPr/>
            <p:nvPr/>
          </p:nvSpPr>
          <p:spPr>
            <a:xfrm flipV="1">
              <a:off x="25350" y="25607"/>
              <a:ext cx="141567" cy="294"/>
            </a:xfrm>
            <a:prstGeom prst="line">
              <a:avLst/>
            </a:prstGeom>
            <a:ln w="50800" cap="flat">
              <a:solidFill>
                <a:srgbClr val="000000"/>
              </a:solidFill>
              <a:prstDash val="solid"/>
              <a:headEnd type="none" w="sm" len="sm"/>
              <a:tailEnd type="none" w="sm" len="sm"/>
            </a:ln>
          </p:spPr>
          <p:txBody>
            <a:bodyPr/>
            <a:lstStyle/>
            <a:p>
              <a:endParaRPr lang="fr-FR"/>
            </a:p>
          </p:txBody>
        </p:sp>
      </p:grpSp>
      <p:grpSp>
        <p:nvGrpSpPr>
          <p:cNvPr id="12" name="Group 12"/>
          <p:cNvGrpSpPr/>
          <p:nvPr/>
        </p:nvGrpSpPr>
        <p:grpSpPr>
          <a:xfrm>
            <a:off x="11115063" y="3422867"/>
            <a:ext cx="125304" cy="1609536"/>
            <a:chOff x="0" y="0"/>
            <a:chExt cx="167072" cy="2146048"/>
          </a:xfrm>
        </p:grpSpPr>
        <p:sp>
          <p:nvSpPr>
            <p:cNvPr id="13" name="AutoShape 13"/>
            <p:cNvSpPr/>
            <p:nvPr/>
          </p:nvSpPr>
          <p:spPr>
            <a:xfrm>
              <a:off x="25399" y="207"/>
              <a:ext cx="17466" cy="2145634"/>
            </a:xfrm>
            <a:prstGeom prst="line">
              <a:avLst/>
            </a:prstGeom>
            <a:ln w="50800" cap="flat">
              <a:solidFill>
                <a:srgbClr val="000000"/>
              </a:solidFill>
              <a:prstDash val="solid"/>
              <a:headEnd type="none" w="sm" len="sm"/>
              <a:tailEnd type="none" w="sm" len="sm"/>
            </a:ln>
          </p:spPr>
          <p:txBody>
            <a:bodyPr/>
            <a:lstStyle/>
            <a:p>
              <a:endParaRPr lang="fr-FR"/>
            </a:p>
          </p:txBody>
        </p:sp>
        <p:sp>
          <p:nvSpPr>
            <p:cNvPr id="14" name="AutoShape 14"/>
            <p:cNvSpPr/>
            <p:nvPr/>
          </p:nvSpPr>
          <p:spPr>
            <a:xfrm flipV="1">
              <a:off x="25452" y="2120147"/>
              <a:ext cx="141567" cy="294"/>
            </a:xfrm>
            <a:prstGeom prst="line">
              <a:avLst/>
            </a:prstGeom>
            <a:ln w="50800" cap="flat">
              <a:solidFill>
                <a:srgbClr val="000000"/>
              </a:solidFill>
              <a:prstDash val="solid"/>
              <a:headEnd type="none" w="sm" len="sm"/>
              <a:tailEnd type="none" w="sm" len="sm"/>
            </a:ln>
          </p:spPr>
          <p:txBody>
            <a:bodyPr/>
            <a:lstStyle/>
            <a:p>
              <a:endParaRPr lang="fr-FR"/>
            </a:p>
          </p:txBody>
        </p:sp>
        <p:sp>
          <p:nvSpPr>
            <p:cNvPr id="15" name="AutoShape 15"/>
            <p:cNvSpPr/>
            <p:nvPr/>
          </p:nvSpPr>
          <p:spPr>
            <a:xfrm flipV="1">
              <a:off x="25350" y="25607"/>
              <a:ext cx="141567" cy="294"/>
            </a:xfrm>
            <a:prstGeom prst="line">
              <a:avLst/>
            </a:prstGeom>
            <a:ln w="50800" cap="flat">
              <a:solidFill>
                <a:srgbClr val="000000"/>
              </a:solidFill>
              <a:prstDash val="solid"/>
              <a:headEnd type="none" w="sm" len="sm"/>
              <a:tailEnd type="none" w="sm" len="sm"/>
            </a:ln>
          </p:spPr>
          <p:txBody>
            <a:bodyPr/>
            <a:lstStyle/>
            <a:p>
              <a:endParaRPr lang="fr-FR"/>
            </a:p>
          </p:txBody>
        </p:sp>
      </p:grpSp>
      <p:grpSp>
        <p:nvGrpSpPr>
          <p:cNvPr id="16" name="Group 16"/>
          <p:cNvGrpSpPr/>
          <p:nvPr/>
        </p:nvGrpSpPr>
        <p:grpSpPr>
          <a:xfrm>
            <a:off x="11115025" y="7224845"/>
            <a:ext cx="125342" cy="2413978"/>
            <a:chOff x="0" y="0"/>
            <a:chExt cx="167122" cy="3218638"/>
          </a:xfrm>
        </p:grpSpPr>
        <p:sp>
          <p:nvSpPr>
            <p:cNvPr id="17" name="AutoShape 17"/>
            <p:cNvSpPr/>
            <p:nvPr/>
          </p:nvSpPr>
          <p:spPr>
            <a:xfrm flipH="1">
              <a:off x="25400" y="0"/>
              <a:ext cx="50" cy="3218637"/>
            </a:xfrm>
            <a:prstGeom prst="line">
              <a:avLst/>
            </a:prstGeom>
            <a:ln w="50800" cap="flat">
              <a:solidFill>
                <a:srgbClr val="000000"/>
              </a:solidFill>
              <a:prstDash val="solid"/>
              <a:headEnd type="none" w="sm" len="sm"/>
              <a:tailEnd type="none" w="sm" len="sm"/>
            </a:ln>
          </p:spPr>
          <p:txBody>
            <a:bodyPr/>
            <a:lstStyle/>
            <a:p>
              <a:endParaRPr lang="fr-FR"/>
            </a:p>
          </p:txBody>
        </p:sp>
        <p:sp>
          <p:nvSpPr>
            <p:cNvPr id="18" name="AutoShape 18"/>
            <p:cNvSpPr/>
            <p:nvPr/>
          </p:nvSpPr>
          <p:spPr>
            <a:xfrm flipV="1">
              <a:off x="25502" y="3192943"/>
              <a:ext cx="141567" cy="294"/>
            </a:xfrm>
            <a:prstGeom prst="line">
              <a:avLst/>
            </a:prstGeom>
            <a:ln w="50800" cap="flat">
              <a:solidFill>
                <a:srgbClr val="000000"/>
              </a:solidFill>
              <a:prstDash val="solid"/>
              <a:headEnd type="none" w="sm" len="sm"/>
              <a:tailEnd type="none" w="sm" len="sm"/>
            </a:ln>
          </p:spPr>
          <p:txBody>
            <a:bodyPr/>
            <a:lstStyle/>
            <a:p>
              <a:endParaRPr lang="fr-FR"/>
            </a:p>
          </p:txBody>
        </p:sp>
        <p:sp>
          <p:nvSpPr>
            <p:cNvPr id="19" name="AutoShape 19"/>
            <p:cNvSpPr/>
            <p:nvPr/>
          </p:nvSpPr>
          <p:spPr>
            <a:xfrm flipV="1">
              <a:off x="25400" y="25400"/>
              <a:ext cx="141567" cy="294"/>
            </a:xfrm>
            <a:prstGeom prst="line">
              <a:avLst/>
            </a:prstGeom>
            <a:ln w="50800" cap="flat">
              <a:solidFill>
                <a:srgbClr val="000000"/>
              </a:solidFill>
              <a:prstDash val="solid"/>
              <a:headEnd type="none" w="sm" len="sm"/>
              <a:tailEnd type="none" w="sm" len="sm"/>
            </a:ln>
          </p:spPr>
          <p:txBody>
            <a:bodyPr/>
            <a:lstStyle/>
            <a:p>
              <a:endParaRPr lang="fr-FR"/>
            </a:p>
          </p:txBody>
        </p:sp>
      </p:grpSp>
      <p:sp>
        <p:nvSpPr>
          <p:cNvPr id="20" name="AutoShape 20"/>
          <p:cNvSpPr/>
          <p:nvPr/>
        </p:nvSpPr>
        <p:spPr>
          <a:xfrm flipV="1">
            <a:off x="6217570" y="8189795"/>
            <a:ext cx="417138" cy="2659"/>
          </a:xfrm>
          <a:prstGeom prst="line">
            <a:avLst/>
          </a:prstGeom>
          <a:ln w="19050" cap="flat">
            <a:solidFill>
              <a:srgbClr val="000000"/>
            </a:solidFill>
            <a:prstDash val="solid"/>
            <a:headEnd type="none" w="sm" len="sm"/>
            <a:tailEnd type="triangle" w="lg" len="med"/>
          </a:ln>
        </p:spPr>
        <p:txBody>
          <a:bodyPr/>
          <a:lstStyle/>
          <a:p>
            <a:endParaRPr lang="fr-FR"/>
          </a:p>
        </p:txBody>
      </p:sp>
      <p:grpSp>
        <p:nvGrpSpPr>
          <p:cNvPr id="21" name="Group 21"/>
          <p:cNvGrpSpPr/>
          <p:nvPr/>
        </p:nvGrpSpPr>
        <p:grpSpPr>
          <a:xfrm>
            <a:off x="11115025" y="799339"/>
            <a:ext cx="125342" cy="2413978"/>
            <a:chOff x="0" y="0"/>
            <a:chExt cx="167122" cy="3218638"/>
          </a:xfrm>
        </p:grpSpPr>
        <p:sp>
          <p:nvSpPr>
            <p:cNvPr id="22" name="AutoShape 22"/>
            <p:cNvSpPr/>
            <p:nvPr/>
          </p:nvSpPr>
          <p:spPr>
            <a:xfrm flipH="1">
              <a:off x="25400" y="0"/>
              <a:ext cx="50" cy="3218637"/>
            </a:xfrm>
            <a:prstGeom prst="line">
              <a:avLst/>
            </a:prstGeom>
            <a:ln w="50800" cap="flat">
              <a:solidFill>
                <a:srgbClr val="000000"/>
              </a:solidFill>
              <a:prstDash val="solid"/>
              <a:headEnd type="none" w="sm" len="sm"/>
              <a:tailEnd type="none" w="sm" len="sm"/>
            </a:ln>
          </p:spPr>
          <p:txBody>
            <a:bodyPr/>
            <a:lstStyle/>
            <a:p>
              <a:endParaRPr lang="fr-FR"/>
            </a:p>
          </p:txBody>
        </p:sp>
        <p:sp>
          <p:nvSpPr>
            <p:cNvPr id="23" name="AutoShape 23"/>
            <p:cNvSpPr/>
            <p:nvPr/>
          </p:nvSpPr>
          <p:spPr>
            <a:xfrm flipV="1">
              <a:off x="25502" y="3192943"/>
              <a:ext cx="141567" cy="294"/>
            </a:xfrm>
            <a:prstGeom prst="line">
              <a:avLst/>
            </a:prstGeom>
            <a:ln w="50800" cap="flat">
              <a:solidFill>
                <a:srgbClr val="000000"/>
              </a:solidFill>
              <a:prstDash val="solid"/>
              <a:headEnd type="none" w="sm" len="sm"/>
              <a:tailEnd type="none" w="sm" len="sm"/>
            </a:ln>
          </p:spPr>
          <p:txBody>
            <a:bodyPr/>
            <a:lstStyle/>
            <a:p>
              <a:endParaRPr lang="fr-FR"/>
            </a:p>
          </p:txBody>
        </p:sp>
        <p:sp>
          <p:nvSpPr>
            <p:cNvPr id="24" name="AutoShape 24"/>
            <p:cNvSpPr/>
            <p:nvPr/>
          </p:nvSpPr>
          <p:spPr>
            <a:xfrm flipV="1">
              <a:off x="25400" y="25400"/>
              <a:ext cx="141567" cy="294"/>
            </a:xfrm>
            <a:prstGeom prst="line">
              <a:avLst/>
            </a:prstGeom>
            <a:ln w="50800" cap="flat">
              <a:solidFill>
                <a:srgbClr val="000000"/>
              </a:solidFill>
              <a:prstDash val="solid"/>
              <a:headEnd type="none" w="sm" len="sm"/>
              <a:tailEnd type="none" w="sm" len="sm"/>
            </a:ln>
          </p:spPr>
          <p:txBody>
            <a:bodyPr/>
            <a:lstStyle/>
            <a:p>
              <a:endParaRPr lang="fr-FR"/>
            </a:p>
          </p:txBody>
        </p:sp>
      </p:grpSp>
      <p:sp>
        <p:nvSpPr>
          <p:cNvPr id="25" name="TextBox 25"/>
          <p:cNvSpPr txBox="1"/>
          <p:nvPr/>
        </p:nvSpPr>
        <p:spPr>
          <a:xfrm>
            <a:off x="8009084" y="5971780"/>
            <a:ext cx="2826379" cy="422275"/>
          </a:xfrm>
          <a:prstGeom prst="rect">
            <a:avLst/>
          </a:prstGeom>
        </p:spPr>
        <p:txBody>
          <a:bodyPr lIns="0" tIns="0" rIns="0" bIns="0" rtlCol="0" anchor="t">
            <a:spAutoFit/>
          </a:bodyPr>
          <a:lstStyle/>
          <a:p>
            <a:pPr algn="r">
              <a:lnSpc>
                <a:spcPts val="3499"/>
              </a:lnSpc>
            </a:pPr>
            <a:r>
              <a:rPr lang="en-US" sz="2499">
                <a:solidFill>
                  <a:srgbClr val="000000"/>
                </a:solidFill>
                <a:latin typeface="Open Sauce"/>
                <a:ea typeface="Open Sauce"/>
                <a:cs typeface="Open Sauce"/>
                <a:sym typeface="Open Sauce"/>
              </a:rPr>
              <a:t>Substance</a:t>
            </a:r>
          </a:p>
        </p:txBody>
      </p:sp>
      <p:sp>
        <p:nvSpPr>
          <p:cNvPr id="26" name="TextBox 26"/>
          <p:cNvSpPr txBox="1"/>
          <p:nvPr/>
        </p:nvSpPr>
        <p:spPr>
          <a:xfrm>
            <a:off x="1028700" y="1104900"/>
            <a:ext cx="6747508" cy="1327150"/>
          </a:xfrm>
          <a:prstGeom prst="rect">
            <a:avLst/>
          </a:prstGeom>
        </p:spPr>
        <p:txBody>
          <a:bodyPr lIns="0" tIns="0" rIns="0" bIns="0" rtlCol="0" anchor="t">
            <a:spAutoFit/>
          </a:bodyPr>
          <a:lstStyle/>
          <a:p>
            <a:pPr algn="l">
              <a:lnSpc>
                <a:spcPts val="5150"/>
              </a:lnSpc>
            </a:pPr>
            <a:r>
              <a:rPr lang="en-US" sz="5000" b="1">
                <a:solidFill>
                  <a:srgbClr val="000000"/>
                </a:solidFill>
                <a:latin typeface="Open Sauce Bold"/>
                <a:ea typeface="Open Sauce Bold"/>
                <a:cs typeface="Open Sauce Bold"/>
                <a:sym typeface="Open Sauce Bold"/>
              </a:rPr>
              <a:t>Contexte : structure</a:t>
            </a:r>
          </a:p>
          <a:p>
            <a:pPr algn="l">
              <a:lnSpc>
                <a:spcPts val="5150"/>
              </a:lnSpc>
            </a:pPr>
            <a:r>
              <a:rPr lang="en-US" sz="5000" b="1">
                <a:solidFill>
                  <a:srgbClr val="000000"/>
                </a:solidFill>
                <a:latin typeface="Open Sauce Bold"/>
                <a:ea typeface="Open Sauce Bold"/>
                <a:cs typeface="Open Sauce Bold"/>
                <a:sym typeface="Open Sauce Bold"/>
              </a:rPr>
              <a:t>d’un amendement</a:t>
            </a:r>
          </a:p>
        </p:txBody>
      </p:sp>
      <p:sp>
        <p:nvSpPr>
          <p:cNvPr id="27" name="TextBox 27"/>
          <p:cNvSpPr txBox="1"/>
          <p:nvPr/>
        </p:nvSpPr>
        <p:spPr>
          <a:xfrm>
            <a:off x="7600728" y="3990778"/>
            <a:ext cx="3234735" cy="422275"/>
          </a:xfrm>
          <a:prstGeom prst="rect">
            <a:avLst/>
          </a:prstGeom>
        </p:spPr>
        <p:txBody>
          <a:bodyPr lIns="0" tIns="0" rIns="0" bIns="0" rtlCol="0" anchor="t">
            <a:spAutoFit/>
          </a:bodyPr>
          <a:lstStyle/>
          <a:p>
            <a:pPr algn="r">
              <a:lnSpc>
                <a:spcPts val="3499"/>
              </a:lnSpc>
            </a:pPr>
            <a:r>
              <a:rPr lang="en-US" sz="2499">
                <a:solidFill>
                  <a:srgbClr val="000000"/>
                </a:solidFill>
                <a:latin typeface="Open Sauce"/>
                <a:ea typeface="Open Sauce"/>
                <a:cs typeface="Open Sauce"/>
                <a:sym typeface="Open Sauce"/>
              </a:rPr>
              <a:t>Autrices/Auteurs</a:t>
            </a:r>
          </a:p>
        </p:txBody>
      </p:sp>
      <p:sp>
        <p:nvSpPr>
          <p:cNvPr id="28" name="TextBox 28"/>
          <p:cNvSpPr txBox="1"/>
          <p:nvPr/>
        </p:nvSpPr>
        <p:spPr>
          <a:xfrm>
            <a:off x="6910994" y="7892655"/>
            <a:ext cx="3924469" cy="1057275"/>
          </a:xfrm>
          <a:prstGeom prst="rect">
            <a:avLst/>
          </a:prstGeom>
        </p:spPr>
        <p:txBody>
          <a:bodyPr lIns="0" tIns="0" rIns="0" bIns="0" rtlCol="0" anchor="t">
            <a:spAutoFit/>
          </a:bodyPr>
          <a:lstStyle/>
          <a:p>
            <a:pPr algn="r">
              <a:lnSpc>
                <a:spcPts val="4200"/>
              </a:lnSpc>
            </a:pPr>
            <a:r>
              <a:rPr lang="en-US" sz="3000" b="1">
                <a:solidFill>
                  <a:srgbClr val="000000"/>
                </a:solidFill>
                <a:latin typeface="Open Sauce Bold"/>
                <a:ea typeface="Open Sauce Bold"/>
                <a:cs typeface="Open Sauce Bold"/>
                <a:sym typeface="Open Sauce Bold"/>
              </a:rPr>
              <a:t>Exposé sommaire des motifs</a:t>
            </a:r>
          </a:p>
        </p:txBody>
      </p:sp>
      <p:sp>
        <p:nvSpPr>
          <p:cNvPr id="29" name="TextBox 29"/>
          <p:cNvSpPr txBox="1"/>
          <p:nvPr/>
        </p:nvSpPr>
        <p:spPr>
          <a:xfrm>
            <a:off x="8310858" y="1552303"/>
            <a:ext cx="2524604" cy="860425"/>
          </a:xfrm>
          <a:prstGeom prst="rect">
            <a:avLst/>
          </a:prstGeom>
        </p:spPr>
        <p:txBody>
          <a:bodyPr lIns="0" tIns="0" rIns="0" bIns="0" rtlCol="0" anchor="t">
            <a:spAutoFit/>
          </a:bodyPr>
          <a:lstStyle/>
          <a:p>
            <a:pPr algn="r">
              <a:lnSpc>
                <a:spcPts val="3499"/>
              </a:lnSpc>
            </a:pPr>
            <a:r>
              <a:rPr lang="en-US" sz="2499">
                <a:solidFill>
                  <a:srgbClr val="000000"/>
                </a:solidFill>
                <a:latin typeface="Open Sauce"/>
                <a:ea typeface="Open Sauce"/>
                <a:cs typeface="Open Sauce"/>
                <a:sym typeface="Open Sauce"/>
              </a:rPr>
              <a:t>Date, projet de loi, identifiants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327448" y="3180712"/>
            <a:ext cx="12984813" cy="2657475"/>
          </a:xfrm>
          <a:prstGeom prst="rect">
            <a:avLst/>
          </a:prstGeom>
        </p:spPr>
        <p:txBody>
          <a:bodyPr lIns="0" tIns="0" rIns="0" bIns="0" rtlCol="0" anchor="t">
            <a:spAutoFit/>
          </a:bodyPr>
          <a:lstStyle/>
          <a:p>
            <a:pPr marL="647700" lvl="1" indent="-323850" algn="l">
              <a:lnSpc>
                <a:spcPts val="4200"/>
              </a:lnSpc>
              <a:buFont typeface="Arial"/>
              <a:buChar char="•"/>
            </a:pPr>
            <a:r>
              <a:rPr lang="en-US" sz="3000">
                <a:solidFill>
                  <a:srgbClr val="000000"/>
                </a:solidFill>
                <a:latin typeface="Open Sauce"/>
                <a:ea typeface="Open Sauce"/>
                <a:cs typeface="Open Sauce"/>
                <a:sym typeface="Open Sauce"/>
              </a:rPr>
              <a:t>La pratique est-elle répandue ? (RQ1)</a:t>
            </a:r>
          </a:p>
          <a:p>
            <a:pPr algn="l">
              <a:lnSpc>
                <a:spcPts val="4200"/>
              </a:lnSpc>
            </a:pPr>
            <a:endParaRPr lang="en-US" sz="3000">
              <a:solidFill>
                <a:srgbClr val="000000"/>
              </a:solidFill>
              <a:latin typeface="Open Sauce"/>
              <a:ea typeface="Open Sauce"/>
              <a:cs typeface="Open Sauce"/>
              <a:sym typeface="Open Sauce"/>
            </a:endParaRPr>
          </a:p>
          <a:p>
            <a:pPr marL="647700" lvl="1" indent="-323850" algn="l">
              <a:lnSpc>
                <a:spcPts val="4200"/>
              </a:lnSpc>
              <a:buFont typeface="Arial"/>
              <a:buChar char="•"/>
            </a:pPr>
            <a:r>
              <a:rPr lang="en-US" sz="3000">
                <a:solidFill>
                  <a:srgbClr val="000000"/>
                </a:solidFill>
                <a:latin typeface="Open Sauce"/>
                <a:ea typeface="Open Sauce"/>
                <a:cs typeface="Open Sauce"/>
                <a:sym typeface="Open Sauce"/>
              </a:rPr>
              <a:t>La pratique est-elle uniforme entre les groupes politiques ? (RQ2)</a:t>
            </a:r>
          </a:p>
          <a:p>
            <a:pPr algn="l">
              <a:lnSpc>
                <a:spcPts val="4200"/>
              </a:lnSpc>
            </a:pPr>
            <a:endParaRPr lang="en-US" sz="3000">
              <a:solidFill>
                <a:srgbClr val="000000"/>
              </a:solidFill>
              <a:latin typeface="Open Sauce"/>
              <a:ea typeface="Open Sauce"/>
              <a:cs typeface="Open Sauce"/>
              <a:sym typeface="Open Sauce"/>
            </a:endParaRPr>
          </a:p>
          <a:p>
            <a:pPr marL="647700" lvl="1" indent="-323850" algn="l">
              <a:lnSpc>
                <a:spcPts val="4200"/>
              </a:lnSpc>
              <a:buFont typeface="Arial"/>
              <a:buChar char="•"/>
            </a:pPr>
            <a:r>
              <a:rPr lang="en-US" sz="3000">
                <a:solidFill>
                  <a:srgbClr val="000000"/>
                </a:solidFill>
                <a:latin typeface="Open Sauce"/>
                <a:ea typeface="Open Sauce"/>
                <a:cs typeface="Open Sauce"/>
                <a:sym typeface="Open Sauce"/>
              </a:rPr>
              <a:t>L'influence déclarée est-elle fructueuse ? (RQ3)</a:t>
            </a:r>
          </a:p>
        </p:txBody>
      </p:sp>
      <p:sp>
        <p:nvSpPr>
          <p:cNvPr id="3" name="TextBox 3"/>
          <p:cNvSpPr txBox="1"/>
          <p:nvPr/>
        </p:nvSpPr>
        <p:spPr>
          <a:xfrm>
            <a:off x="1028700" y="923925"/>
            <a:ext cx="8882565"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Questions de recherche</a:t>
            </a:r>
          </a:p>
        </p:txBody>
      </p:sp>
      <p:sp>
        <p:nvSpPr>
          <p:cNvPr id="4" name="TextBox 4"/>
          <p:cNvSpPr txBox="1"/>
          <p:nvPr/>
        </p:nvSpPr>
        <p:spPr>
          <a:xfrm>
            <a:off x="1115855" y="7231374"/>
            <a:ext cx="16056290" cy="1057275"/>
          </a:xfrm>
          <a:prstGeom prst="rect">
            <a:avLst/>
          </a:prstGeom>
        </p:spPr>
        <p:txBody>
          <a:bodyPr lIns="0" tIns="0" rIns="0" bIns="0" rtlCol="0" anchor="t">
            <a:spAutoFit/>
          </a:bodyPr>
          <a:lstStyle/>
          <a:p>
            <a:pPr algn="l">
              <a:lnSpc>
                <a:spcPts val="4200"/>
              </a:lnSpc>
            </a:pPr>
            <a:r>
              <a:rPr lang="en-US" sz="3000" u="sng">
                <a:solidFill>
                  <a:srgbClr val="000000"/>
                </a:solidFill>
                <a:latin typeface="Open Sauce"/>
                <a:ea typeface="Open Sauce"/>
                <a:cs typeface="Open Sauce"/>
                <a:sym typeface="Open Sauce"/>
              </a:rPr>
              <a:t>Méthodologiquement :</a:t>
            </a:r>
            <a:r>
              <a:rPr lang="en-US" sz="3000">
                <a:solidFill>
                  <a:srgbClr val="000000"/>
                </a:solidFill>
                <a:latin typeface="Open Sauce"/>
                <a:ea typeface="Open Sauce"/>
                <a:cs typeface="Open Sauce"/>
                <a:sym typeface="Open Sauce"/>
              </a:rPr>
              <a:t> Peut-on identifier les amendements sourcés sur un large corpus en fine-tunant un modèle de type </a:t>
            </a:r>
            <a:r>
              <a:rPr lang="en-US" sz="3000" b="1">
                <a:solidFill>
                  <a:srgbClr val="000000"/>
                </a:solidFill>
                <a:latin typeface="Open Sauce Bold"/>
                <a:ea typeface="Open Sauce Bold"/>
                <a:cs typeface="Open Sauce Bold"/>
                <a:sym typeface="Open Sauce Bold"/>
              </a:rPr>
              <a:t>encoder</a:t>
            </a:r>
            <a:r>
              <a:rPr lang="en-US" sz="3000">
                <a:solidFill>
                  <a:srgbClr val="000000"/>
                </a:solidFill>
                <a:latin typeface="Open Sauce"/>
                <a:ea typeface="Open Sauce"/>
                <a:cs typeface="Open Sauce"/>
                <a:sym typeface="Open Sauce"/>
              </a:rPr>
              <a:t> à partir d'un </a:t>
            </a:r>
            <a:r>
              <a:rPr lang="en-US" sz="3000" b="1">
                <a:solidFill>
                  <a:srgbClr val="000000"/>
                </a:solidFill>
                <a:latin typeface="Open Sauce Bold"/>
                <a:ea typeface="Open Sauce Bold"/>
                <a:cs typeface="Open Sauce Bold"/>
                <a:sym typeface="Open Sauce Bold"/>
              </a:rPr>
              <a:t>nombre limité d'annotations</a:t>
            </a:r>
            <a:r>
              <a:rPr lang="en-US" sz="3000">
                <a:solidFill>
                  <a:srgbClr val="000000"/>
                </a:solidFill>
                <a:latin typeface="Open Sauce"/>
                <a:ea typeface="Open Sauce"/>
                <a:cs typeface="Open Sauce"/>
                <a:sym typeface="Open Sauce"/>
              </a:rPr>
              <a:t>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498151" y="3737225"/>
            <a:ext cx="6301966" cy="3917722"/>
          </a:xfrm>
          <a:custGeom>
            <a:avLst/>
            <a:gdLst/>
            <a:ahLst/>
            <a:cxnLst/>
            <a:rect l="l" t="t" r="r" b="b"/>
            <a:pathLst>
              <a:path w="6301966" h="3917722">
                <a:moveTo>
                  <a:pt x="0" y="0"/>
                </a:moveTo>
                <a:lnTo>
                  <a:pt x="6301966" y="0"/>
                </a:lnTo>
                <a:lnTo>
                  <a:pt x="6301966" y="3917723"/>
                </a:lnTo>
                <a:lnTo>
                  <a:pt x="0" y="3917723"/>
                </a:lnTo>
                <a:lnTo>
                  <a:pt x="0" y="0"/>
                </a:lnTo>
                <a:close/>
              </a:path>
            </a:pathLst>
          </a:custGeom>
          <a:blipFill>
            <a:blip r:embed="rId3"/>
            <a:stretch>
              <a:fillRect/>
            </a:stretch>
          </a:blipFill>
        </p:spPr>
        <p:txBody>
          <a:bodyPr/>
          <a:lstStyle/>
          <a:p>
            <a:endParaRPr lang="fr-FR"/>
          </a:p>
        </p:txBody>
      </p:sp>
      <p:sp>
        <p:nvSpPr>
          <p:cNvPr id="3" name="TextBox 3"/>
          <p:cNvSpPr txBox="1"/>
          <p:nvPr/>
        </p:nvSpPr>
        <p:spPr>
          <a:xfrm>
            <a:off x="1028700" y="2223966"/>
            <a:ext cx="16518261" cy="1035141"/>
          </a:xfrm>
          <a:prstGeom prst="rect">
            <a:avLst/>
          </a:prstGeom>
        </p:spPr>
        <p:txBody>
          <a:bodyPr lIns="0" tIns="0" rIns="0" bIns="0" rtlCol="0" anchor="t">
            <a:spAutoFit/>
          </a:bodyPr>
          <a:lstStyle/>
          <a:p>
            <a:pPr algn="l">
              <a:lnSpc>
                <a:spcPts val="4199"/>
              </a:lnSpc>
            </a:pPr>
            <a:r>
              <a:rPr lang="en-US" sz="2999">
                <a:solidFill>
                  <a:srgbClr val="000000"/>
                </a:solidFill>
                <a:latin typeface="Open Sauce"/>
                <a:ea typeface="Open Sauce"/>
                <a:cs typeface="Open Sauce"/>
                <a:sym typeface="Open Sauce"/>
              </a:rPr>
              <a:t>Ensemble des amendements de la XVIIème législature de l’Assemblée Nationale (AN) jusqu’au 21-07-2026.</a:t>
            </a:r>
          </a:p>
        </p:txBody>
      </p:sp>
      <p:sp>
        <p:nvSpPr>
          <p:cNvPr id="4" name="TextBox 4"/>
          <p:cNvSpPr txBox="1"/>
          <p:nvPr/>
        </p:nvSpPr>
        <p:spPr>
          <a:xfrm>
            <a:off x="1028700" y="923925"/>
            <a:ext cx="4300954"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Données</a:t>
            </a:r>
          </a:p>
        </p:txBody>
      </p:sp>
      <p:sp>
        <p:nvSpPr>
          <p:cNvPr id="5" name="TextBox 5"/>
          <p:cNvSpPr txBox="1"/>
          <p:nvPr/>
        </p:nvSpPr>
        <p:spPr>
          <a:xfrm>
            <a:off x="2458560" y="3837086"/>
            <a:ext cx="6505099" cy="1057275"/>
          </a:xfrm>
          <a:prstGeom prst="rect">
            <a:avLst/>
          </a:prstGeom>
        </p:spPr>
        <p:txBody>
          <a:bodyPr lIns="0" tIns="0" rIns="0" bIns="0" rtlCol="0" anchor="t">
            <a:spAutoFit/>
          </a:bodyPr>
          <a:lstStyle/>
          <a:p>
            <a:pPr algn="l">
              <a:lnSpc>
                <a:spcPts val="4200"/>
              </a:lnSpc>
              <a:spcBef>
                <a:spcPct val="0"/>
              </a:spcBef>
            </a:pPr>
            <a:r>
              <a:rPr lang="en-US" sz="3000" b="1">
                <a:solidFill>
                  <a:srgbClr val="000000"/>
                </a:solidFill>
                <a:latin typeface="Open Sauce Bold"/>
                <a:ea typeface="Open Sauce Bold"/>
                <a:cs typeface="Open Sauce Bold"/>
                <a:sym typeface="Open Sauce Bold"/>
              </a:rPr>
              <a:t>n_original = 123 224 amendements</a:t>
            </a:r>
          </a:p>
          <a:p>
            <a:pPr algn="l">
              <a:lnSpc>
                <a:spcPts val="4200"/>
              </a:lnSpc>
              <a:spcBef>
                <a:spcPct val="0"/>
              </a:spcBef>
            </a:pPr>
            <a:r>
              <a:rPr lang="en-US" sz="3000" b="1">
                <a:solidFill>
                  <a:srgbClr val="000000"/>
                </a:solidFill>
                <a:latin typeface="Open Sauce Bold"/>
                <a:ea typeface="Open Sauce Bold"/>
                <a:cs typeface="Open Sauce Bold"/>
                <a:sym typeface="Open Sauce Bold"/>
              </a:rPr>
              <a:t>n_clean = 65 388 amendements </a:t>
            </a:r>
          </a:p>
        </p:txBody>
      </p:sp>
      <p:sp>
        <p:nvSpPr>
          <p:cNvPr id="6" name="TextBox 6"/>
          <p:cNvSpPr txBox="1"/>
          <p:nvPr/>
        </p:nvSpPr>
        <p:spPr>
          <a:xfrm>
            <a:off x="1028700" y="5629411"/>
            <a:ext cx="8650904" cy="15906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Retirer les variables inutiles, les amendements dont l’exposé sommaire est vide, les </a:t>
            </a:r>
            <a:r>
              <a:rPr lang="en-US" sz="3000" u="sng">
                <a:solidFill>
                  <a:srgbClr val="000000"/>
                </a:solidFill>
                <a:latin typeface="Open Sauce"/>
                <a:ea typeface="Open Sauce"/>
                <a:cs typeface="Open Sauce"/>
                <a:sym typeface="Open Sauce"/>
              </a:rPr>
              <a:t>duplicats</a:t>
            </a:r>
            <a:r>
              <a:rPr lang="en-US" sz="3000">
                <a:solidFill>
                  <a:srgbClr val="000000"/>
                </a:solidFill>
                <a:latin typeface="Open Sauce"/>
                <a:ea typeface="Open Sauce"/>
                <a:cs typeface="Open Sauce"/>
                <a:sym typeface="Open Sauce"/>
              </a:rPr>
              <a:t>, les </a:t>
            </a:r>
            <a:r>
              <a:rPr lang="en-US" sz="3000" u="sng">
                <a:solidFill>
                  <a:srgbClr val="000000"/>
                </a:solidFill>
                <a:latin typeface="Open Sauce"/>
                <a:ea typeface="Open Sauce"/>
                <a:cs typeface="Open Sauce"/>
                <a:sym typeface="Open Sauce"/>
              </a:rPr>
              <a:t>amendements de +1024 tokens</a:t>
            </a:r>
            <a:r>
              <a:rPr lang="en-US" sz="3000">
                <a:solidFill>
                  <a:srgbClr val="000000"/>
                </a:solidFill>
                <a:latin typeface="Open Sauce"/>
                <a:ea typeface="Open Sauce"/>
                <a:cs typeface="Open Sauce"/>
                <a:sym typeface="Open Sauce"/>
              </a:rPr>
              <a:t>.</a:t>
            </a:r>
          </a:p>
        </p:txBody>
      </p:sp>
      <p:grpSp>
        <p:nvGrpSpPr>
          <p:cNvPr id="7" name="Group 7"/>
          <p:cNvGrpSpPr/>
          <p:nvPr/>
        </p:nvGrpSpPr>
        <p:grpSpPr>
          <a:xfrm>
            <a:off x="1756178" y="7316917"/>
            <a:ext cx="347639" cy="504566"/>
            <a:chOff x="0" y="0"/>
            <a:chExt cx="463519" cy="672755"/>
          </a:xfrm>
        </p:grpSpPr>
        <p:sp>
          <p:nvSpPr>
            <p:cNvPr id="8" name="AutoShape 8"/>
            <p:cNvSpPr/>
            <p:nvPr/>
          </p:nvSpPr>
          <p:spPr>
            <a:xfrm>
              <a:off x="0" y="647355"/>
              <a:ext cx="463519" cy="0"/>
            </a:xfrm>
            <a:prstGeom prst="line">
              <a:avLst/>
            </a:prstGeom>
            <a:ln w="50800" cap="flat">
              <a:solidFill>
                <a:srgbClr val="000000"/>
              </a:solidFill>
              <a:prstDash val="solid"/>
              <a:headEnd type="none" w="sm" len="sm"/>
              <a:tailEnd type="triangle" w="lg" len="med"/>
            </a:ln>
          </p:spPr>
          <p:txBody>
            <a:bodyPr/>
            <a:lstStyle/>
            <a:p>
              <a:endParaRPr lang="fr-FR"/>
            </a:p>
          </p:txBody>
        </p:sp>
        <p:sp>
          <p:nvSpPr>
            <p:cNvPr id="9" name="AutoShape 9"/>
            <p:cNvSpPr/>
            <p:nvPr/>
          </p:nvSpPr>
          <p:spPr>
            <a:xfrm flipV="1">
              <a:off x="25400" y="24"/>
              <a:ext cx="616" cy="647331"/>
            </a:xfrm>
            <a:prstGeom prst="line">
              <a:avLst/>
            </a:prstGeom>
            <a:ln w="50800" cap="flat">
              <a:solidFill>
                <a:srgbClr val="000000"/>
              </a:solidFill>
              <a:prstDash val="solid"/>
              <a:headEnd type="none" w="sm" len="sm"/>
              <a:tailEnd type="none" w="sm" len="sm"/>
            </a:ln>
          </p:spPr>
          <p:txBody>
            <a:bodyPr/>
            <a:lstStyle/>
            <a:p>
              <a:endParaRPr lang="fr-FR"/>
            </a:p>
          </p:txBody>
        </p:sp>
      </p:grpSp>
      <p:sp>
        <p:nvSpPr>
          <p:cNvPr id="10" name="TextBox 10"/>
          <p:cNvSpPr txBox="1"/>
          <p:nvPr/>
        </p:nvSpPr>
        <p:spPr>
          <a:xfrm>
            <a:off x="1851428" y="7561112"/>
            <a:ext cx="2452027" cy="1298575"/>
          </a:xfrm>
          <a:prstGeom prst="rect">
            <a:avLst/>
          </a:prstGeom>
        </p:spPr>
        <p:txBody>
          <a:bodyPr lIns="0" tIns="0" rIns="0" bIns="0" rtlCol="0" anchor="t">
            <a:spAutoFit/>
          </a:bodyPr>
          <a:lstStyle/>
          <a:p>
            <a:pPr algn="ctr">
              <a:lnSpc>
                <a:spcPts val="3499"/>
              </a:lnSpc>
              <a:spcBef>
                <a:spcPct val="0"/>
              </a:spcBef>
            </a:pPr>
            <a:r>
              <a:rPr lang="en-US" sz="2499">
                <a:solidFill>
                  <a:srgbClr val="000000"/>
                </a:solidFill>
                <a:latin typeface="Open Sauce"/>
                <a:ea typeface="Open Sauce"/>
                <a:cs typeface="Open Sauce"/>
                <a:sym typeface="Open Sauce"/>
              </a:rPr>
              <a:t>éviter les annotations contradictoires</a:t>
            </a:r>
          </a:p>
        </p:txBody>
      </p:sp>
      <p:grpSp>
        <p:nvGrpSpPr>
          <p:cNvPr id="11" name="Group 11"/>
          <p:cNvGrpSpPr/>
          <p:nvPr/>
        </p:nvGrpSpPr>
        <p:grpSpPr>
          <a:xfrm>
            <a:off x="6276428" y="7316917"/>
            <a:ext cx="347639" cy="504566"/>
            <a:chOff x="0" y="0"/>
            <a:chExt cx="463519" cy="672755"/>
          </a:xfrm>
        </p:grpSpPr>
        <p:sp>
          <p:nvSpPr>
            <p:cNvPr id="12" name="AutoShape 12"/>
            <p:cNvSpPr/>
            <p:nvPr/>
          </p:nvSpPr>
          <p:spPr>
            <a:xfrm>
              <a:off x="0" y="647355"/>
              <a:ext cx="463519" cy="0"/>
            </a:xfrm>
            <a:prstGeom prst="line">
              <a:avLst/>
            </a:prstGeom>
            <a:ln w="50800" cap="flat">
              <a:solidFill>
                <a:srgbClr val="000000"/>
              </a:solidFill>
              <a:prstDash val="solid"/>
              <a:headEnd type="none" w="sm" len="sm"/>
              <a:tailEnd type="triangle" w="lg" len="med"/>
            </a:ln>
          </p:spPr>
          <p:txBody>
            <a:bodyPr/>
            <a:lstStyle/>
            <a:p>
              <a:endParaRPr lang="fr-FR"/>
            </a:p>
          </p:txBody>
        </p:sp>
        <p:sp>
          <p:nvSpPr>
            <p:cNvPr id="13" name="AutoShape 13"/>
            <p:cNvSpPr/>
            <p:nvPr/>
          </p:nvSpPr>
          <p:spPr>
            <a:xfrm flipV="1">
              <a:off x="25400" y="24"/>
              <a:ext cx="616" cy="647331"/>
            </a:xfrm>
            <a:prstGeom prst="line">
              <a:avLst/>
            </a:prstGeom>
            <a:ln w="50800" cap="flat">
              <a:solidFill>
                <a:srgbClr val="000000"/>
              </a:solidFill>
              <a:prstDash val="solid"/>
              <a:headEnd type="none" w="sm" len="sm"/>
              <a:tailEnd type="none" w="sm" len="sm"/>
            </a:ln>
          </p:spPr>
          <p:txBody>
            <a:bodyPr/>
            <a:lstStyle/>
            <a:p>
              <a:endParaRPr lang="fr-FR"/>
            </a:p>
          </p:txBody>
        </p:sp>
      </p:grpSp>
      <p:sp>
        <p:nvSpPr>
          <p:cNvPr id="14" name="TextBox 14"/>
          <p:cNvSpPr txBox="1"/>
          <p:nvPr/>
        </p:nvSpPr>
        <p:spPr>
          <a:xfrm>
            <a:off x="6109799" y="7521575"/>
            <a:ext cx="3178032" cy="1736725"/>
          </a:xfrm>
          <a:prstGeom prst="rect">
            <a:avLst/>
          </a:prstGeom>
        </p:spPr>
        <p:txBody>
          <a:bodyPr lIns="0" tIns="0" rIns="0" bIns="0" rtlCol="0" anchor="t">
            <a:spAutoFit/>
          </a:bodyPr>
          <a:lstStyle/>
          <a:p>
            <a:pPr algn="ctr">
              <a:lnSpc>
                <a:spcPts val="3499"/>
              </a:lnSpc>
            </a:pPr>
            <a:r>
              <a:rPr lang="en-US" sz="2499">
                <a:solidFill>
                  <a:srgbClr val="000000"/>
                </a:solidFill>
                <a:latin typeface="Open Sauce"/>
                <a:ea typeface="Open Sauce"/>
                <a:cs typeface="Open Sauce"/>
                <a:sym typeface="Open Sauce"/>
              </a:rPr>
              <a:t>fenêtre de </a:t>
            </a:r>
          </a:p>
          <a:p>
            <a:pPr algn="ctr">
              <a:lnSpc>
                <a:spcPts val="3499"/>
              </a:lnSpc>
              <a:spcBef>
                <a:spcPct val="0"/>
              </a:spcBef>
            </a:pPr>
            <a:r>
              <a:rPr lang="en-US" sz="2499">
                <a:solidFill>
                  <a:srgbClr val="000000"/>
                </a:solidFill>
                <a:latin typeface="Open Sauce"/>
                <a:ea typeface="Open Sauce"/>
                <a:cs typeface="Open Sauce"/>
                <a:sym typeface="Open Sauce"/>
              </a:rPr>
              <a:t>contexte maximale recommandée sur l’instance CREST </a:t>
            </a:r>
          </a:p>
        </p:txBody>
      </p:sp>
      <p:sp>
        <p:nvSpPr>
          <p:cNvPr id="15" name="TextBox 15"/>
          <p:cNvSpPr txBox="1"/>
          <p:nvPr/>
        </p:nvSpPr>
        <p:spPr>
          <a:xfrm>
            <a:off x="10627001" y="7773858"/>
            <a:ext cx="3178032" cy="422275"/>
          </a:xfrm>
          <a:prstGeom prst="rect">
            <a:avLst/>
          </a:prstGeom>
        </p:spPr>
        <p:txBody>
          <a:bodyPr lIns="0" tIns="0" rIns="0" bIns="0" rtlCol="0" anchor="t">
            <a:spAutoFit/>
          </a:bodyPr>
          <a:lstStyle/>
          <a:p>
            <a:pPr algn="ctr">
              <a:lnSpc>
                <a:spcPts val="3499"/>
              </a:lnSpc>
              <a:spcBef>
                <a:spcPct val="0"/>
              </a:spcBef>
            </a:pPr>
            <a:r>
              <a:rPr lang="en-US" sz="2499">
                <a:solidFill>
                  <a:srgbClr val="000000"/>
                </a:solidFill>
                <a:latin typeface="Open Sauce"/>
                <a:ea typeface="Open Sauce"/>
                <a:cs typeface="Open Sauce"/>
                <a:sym typeface="Open Sauce"/>
              </a:rPr>
              <a:t>identifiant unique </a:t>
            </a:r>
          </a:p>
        </p:txBody>
      </p:sp>
      <p:sp>
        <p:nvSpPr>
          <p:cNvPr id="16" name="TextBox 16"/>
          <p:cNvSpPr txBox="1"/>
          <p:nvPr/>
        </p:nvSpPr>
        <p:spPr>
          <a:xfrm>
            <a:off x="13649134" y="7773858"/>
            <a:ext cx="3178032" cy="422275"/>
          </a:xfrm>
          <a:prstGeom prst="rect">
            <a:avLst/>
          </a:prstGeom>
        </p:spPr>
        <p:txBody>
          <a:bodyPr lIns="0" tIns="0" rIns="0" bIns="0" rtlCol="0" anchor="t">
            <a:spAutoFit/>
          </a:bodyPr>
          <a:lstStyle/>
          <a:p>
            <a:pPr algn="ctr">
              <a:lnSpc>
                <a:spcPts val="3499"/>
              </a:lnSpc>
              <a:spcBef>
                <a:spcPct val="0"/>
              </a:spcBef>
            </a:pPr>
            <a:r>
              <a:rPr lang="en-US" sz="2499">
                <a:solidFill>
                  <a:srgbClr val="000000"/>
                </a:solidFill>
                <a:latin typeface="Open Sauce"/>
                <a:ea typeface="Open Sauce"/>
                <a:cs typeface="Open Sauce"/>
                <a:sym typeface="Open Sauce"/>
              </a:rPr>
              <a:t>texte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2"/>
          <p:cNvSpPr txBox="1"/>
          <p:nvPr/>
        </p:nvSpPr>
        <p:spPr>
          <a:xfrm>
            <a:off x="1028700" y="2119917"/>
            <a:ext cx="16922206" cy="481330"/>
          </a:xfrm>
          <a:prstGeom prst="rect">
            <a:avLst/>
          </a:prstGeom>
        </p:spPr>
        <p:txBody>
          <a:bodyPr lIns="0" tIns="0" rIns="0" bIns="0" rtlCol="0" anchor="t">
            <a:spAutoFit/>
          </a:bodyPr>
          <a:lstStyle/>
          <a:p>
            <a:pPr algn="l">
              <a:lnSpc>
                <a:spcPts val="3920"/>
              </a:lnSpc>
            </a:pPr>
            <a:r>
              <a:rPr lang="en-US" sz="2800">
                <a:solidFill>
                  <a:srgbClr val="000000"/>
                </a:solidFill>
                <a:latin typeface="Open Sauce"/>
                <a:ea typeface="Open Sauce"/>
                <a:cs typeface="Open Sauce"/>
                <a:sym typeface="Open Sauce"/>
              </a:rPr>
              <a:t>Annoter les phrases ou les amendements ? Cinq questions pour nous aider (cf. FAQ) : </a:t>
            </a:r>
          </a:p>
        </p:txBody>
      </p:sp>
      <p:sp>
        <p:nvSpPr>
          <p:cNvPr id="3" name="TextBox 3"/>
          <p:cNvSpPr txBox="1"/>
          <p:nvPr/>
        </p:nvSpPr>
        <p:spPr>
          <a:xfrm>
            <a:off x="1028700" y="923925"/>
            <a:ext cx="13599694"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Focus Données : quelle échelle choisir ?</a:t>
            </a:r>
          </a:p>
        </p:txBody>
      </p:sp>
      <p:sp>
        <p:nvSpPr>
          <p:cNvPr id="4" name="TextBox 4"/>
          <p:cNvSpPr txBox="1"/>
          <p:nvPr/>
        </p:nvSpPr>
        <p:spPr>
          <a:xfrm>
            <a:off x="1028700" y="3109371"/>
            <a:ext cx="16327877" cy="5458460"/>
          </a:xfrm>
          <a:prstGeom prst="rect">
            <a:avLst/>
          </a:prstGeom>
        </p:spPr>
        <p:txBody>
          <a:bodyPr lIns="0" tIns="0" rIns="0" bIns="0" rtlCol="0" anchor="t">
            <a:spAutoFit/>
          </a:bodyPr>
          <a:lstStyle/>
          <a:p>
            <a:pPr algn="l">
              <a:lnSpc>
                <a:spcPts val="3640"/>
              </a:lnSpc>
            </a:pPr>
            <a:r>
              <a:rPr lang="en-US" sz="2600">
                <a:solidFill>
                  <a:srgbClr val="000000"/>
                </a:solidFill>
                <a:latin typeface="Open Sauce"/>
                <a:ea typeface="Open Sauce"/>
                <a:cs typeface="Open Sauce"/>
                <a:sym typeface="Open Sauce"/>
              </a:rPr>
              <a:t>  </a:t>
            </a:r>
            <a:r>
              <a:rPr lang="en-US" sz="2600" b="1">
                <a:solidFill>
                  <a:srgbClr val="000000"/>
                </a:solidFill>
                <a:latin typeface="Open Sauce Bold"/>
                <a:ea typeface="Open Sauce Bold"/>
                <a:cs typeface="Open Sauce Bold"/>
                <a:sym typeface="Open Sauce Bold"/>
              </a:rPr>
              <a:t> </a:t>
            </a:r>
            <a:r>
              <a:rPr lang="en-US" sz="2600">
                <a:solidFill>
                  <a:srgbClr val="000000"/>
                </a:solidFill>
                <a:latin typeface="Open Sauce"/>
                <a:ea typeface="Open Sauce"/>
                <a:cs typeface="Open Sauce"/>
                <a:sym typeface="Open Sauce"/>
              </a:rPr>
              <a:t>1. </a:t>
            </a:r>
            <a:r>
              <a:rPr lang="en-US" sz="2600" b="1">
                <a:solidFill>
                  <a:srgbClr val="E98E2D"/>
                </a:solidFill>
                <a:latin typeface="Open Sauce Bold"/>
                <a:ea typeface="Open Sauce Bold"/>
                <a:cs typeface="Open Sauce Bold"/>
                <a:sym typeface="Open Sauce Bold"/>
              </a:rPr>
              <a:t>Objet de la recherche ?</a:t>
            </a:r>
            <a:r>
              <a:rPr lang="en-US" sz="2600">
                <a:solidFill>
                  <a:srgbClr val="E98E2D"/>
                </a:solidFill>
                <a:latin typeface="Open Sauce"/>
                <a:ea typeface="Open Sauce"/>
                <a:cs typeface="Open Sauce"/>
                <a:sym typeface="Open Sauce"/>
              </a:rPr>
              <a:t> </a:t>
            </a:r>
            <a:r>
              <a:rPr lang="en-US" sz="2600">
                <a:solidFill>
                  <a:srgbClr val="000000"/>
                </a:solidFill>
                <a:latin typeface="Open Sauce"/>
                <a:ea typeface="Open Sauce"/>
                <a:cs typeface="Open Sauce"/>
                <a:sym typeface="Open Sauce"/>
              </a:rPr>
              <a:t>Présence d’un certain groupe de mots (∅ contexte). </a:t>
            </a:r>
          </a:p>
          <a:p>
            <a:pPr algn="l">
              <a:lnSpc>
                <a:spcPts val="3640"/>
              </a:lnSpc>
            </a:pPr>
            <a:endParaRPr lang="en-US" sz="2600">
              <a:solidFill>
                <a:srgbClr val="000000"/>
              </a:solidFill>
              <a:latin typeface="Open Sauce"/>
              <a:ea typeface="Open Sauce"/>
              <a:cs typeface="Open Sauce"/>
              <a:sym typeface="Open Sauce"/>
            </a:endParaRPr>
          </a:p>
          <a:p>
            <a:pPr marL="561341" lvl="1" indent="-280670" algn="l">
              <a:lnSpc>
                <a:spcPts val="3640"/>
              </a:lnSpc>
              <a:buAutoNum type="arabicPeriod"/>
            </a:pPr>
            <a:r>
              <a:rPr lang="en-US" sz="2600" b="1">
                <a:solidFill>
                  <a:srgbClr val="E98E2D"/>
                </a:solidFill>
                <a:latin typeface="Open Sauce Bold"/>
                <a:ea typeface="Open Sauce Bold"/>
                <a:cs typeface="Open Sauce Bold"/>
                <a:sym typeface="Open Sauce Bold"/>
              </a:rPr>
              <a:t>Homogénéité thématique ?</a:t>
            </a:r>
            <a:r>
              <a:rPr lang="en-US" sz="2600">
                <a:solidFill>
                  <a:srgbClr val="000000"/>
                </a:solidFill>
                <a:latin typeface="Open Sauce"/>
                <a:ea typeface="Open Sauce"/>
                <a:cs typeface="Open Sauce"/>
                <a:sym typeface="Open Sauce"/>
              </a:rPr>
              <a:t> Oui. </a:t>
            </a:r>
          </a:p>
          <a:p>
            <a:pPr algn="l">
              <a:lnSpc>
                <a:spcPts val="3640"/>
              </a:lnSpc>
            </a:pPr>
            <a:endParaRPr lang="en-US" sz="2600">
              <a:solidFill>
                <a:srgbClr val="000000"/>
              </a:solidFill>
              <a:latin typeface="Open Sauce"/>
              <a:ea typeface="Open Sauce"/>
              <a:cs typeface="Open Sauce"/>
              <a:sym typeface="Open Sauce"/>
            </a:endParaRPr>
          </a:p>
          <a:p>
            <a:pPr marL="561341" lvl="1" indent="-280670" algn="l">
              <a:lnSpc>
                <a:spcPts val="3640"/>
              </a:lnSpc>
              <a:buAutoNum type="arabicPeriod"/>
            </a:pPr>
            <a:r>
              <a:rPr lang="en-US" sz="2600" b="1">
                <a:solidFill>
                  <a:srgbClr val="E98E2D"/>
                </a:solidFill>
                <a:latin typeface="Open Sauce Bold"/>
                <a:ea typeface="Open Sauce Bold"/>
                <a:cs typeface="Open Sauce Bold"/>
                <a:sym typeface="Open Sauce Bold"/>
              </a:rPr>
              <a:t>Distribution des labels ? </a:t>
            </a:r>
            <a:r>
              <a:rPr lang="en-US" sz="2600">
                <a:solidFill>
                  <a:srgbClr val="000000"/>
                </a:solidFill>
                <a:latin typeface="Open Sauce"/>
                <a:ea typeface="Open Sauce"/>
                <a:cs typeface="Open Sauce"/>
                <a:sym typeface="Open Sauce"/>
              </a:rPr>
              <a:t>“source” a une prévalence de 0,5-1% au niveau de la phrase contre 8,5-9% au niveau de l'amendement.  </a:t>
            </a:r>
          </a:p>
          <a:p>
            <a:pPr algn="l">
              <a:lnSpc>
                <a:spcPts val="3640"/>
              </a:lnSpc>
            </a:pPr>
            <a:endParaRPr lang="en-US" sz="2600">
              <a:solidFill>
                <a:srgbClr val="000000"/>
              </a:solidFill>
              <a:latin typeface="Open Sauce"/>
              <a:ea typeface="Open Sauce"/>
              <a:cs typeface="Open Sauce"/>
              <a:sym typeface="Open Sauce"/>
            </a:endParaRPr>
          </a:p>
          <a:p>
            <a:pPr marL="561341" lvl="1" indent="-280670" algn="l">
              <a:lnSpc>
                <a:spcPts val="3640"/>
              </a:lnSpc>
              <a:buAutoNum type="arabicPeriod"/>
            </a:pPr>
            <a:r>
              <a:rPr lang="en-US" sz="2600" b="1">
                <a:solidFill>
                  <a:srgbClr val="E98E2D"/>
                </a:solidFill>
                <a:latin typeface="Open Sauce Bold"/>
                <a:ea typeface="Open Sauce Bold"/>
                <a:cs typeface="Open Sauce Bold"/>
                <a:sym typeface="Open Sauce Bold"/>
              </a:rPr>
              <a:t>Modèle adapté aux données avec fenêtre de contexte appropriée ?</a:t>
            </a:r>
            <a:r>
              <a:rPr lang="en-US" sz="2600">
                <a:solidFill>
                  <a:srgbClr val="000000"/>
                </a:solidFill>
                <a:latin typeface="Open Sauce"/>
                <a:ea typeface="Open Sauce"/>
                <a:cs typeface="Open Sauce"/>
                <a:sym typeface="Open Sauce"/>
              </a:rPr>
              <a:t> Oui, des modèles en français contemporain existent jusqu’à 8k tokens. </a:t>
            </a:r>
          </a:p>
          <a:p>
            <a:pPr algn="l">
              <a:lnSpc>
                <a:spcPts val="3640"/>
              </a:lnSpc>
            </a:pPr>
            <a:endParaRPr lang="en-US" sz="2600">
              <a:solidFill>
                <a:srgbClr val="000000"/>
              </a:solidFill>
              <a:latin typeface="Open Sauce"/>
              <a:ea typeface="Open Sauce"/>
              <a:cs typeface="Open Sauce"/>
              <a:sym typeface="Open Sauce"/>
            </a:endParaRPr>
          </a:p>
          <a:p>
            <a:pPr marL="561341" lvl="1" indent="-280670" algn="l">
              <a:lnSpc>
                <a:spcPts val="3640"/>
              </a:lnSpc>
              <a:buAutoNum type="arabicPeriod"/>
            </a:pPr>
            <a:r>
              <a:rPr lang="en-US" sz="2600" b="1">
                <a:solidFill>
                  <a:srgbClr val="E98E2D"/>
                </a:solidFill>
                <a:latin typeface="Open Sauce Bold"/>
                <a:ea typeface="Open Sauce Bold"/>
                <a:cs typeface="Open Sauce Bold"/>
                <a:sym typeface="Open Sauce Bold"/>
              </a:rPr>
              <a:t>Puissance de calcul suffisante ?</a:t>
            </a:r>
            <a:r>
              <a:rPr lang="en-US" sz="2600">
                <a:solidFill>
                  <a:srgbClr val="000000"/>
                </a:solidFill>
                <a:latin typeface="Open Sauce"/>
                <a:ea typeface="Open Sauce"/>
                <a:cs typeface="Open Sauce"/>
                <a:sym typeface="Open Sauce"/>
              </a:rPr>
              <a:t> Sur l’instance CREST, max 1024 tokens recommandés. Seuls 664 amendements sont au dessus. </a:t>
            </a:r>
          </a:p>
        </p:txBody>
      </p:sp>
      <p:sp>
        <p:nvSpPr>
          <p:cNvPr id="5" name="TextBox 5"/>
          <p:cNvSpPr txBox="1"/>
          <p:nvPr/>
        </p:nvSpPr>
        <p:spPr>
          <a:xfrm>
            <a:off x="1028700" y="8901206"/>
            <a:ext cx="16230600" cy="481330"/>
          </a:xfrm>
          <a:prstGeom prst="rect">
            <a:avLst/>
          </a:prstGeom>
        </p:spPr>
        <p:txBody>
          <a:bodyPr lIns="0" tIns="0" rIns="0" bIns="0" rtlCol="0" anchor="t">
            <a:spAutoFit/>
          </a:bodyPr>
          <a:lstStyle/>
          <a:p>
            <a:pPr algn="r">
              <a:lnSpc>
                <a:spcPts val="3920"/>
              </a:lnSpc>
            </a:pPr>
            <a:r>
              <a:rPr lang="en-US" sz="2800">
                <a:solidFill>
                  <a:srgbClr val="000000"/>
                </a:solidFill>
                <a:latin typeface="Open Sauce"/>
                <a:ea typeface="Open Sauce"/>
                <a:cs typeface="Open Sauce"/>
                <a:sym typeface="Open Sauce"/>
              </a:rPr>
              <a:t>Le point 3 nous amène à choisir le niveau des </a:t>
            </a:r>
            <a:r>
              <a:rPr lang="en-US" sz="2800" b="1">
                <a:solidFill>
                  <a:srgbClr val="000000"/>
                </a:solidFill>
                <a:latin typeface="Open Sauce Bold"/>
                <a:ea typeface="Open Sauce Bold"/>
                <a:cs typeface="Open Sauce Bold"/>
                <a:sym typeface="Open Sauce Bold"/>
              </a:rPr>
              <a:t>amendements</a:t>
            </a:r>
            <a:r>
              <a:rPr lang="en-US" sz="2800">
                <a:solidFill>
                  <a:srgbClr val="000000"/>
                </a:solidFill>
                <a:latin typeface="Open Sauce"/>
                <a:ea typeface="Open Sauce"/>
                <a:cs typeface="Open Sauce"/>
                <a:sym typeface="Open Sauce"/>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Freeform 2"/>
          <p:cNvSpPr/>
          <p:nvPr/>
        </p:nvSpPr>
        <p:spPr>
          <a:xfrm>
            <a:off x="1028700" y="102870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3"/>
            <a:stretch>
              <a:fillRect/>
            </a:stretch>
          </a:blipFill>
        </p:spPr>
        <p:txBody>
          <a:bodyPr/>
          <a:lstStyle/>
          <a:p>
            <a:endParaRPr lang="fr-FR"/>
          </a:p>
        </p:txBody>
      </p:sp>
      <p:sp>
        <p:nvSpPr>
          <p:cNvPr id="3" name="Freeform 3"/>
          <p:cNvSpPr/>
          <p:nvPr/>
        </p:nvSpPr>
        <p:spPr>
          <a:xfrm>
            <a:off x="1028700" y="3853235"/>
            <a:ext cx="10295361" cy="5405065"/>
          </a:xfrm>
          <a:custGeom>
            <a:avLst/>
            <a:gdLst/>
            <a:ahLst/>
            <a:cxnLst/>
            <a:rect l="l" t="t" r="r" b="b"/>
            <a:pathLst>
              <a:path w="10295361" h="5405065">
                <a:moveTo>
                  <a:pt x="0" y="0"/>
                </a:moveTo>
                <a:lnTo>
                  <a:pt x="10295361" y="0"/>
                </a:lnTo>
                <a:lnTo>
                  <a:pt x="10295361" y="5405065"/>
                </a:lnTo>
                <a:lnTo>
                  <a:pt x="0" y="5405065"/>
                </a:lnTo>
                <a:lnTo>
                  <a:pt x="0" y="0"/>
                </a:lnTo>
                <a:close/>
              </a:path>
            </a:pathLst>
          </a:custGeom>
          <a:blipFill>
            <a:blip r:embed="rId4"/>
            <a:stretch>
              <a:fillRect/>
            </a:stretch>
          </a:blipFill>
        </p:spPr>
        <p:txBody>
          <a:bodyPr/>
          <a:lstStyle/>
          <a:p>
            <a:endParaRPr lang="fr-FR"/>
          </a:p>
        </p:txBody>
      </p:sp>
      <p:sp>
        <p:nvSpPr>
          <p:cNvPr id="4" name="Freeform 4"/>
          <p:cNvSpPr/>
          <p:nvPr/>
        </p:nvSpPr>
        <p:spPr>
          <a:xfrm>
            <a:off x="8151522" y="2274206"/>
            <a:ext cx="9320328" cy="4893172"/>
          </a:xfrm>
          <a:custGeom>
            <a:avLst/>
            <a:gdLst/>
            <a:ahLst/>
            <a:cxnLst/>
            <a:rect l="l" t="t" r="r" b="b"/>
            <a:pathLst>
              <a:path w="9320328" h="4893172">
                <a:moveTo>
                  <a:pt x="0" y="0"/>
                </a:moveTo>
                <a:lnTo>
                  <a:pt x="9320328" y="0"/>
                </a:lnTo>
                <a:lnTo>
                  <a:pt x="9320328" y="4893173"/>
                </a:lnTo>
                <a:lnTo>
                  <a:pt x="0" y="4893173"/>
                </a:lnTo>
                <a:lnTo>
                  <a:pt x="0" y="0"/>
                </a:lnTo>
                <a:close/>
              </a:path>
            </a:pathLst>
          </a:custGeom>
          <a:blipFill>
            <a:blip r:embed="rId5"/>
            <a:stretch>
              <a:fillRect/>
            </a:stretch>
          </a:blipFill>
        </p:spPr>
        <p:txBody>
          <a:bodyPr/>
          <a:lstStyle/>
          <a:p>
            <a:endParaRPr lang="fr-FR"/>
          </a:p>
        </p:txBody>
      </p:sp>
      <p:sp>
        <p:nvSpPr>
          <p:cNvPr id="5" name="Freeform 5"/>
          <p:cNvSpPr/>
          <p:nvPr/>
        </p:nvSpPr>
        <p:spPr>
          <a:xfrm>
            <a:off x="7133455" y="5967738"/>
            <a:ext cx="513207" cy="637524"/>
          </a:xfrm>
          <a:custGeom>
            <a:avLst/>
            <a:gdLst/>
            <a:ahLst/>
            <a:cxnLst/>
            <a:rect l="l" t="t" r="r" b="b"/>
            <a:pathLst>
              <a:path w="513207" h="637524">
                <a:moveTo>
                  <a:pt x="0" y="0"/>
                </a:moveTo>
                <a:lnTo>
                  <a:pt x="513207" y="0"/>
                </a:lnTo>
                <a:lnTo>
                  <a:pt x="513207" y="637524"/>
                </a:lnTo>
                <a:lnTo>
                  <a:pt x="0" y="637524"/>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fr-FR"/>
          </a:p>
        </p:txBody>
      </p:sp>
      <p:sp>
        <p:nvSpPr>
          <p:cNvPr id="6" name="TextBox 6"/>
          <p:cNvSpPr txBox="1"/>
          <p:nvPr/>
        </p:nvSpPr>
        <p:spPr>
          <a:xfrm>
            <a:off x="1929998" y="923925"/>
            <a:ext cx="13731468"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Étape 0 : se connecter à ActiveTigger</a:t>
            </a:r>
          </a:p>
        </p:txBody>
      </p:sp>
      <p:sp>
        <p:nvSpPr>
          <p:cNvPr id="7" name="TextBox 7"/>
          <p:cNvSpPr txBox="1"/>
          <p:nvPr/>
        </p:nvSpPr>
        <p:spPr>
          <a:xfrm>
            <a:off x="1161815" y="2217056"/>
            <a:ext cx="16518261" cy="508046"/>
          </a:xfrm>
          <a:prstGeom prst="rect">
            <a:avLst/>
          </a:prstGeom>
        </p:spPr>
        <p:txBody>
          <a:bodyPr lIns="0" tIns="0" rIns="0" bIns="0" rtlCol="0" anchor="t">
            <a:spAutoFit/>
          </a:bodyPr>
          <a:lstStyle/>
          <a:p>
            <a:pPr algn="l">
              <a:lnSpc>
                <a:spcPts val="4199"/>
              </a:lnSpc>
            </a:pPr>
            <a:r>
              <a:rPr lang="en-US" sz="2999">
                <a:solidFill>
                  <a:srgbClr val="000000"/>
                </a:solidFill>
                <a:latin typeface="Open Sauce"/>
                <a:ea typeface="Open Sauce"/>
                <a:cs typeface="Open Sauce"/>
                <a:sym typeface="Open Sauce"/>
              </a:rPr>
              <a:t>Adresse : app.activetigger.com</a:t>
            </a:r>
          </a:p>
        </p:txBody>
      </p:sp>
      <p:sp>
        <p:nvSpPr>
          <p:cNvPr id="8" name="TextBox 8"/>
          <p:cNvSpPr txBox="1"/>
          <p:nvPr/>
        </p:nvSpPr>
        <p:spPr>
          <a:xfrm>
            <a:off x="1161815" y="2793979"/>
            <a:ext cx="6484847" cy="508046"/>
          </a:xfrm>
          <a:prstGeom prst="rect">
            <a:avLst/>
          </a:prstGeom>
        </p:spPr>
        <p:txBody>
          <a:bodyPr lIns="0" tIns="0" rIns="0" bIns="0" rtlCol="0" anchor="t">
            <a:spAutoFit/>
          </a:bodyPr>
          <a:lstStyle/>
          <a:p>
            <a:pPr algn="l">
              <a:lnSpc>
                <a:spcPts val="4199"/>
              </a:lnSpc>
            </a:pPr>
            <a:r>
              <a:rPr lang="en-US" sz="2999">
                <a:solidFill>
                  <a:srgbClr val="000000"/>
                </a:solidFill>
                <a:latin typeface="Open Sauce"/>
                <a:ea typeface="Open Sauce"/>
                <a:cs typeface="Open Sauce"/>
                <a:sym typeface="Open Sauce"/>
              </a:rPr>
              <a:t>Identifiants : voir lien dans le Chat</a:t>
            </a:r>
          </a:p>
        </p:txBody>
      </p:sp>
      <p:sp>
        <p:nvSpPr>
          <p:cNvPr id="9" name="Freeform 9"/>
          <p:cNvSpPr/>
          <p:nvPr/>
        </p:nvSpPr>
        <p:spPr>
          <a:xfrm>
            <a:off x="13453639" y="3868117"/>
            <a:ext cx="513207" cy="637524"/>
          </a:xfrm>
          <a:custGeom>
            <a:avLst/>
            <a:gdLst/>
            <a:ahLst/>
            <a:cxnLst/>
            <a:rect l="l" t="t" r="r" b="b"/>
            <a:pathLst>
              <a:path w="513207" h="637524">
                <a:moveTo>
                  <a:pt x="0" y="0"/>
                </a:moveTo>
                <a:lnTo>
                  <a:pt x="513207" y="0"/>
                </a:lnTo>
                <a:lnTo>
                  <a:pt x="513207" y="637525"/>
                </a:lnTo>
                <a:lnTo>
                  <a:pt x="0" y="637525"/>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fr-F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3"/>
            <a:stretch>
              <a:fillRect/>
            </a:stretch>
          </a:blipFill>
        </p:spPr>
        <p:txBody>
          <a:bodyPr/>
          <a:lstStyle/>
          <a:p>
            <a:endParaRPr lang="fr-FR"/>
          </a:p>
        </p:txBody>
      </p:sp>
      <p:sp>
        <p:nvSpPr>
          <p:cNvPr id="3" name="Freeform 3"/>
          <p:cNvSpPr/>
          <p:nvPr/>
        </p:nvSpPr>
        <p:spPr>
          <a:xfrm>
            <a:off x="3815423" y="2477128"/>
            <a:ext cx="4631018" cy="445663"/>
          </a:xfrm>
          <a:custGeom>
            <a:avLst/>
            <a:gdLst/>
            <a:ahLst/>
            <a:cxnLst/>
            <a:rect l="l" t="t" r="r" b="b"/>
            <a:pathLst>
              <a:path w="4631018" h="445663">
                <a:moveTo>
                  <a:pt x="0" y="0"/>
                </a:moveTo>
                <a:lnTo>
                  <a:pt x="4631018" y="0"/>
                </a:lnTo>
                <a:lnTo>
                  <a:pt x="4631018" y="445662"/>
                </a:lnTo>
                <a:lnTo>
                  <a:pt x="0" y="445662"/>
                </a:lnTo>
                <a:lnTo>
                  <a:pt x="0" y="0"/>
                </a:lnTo>
                <a:close/>
              </a:path>
            </a:pathLst>
          </a:custGeom>
          <a:blipFill>
            <a:blip r:embed="rId4"/>
            <a:stretch>
              <a:fillRect l="-83416" t="-179549" r="-83973" b="-607844"/>
            </a:stretch>
          </a:blipFill>
        </p:spPr>
        <p:txBody>
          <a:bodyPr/>
          <a:lstStyle/>
          <a:p>
            <a:endParaRPr lang="fr-FR"/>
          </a:p>
        </p:txBody>
      </p:sp>
      <p:sp>
        <p:nvSpPr>
          <p:cNvPr id="4" name="Freeform 4"/>
          <p:cNvSpPr/>
          <p:nvPr/>
        </p:nvSpPr>
        <p:spPr>
          <a:xfrm>
            <a:off x="6547530" y="3466838"/>
            <a:ext cx="10437006" cy="5479428"/>
          </a:xfrm>
          <a:custGeom>
            <a:avLst/>
            <a:gdLst/>
            <a:ahLst/>
            <a:cxnLst/>
            <a:rect l="l" t="t" r="r" b="b"/>
            <a:pathLst>
              <a:path w="10437006" h="5479428">
                <a:moveTo>
                  <a:pt x="0" y="0"/>
                </a:moveTo>
                <a:lnTo>
                  <a:pt x="10437006" y="0"/>
                </a:lnTo>
                <a:lnTo>
                  <a:pt x="10437006" y="5479429"/>
                </a:lnTo>
                <a:lnTo>
                  <a:pt x="0" y="5479429"/>
                </a:lnTo>
                <a:lnTo>
                  <a:pt x="0" y="0"/>
                </a:lnTo>
                <a:close/>
              </a:path>
            </a:pathLst>
          </a:custGeom>
          <a:blipFill>
            <a:blip r:embed="rId5"/>
            <a:stretch>
              <a:fillRect/>
            </a:stretch>
          </a:blipFill>
        </p:spPr>
        <p:txBody>
          <a:bodyPr/>
          <a:lstStyle/>
          <a:p>
            <a:endParaRPr lang="fr-FR"/>
          </a:p>
        </p:txBody>
      </p:sp>
      <p:sp>
        <p:nvSpPr>
          <p:cNvPr id="5" name="TextBox 5"/>
          <p:cNvSpPr txBox="1"/>
          <p:nvPr/>
        </p:nvSpPr>
        <p:spPr>
          <a:xfrm>
            <a:off x="1929998" y="923925"/>
            <a:ext cx="7599032"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Étape 1 : créer un projet</a:t>
            </a:r>
          </a:p>
        </p:txBody>
      </p:sp>
      <p:sp>
        <p:nvSpPr>
          <p:cNvPr id="6" name="TextBox 6"/>
          <p:cNvSpPr txBox="1"/>
          <p:nvPr/>
        </p:nvSpPr>
        <p:spPr>
          <a:xfrm>
            <a:off x="1254245" y="2398915"/>
            <a:ext cx="2561178" cy="5238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1. Cliquer sur </a:t>
            </a:r>
          </a:p>
        </p:txBody>
      </p:sp>
      <p:sp>
        <p:nvSpPr>
          <p:cNvPr id="7" name="TextBox 7"/>
          <p:cNvSpPr txBox="1"/>
          <p:nvPr/>
        </p:nvSpPr>
        <p:spPr>
          <a:xfrm>
            <a:off x="1254245" y="3400163"/>
            <a:ext cx="5118895" cy="15906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2. Choisir le nom du projet </a:t>
            </a:r>
          </a:p>
          <a:p>
            <a:pPr algn="l">
              <a:lnSpc>
                <a:spcPts val="4200"/>
              </a:lnSpc>
            </a:pPr>
            <a:r>
              <a:rPr lang="en-US" sz="3000">
                <a:solidFill>
                  <a:srgbClr val="000000"/>
                </a:solidFill>
                <a:latin typeface="Open Sauce"/>
                <a:ea typeface="Open Sauce"/>
                <a:cs typeface="Open Sauce"/>
                <a:sym typeface="Open Sauce"/>
              </a:rPr>
              <a:t>et sélectionner le dataset depuis votre disque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2"/>
            <a:stretch>
              <a:fillRect/>
            </a:stretch>
          </a:blipFill>
        </p:spPr>
        <p:txBody>
          <a:bodyPr/>
          <a:lstStyle/>
          <a:p>
            <a:endParaRPr lang="fr-FR"/>
          </a:p>
        </p:txBody>
      </p:sp>
      <p:sp>
        <p:nvSpPr>
          <p:cNvPr id="3" name="Freeform 3"/>
          <p:cNvSpPr/>
          <p:nvPr/>
        </p:nvSpPr>
        <p:spPr>
          <a:xfrm>
            <a:off x="7946376" y="2328972"/>
            <a:ext cx="8834053" cy="3014620"/>
          </a:xfrm>
          <a:custGeom>
            <a:avLst/>
            <a:gdLst/>
            <a:ahLst/>
            <a:cxnLst/>
            <a:rect l="l" t="t" r="r" b="b"/>
            <a:pathLst>
              <a:path w="8834053" h="3014620">
                <a:moveTo>
                  <a:pt x="0" y="0"/>
                </a:moveTo>
                <a:lnTo>
                  <a:pt x="8834053" y="0"/>
                </a:lnTo>
                <a:lnTo>
                  <a:pt x="8834053" y="3014621"/>
                </a:lnTo>
                <a:lnTo>
                  <a:pt x="0" y="3014621"/>
                </a:lnTo>
                <a:lnTo>
                  <a:pt x="0" y="0"/>
                </a:lnTo>
                <a:close/>
              </a:path>
            </a:pathLst>
          </a:custGeom>
          <a:blipFill>
            <a:blip r:embed="rId3"/>
            <a:stretch>
              <a:fillRect/>
            </a:stretch>
          </a:blipFill>
        </p:spPr>
        <p:txBody>
          <a:bodyPr/>
          <a:lstStyle/>
          <a:p>
            <a:endParaRPr lang="fr-FR"/>
          </a:p>
        </p:txBody>
      </p:sp>
      <p:sp>
        <p:nvSpPr>
          <p:cNvPr id="4" name="Freeform 4"/>
          <p:cNvSpPr/>
          <p:nvPr/>
        </p:nvSpPr>
        <p:spPr>
          <a:xfrm>
            <a:off x="8029403" y="6010343"/>
            <a:ext cx="8751026" cy="2718287"/>
          </a:xfrm>
          <a:custGeom>
            <a:avLst/>
            <a:gdLst/>
            <a:ahLst/>
            <a:cxnLst/>
            <a:rect l="l" t="t" r="r" b="b"/>
            <a:pathLst>
              <a:path w="8751026" h="2718287">
                <a:moveTo>
                  <a:pt x="0" y="0"/>
                </a:moveTo>
                <a:lnTo>
                  <a:pt x="8751026" y="0"/>
                </a:lnTo>
                <a:lnTo>
                  <a:pt x="8751026" y="2718287"/>
                </a:lnTo>
                <a:lnTo>
                  <a:pt x="0" y="2718287"/>
                </a:lnTo>
                <a:lnTo>
                  <a:pt x="0" y="0"/>
                </a:lnTo>
                <a:close/>
              </a:path>
            </a:pathLst>
          </a:custGeom>
          <a:blipFill>
            <a:blip r:embed="rId4"/>
            <a:stretch>
              <a:fillRect/>
            </a:stretch>
          </a:blipFill>
        </p:spPr>
        <p:txBody>
          <a:bodyPr/>
          <a:lstStyle/>
          <a:p>
            <a:endParaRPr lang="fr-FR"/>
          </a:p>
        </p:txBody>
      </p:sp>
      <p:sp>
        <p:nvSpPr>
          <p:cNvPr id="5" name="TextBox 5"/>
          <p:cNvSpPr txBox="1"/>
          <p:nvPr/>
        </p:nvSpPr>
        <p:spPr>
          <a:xfrm>
            <a:off x="1929998" y="923925"/>
            <a:ext cx="7599032"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Étape 1 : créer un projet</a:t>
            </a:r>
          </a:p>
        </p:txBody>
      </p:sp>
      <p:sp>
        <p:nvSpPr>
          <p:cNvPr id="6" name="TextBox 6"/>
          <p:cNvSpPr txBox="1"/>
          <p:nvPr/>
        </p:nvSpPr>
        <p:spPr>
          <a:xfrm>
            <a:off x="1254245" y="2274753"/>
            <a:ext cx="6555076" cy="10572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3. Remplir les informations demandées sur notre dataset</a:t>
            </a:r>
          </a:p>
        </p:txBody>
      </p:sp>
      <p:sp>
        <p:nvSpPr>
          <p:cNvPr id="7" name="TextBox 7"/>
          <p:cNvSpPr txBox="1"/>
          <p:nvPr/>
        </p:nvSpPr>
        <p:spPr>
          <a:xfrm>
            <a:off x="1254245" y="5943668"/>
            <a:ext cx="6326341" cy="10572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4. Sélectionner la taille des </a:t>
            </a:r>
            <a:r>
              <a:rPr lang="en-US" sz="3000" b="1">
                <a:solidFill>
                  <a:srgbClr val="000000"/>
                </a:solidFill>
                <a:latin typeface="Open Sauce Bold"/>
                <a:ea typeface="Open Sauce Bold"/>
                <a:cs typeface="Open Sauce Bold"/>
                <a:sym typeface="Open Sauce Bold"/>
              </a:rPr>
              <a:t>train</a:t>
            </a:r>
            <a:r>
              <a:rPr lang="en-US" sz="3000">
                <a:solidFill>
                  <a:srgbClr val="000000"/>
                </a:solidFill>
                <a:latin typeface="Open Sauce"/>
                <a:ea typeface="Open Sauce"/>
                <a:cs typeface="Open Sauce"/>
                <a:sym typeface="Open Sauce"/>
              </a:rPr>
              <a:t>, </a:t>
            </a:r>
            <a:r>
              <a:rPr lang="en-US" sz="3000" b="1">
                <a:solidFill>
                  <a:srgbClr val="000000"/>
                </a:solidFill>
                <a:latin typeface="Open Sauce Bold"/>
                <a:ea typeface="Open Sauce Bold"/>
                <a:cs typeface="Open Sauce Bold"/>
                <a:sym typeface="Open Sauce Bold"/>
              </a:rPr>
              <a:t>validation</a:t>
            </a:r>
            <a:r>
              <a:rPr lang="en-US" sz="3000">
                <a:solidFill>
                  <a:srgbClr val="000000"/>
                </a:solidFill>
                <a:latin typeface="Open Sauce"/>
                <a:ea typeface="Open Sauce"/>
                <a:cs typeface="Open Sauce"/>
                <a:sym typeface="Open Sauce"/>
              </a:rPr>
              <a:t> et </a:t>
            </a:r>
            <a:r>
              <a:rPr lang="en-US" sz="3000" b="1">
                <a:solidFill>
                  <a:srgbClr val="000000"/>
                </a:solidFill>
                <a:latin typeface="Open Sauce Bold"/>
                <a:ea typeface="Open Sauce Bold"/>
                <a:cs typeface="Open Sauce Bold"/>
                <a:sym typeface="Open Sauce Bold"/>
              </a:rPr>
              <a:t>test sets</a:t>
            </a:r>
            <a:r>
              <a:rPr lang="en-US" sz="3000">
                <a:solidFill>
                  <a:srgbClr val="000000"/>
                </a:solidFill>
                <a:latin typeface="Open Sauce"/>
                <a:ea typeface="Open Sauce"/>
                <a:cs typeface="Open Sauce"/>
                <a:sym typeface="Open Sauce"/>
              </a:rPr>
              <a:t>.</a:t>
            </a:r>
          </a:p>
        </p:txBody>
      </p:sp>
      <p:sp>
        <p:nvSpPr>
          <p:cNvPr id="8" name="TextBox 8"/>
          <p:cNvSpPr txBox="1"/>
          <p:nvPr/>
        </p:nvSpPr>
        <p:spPr>
          <a:xfrm>
            <a:off x="1505212" y="7176135"/>
            <a:ext cx="5847669" cy="2082165"/>
          </a:xfrm>
          <a:prstGeom prst="rect">
            <a:avLst/>
          </a:prstGeom>
        </p:spPr>
        <p:txBody>
          <a:bodyPr lIns="0" tIns="0" rIns="0" bIns="0" rtlCol="0" anchor="t">
            <a:spAutoFit/>
          </a:bodyPr>
          <a:lstStyle/>
          <a:p>
            <a:pPr marL="518160" lvl="1" indent="-259080" algn="l">
              <a:lnSpc>
                <a:spcPts val="3359"/>
              </a:lnSpc>
              <a:buFont typeface="Arial"/>
              <a:buChar char="•"/>
            </a:pPr>
            <a:r>
              <a:rPr lang="en-US" sz="2400">
                <a:solidFill>
                  <a:srgbClr val="000000"/>
                </a:solidFill>
                <a:latin typeface="Open Sauce"/>
                <a:ea typeface="Open Sauce"/>
                <a:cs typeface="Open Sauce"/>
                <a:sym typeface="Open Sauce"/>
              </a:rPr>
              <a:t>Train : défaut 10 000 (tout ne sera pas annoté)</a:t>
            </a:r>
          </a:p>
          <a:p>
            <a:pPr marL="518160" lvl="1" indent="-259080" algn="l">
              <a:lnSpc>
                <a:spcPts val="3359"/>
              </a:lnSpc>
              <a:buFont typeface="Arial"/>
              <a:buChar char="•"/>
            </a:pPr>
            <a:r>
              <a:rPr lang="en-US" sz="2400">
                <a:solidFill>
                  <a:srgbClr val="000000"/>
                </a:solidFill>
                <a:latin typeface="Open Sauce"/>
                <a:ea typeface="Open Sauce"/>
                <a:cs typeface="Open Sauce"/>
                <a:sym typeface="Open Sauce"/>
              </a:rPr>
              <a:t>Valid, Test : commençons par 300. Le label “source” a une prévalence de 8-9%, on aura ≈26 items par set.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2"/>
            <a:stretch>
              <a:fillRect/>
            </a:stretch>
          </a:blipFill>
        </p:spPr>
        <p:txBody>
          <a:bodyPr/>
          <a:lstStyle/>
          <a:p>
            <a:endParaRPr lang="fr-FR"/>
          </a:p>
        </p:txBody>
      </p:sp>
      <p:sp>
        <p:nvSpPr>
          <p:cNvPr id="3" name="Freeform 3"/>
          <p:cNvSpPr/>
          <p:nvPr/>
        </p:nvSpPr>
        <p:spPr>
          <a:xfrm>
            <a:off x="8029403" y="2341428"/>
            <a:ext cx="8751026" cy="3722030"/>
          </a:xfrm>
          <a:custGeom>
            <a:avLst/>
            <a:gdLst/>
            <a:ahLst/>
            <a:cxnLst/>
            <a:rect l="l" t="t" r="r" b="b"/>
            <a:pathLst>
              <a:path w="8751026" h="3722030">
                <a:moveTo>
                  <a:pt x="0" y="0"/>
                </a:moveTo>
                <a:lnTo>
                  <a:pt x="8751026" y="0"/>
                </a:lnTo>
                <a:lnTo>
                  <a:pt x="8751026" y="3722030"/>
                </a:lnTo>
                <a:lnTo>
                  <a:pt x="0" y="3722030"/>
                </a:lnTo>
                <a:lnTo>
                  <a:pt x="0" y="0"/>
                </a:lnTo>
                <a:close/>
              </a:path>
            </a:pathLst>
          </a:custGeom>
          <a:blipFill>
            <a:blip r:embed="rId3"/>
            <a:stretch>
              <a:fillRect b="-11091"/>
            </a:stretch>
          </a:blipFill>
        </p:spPr>
        <p:txBody>
          <a:bodyPr/>
          <a:lstStyle/>
          <a:p>
            <a:endParaRPr lang="fr-FR"/>
          </a:p>
        </p:txBody>
      </p:sp>
      <p:sp>
        <p:nvSpPr>
          <p:cNvPr id="4" name="TextBox 4"/>
          <p:cNvSpPr txBox="1"/>
          <p:nvPr/>
        </p:nvSpPr>
        <p:spPr>
          <a:xfrm>
            <a:off x="1929998" y="923925"/>
            <a:ext cx="7599032"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Étape 1 : créer un projet</a:t>
            </a:r>
          </a:p>
        </p:txBody>
      </p:sp>
      <p:sp>
        <p:nvSpPr>
          <p:cNvPr id="5" name="TextBox 5"/>
          <p:cNvSpPr txBox="1"/>
          <p:nvPr/>
        </p:nvSpPr>
        <p:spPr>
          <a:xfrm>
            <a:off x="1254245" y="2274753"/>
            <a:ext cx="6555076" cy="15906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(5-Optionnel.) Possibilité de sélectionner des options avancées, cf. documentation.</a:t>
            </a:r>
          </a:p>
        </p:txBody>
      </p:sp>
      <p:sp>
        <p:nvSpPr>
          <p:cNvPr id="6" name="TextBox 6"/>
          <p:cNvSpPr txBox="1"/>
          <p:nvPr/>
        </p:nvSpPr>
        <p:spPr>
          <a:xfrm>
            <a:off x="1254245" y="6895268"/>
            <a:ext cx="6326341" cy="5238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6. Cliquer sur </a:t>
            </a:r>
          </a:p>
        </p:txBody>
      </p:sp>
      <p:sp>
        <p:nvSpPr>
          <p:cNvPr id="7" name="Freeform 7"/>
          <p:cNvSpPr/>
          <p:nvPr/>
        </p:nvSpPr>
        <p:spPr>
          <a:xfrm>
            <a:off x="3990449" y="7001940"/>
            <a:ext cx="8751026" cy="417203"/>
          </a:xfrm>
          <a:custGeom>
            <a:avLst/>
            <a:gdLst/>
            <a:ahLst/>
            <a:cxnLst/>
            <a:rect l="l" t="t" r="r" b="b"/>
            <a:pathLst>
              <a:path w="8751026" h="417203">
                <a:moveTo>
                  <a:pt x="0" y="0"/>
                </a:moveTo>
                <a:lnTo>
                  <a:pt x="8751026" y="0"/>
                </a:lnTo>
                <a:lnTo>
                  <a:pt x="8751026" y="417203"/>
                </a:lnTo>
                <a:lnTo>
                  <a:pt x="0" y="417203"/>
                </a:lnTo>
                <a:lnTo>
                  <a:pt x="0" y="0"/>
                </a:lnTo>
                <a:close/>
              </a:path>
            </a:pathLst>
          </a:custGeom>
          <a:blipFill>
            <a:blip r:embed="rId3"/>
            <a:stretch>
              <a:fillRect t="-891089"/>
            </a:stretch>
          </a:blipFill>
        </p:spPr>
        <p:txBody>
          <a:bodyPr/>
          <a:lstStyle/>
          <a:p>
            <a:endParaRPr lang="fr-FR"/>
          </a:p>
        </p:txBody>
      </p:sp>
      <p:sp>
        <p:nvSpPr>
          <p:cNvPr id="8" name="TextBox 8"/>
          <p:cNvSpPr txBox="1"/>
          <p:nvPr/>
        </p:nvSpPr>
        <p:spPr>
          <a:xfrm>
            <a:off x="1254245" y="8298243"/>
            <a:ext cx="6326341" cy="523875"/>
          </a:xfrm>
          <a:prstGeom prst="rect">
            <a:avLst/>
          </a:prstGeom>
        </p:spPr>
        <p:txBody>
          <a:bodyPr lIns="0" tIns="0" rIns="0" bIns="0" rtlCol="0" anchor="t">
            <a:spAutoFit/>
          </a:bodyPr>
          <a:lstStyle/>
          <a:p>
            <a:pPr algn="l">
              <a:lnSpc>
                <a:spcPts val="4200"/>
              </a:lnSpc>
            </a:pPr>
            <a:r>
              <a:rPr lang="en-US" sz="3000" b="1">
                <a:solidFill>
                  <a:srgbClr val="000000"/>
                </a:solidFill>
                <a:latin typeface="Open Sauce Bold"/>
                <a:ea typeface="Open Sauce Bold"/>
                <a:cs typeface="Open Sauce Bold"/>
                <a:sym typeface="Open Sauce Bold"/>
              </a:rPr>
              <a:t>Votre projet est créé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166009" y="4141342"/>
            <a:ext cx="7238420" cy="5116958"/>
            <a:chOff x="0" y="0"/>
            <a:chExt cx="9651226" cy="6822611"/>
          </a:xfrm>
        </p:grpSpPr>
        <p:sp>
          <p:nvSpPr>
            <p:cNvPr id="3" name="AutoShape 3"/>
            <p:cNvSpPr/>
            <p:nvPr/>
          </p:nvSpPr>
          <p:spPr>
            <a:xfrm flipV="1">
              <a:off x="7026344" y="24307"/>
              <a:ext cx="21465" cy="6797960"/>
            </a:xfrm>
            <a:prstGeom prst="line">
              <a:avLst/>
            </a:prstGeom>
            <a:ln w="217441" cap="flat">
              <a:solidFill>
                <a:srgbClr val="2A3067"/>
              </a:solidFill>
              <a:prstDash val="solid"/>
              <a:headEnd type="none" w="sm" len="sm"/>
              <a:tailEnd type="none" w="sm" len="sm"/>
            </a:ln>
          </p:spPr>
          <p:txBody>
            <a:bodyPr/>
            <a:lstStyle/>
            <a:p>
              <a:endParaRPr lang="fr-FR"/>
            </a:p>
          </p:txBody>
        </p:sp>
        <p:grpSp>
          <p:nvGrpSpPr>
            <p:cNvPr id="4" name="Group 4"/>
            <p:cNvGrpSpPr/>
            <p:nvPr/>
          </p:nvGrpSpPr>
          <p:grpSpPr>
            <a:xfrm>
              <a:off x="4663157" y="0"/>
              <a:ext cx="4988069" cy="1022464"/>
              <a:chOff x="0" y="0"/>
              <a:chExt cx="1029588" cy="211047"/>
            </a:xfrm>
          </p:grpSpPr>
          <p:sp>
            <p:nvSpPr>
              <p:cNvPr id="5" name="Freeform 5"/>
              <p:cNvSpPr/>
              <p:nvPr/>
            </p:nvSpPr>
            <p:spPr>
              <a:xfrm>
                <a:off x="0" y="0"/>
                <a:ext cx="1029588" cy="211047"/>
              </a:xfrm>
              <a:custGeom>
                <a:avLst/>
                <a:gdLst/>
                <a:ahLst/>
                <a:cxnLst/>
                <a:rect l="l" t="t" r="r" b="b"/>
                <a:pathLst>
                  <a:path w="1029588" h="211047">
                    <a:moveTo>
                      <a:pt x="59053" y="0"/>
                    </a:moveTo>
                    <a:lnTo>
                      <a:pt x="970535" y="0"/>
                    </a:lnTo>
                    <a:cubicBezTo>
                      <a:pt x="1003149" y="0"/>
                      <a:pt x="1029588" y="26439"/>
                      <a:pt x="1029588" y="59053"/>
                    </a:cubicBezTo>
                    <a:lnTo>
                      <a:pt x="1029588" y="151994"/>
                    </a:lnTo>
                    <a:cubicBezTo>
                      <a:pt x="1029588" y="167656"/>
                      <a:pt x="1023366" y="182676"/>
                      <a:pt x="1012292" y="193751"/>
                    </a:cubicBezTo>
                    <a:cubicBezTo>
                      <a:pt x="1001217" y="204825"/>
                      <a:pt x="986197" y="211047"/>
                      <a:pt x="970535" y="211047"/>
                    </a:cubicBezTo>
                    <a:lnTo>
                      <a:pt x="59053" y="211047"/>
                    </a:lnTo>
                    <a:cubicBezTo>
                      <a:pt x="26439" y="211047"/>
                      <a:pt x="0" y="184608"/>
                      <a:pt x="0" y="151994"/>
                    </a:cubicBezTo>
                    <a:lnTo>
                      <a:pt x="0" y="59053"/>
                    </a:lnTo>
                    <a:cubicBezTo>
                      <a:pt x="0" y="26439"/>
                      <a:pt x="26439" y="0"/>
                      <a:pt x="59053" y="0"/>
                    </a:cubicBezTo>
                    <a:close/>
                  </a:path>
                </a:pathLst>
              </a:custGeom>
              <a:solidFill>
                <a:srgbClr val="EA6F26"/>
              </a:solidFill>
            </p:spPr>
            <p:txBody>
              <a:bodyPr/>
              <a:lstStyle/>
              <a:p>
                <a:endParaRPr lang="fr-FR"/>
              </a:p>
            </p:txBody>
          </p:sp>
          <p:sp>
            <p:nvSpPr>
              <p:cNvPr id="6" name="TextBox 6"/>
              <p:cNvSpPr txBox="1"/>
              <p:nvPr/>
            </p:nvSpPr>
            <p:spPr>
              <a:xfrm>
                <a:off x="0" y="-28575"/>
                <a:ext cx="1029588" cy="239622"/>
              </a:xfrm>
              <a:prstGeom prst="rect">
                <a:avLst/>
              </a:prstGeom>
            </p:spPr>
            <p:txBody>
              <a:bodyPr lIns="50800" tIns="50800" rIns="50800" bIns="50800" rtlCol="0" anchor="ctr"/>
              <a:lstStyle/>
              <a:p>
                <a:pPr algn="ctr">
                  <a:lnSpc>
                    <a:spcPts val="2520"/>
                  </a:lnSpc>
                  <a:spcBef>
                    <a:spcPct val="0"/>
                  </a:spcBef>
                </a:pPr>
                <a:r>
                  <a:rPr lang="en-US" sz="1800" b="1">
                    <a:solidFill>
                      <a:srgbClr val="FFFFFF"/>
                    </a:solidFill>
                    <a:latin typeface="Open Sans Bold"/>
                    <a:ea typeface="Open Sans Bold"/>
                    <a:cs typeface="Open Sans Bold"/>
                    <a:sym typeface="Open Sans Bold"/>
                  </a:rPr>
                  <a:t>Annoter les données d’entraînement aléatoirement</a:t>
                </a:r>
              </a:p>
            </p:txBody>
          </p:sp>
        </p:grpSp>
        <p:sp>
          <p:nvSpPr>
            <p:cNvPr id="7" name="Freeform 7"/>
            <p:cNvSpPr/>
            <p:nvPr/>
          </p:nvSpPr>
          <p:spPr>
            <a:xfrm>
              <a:off x="2724952" y="2343480"/>
              <a:ext cx="3633337" cy="3633337"/>
            </a:xfrm>
            <a:custGeom>
              <a:avLst/>
              <a:gdLst/>
              <a:ahLst/>
              <a:cxnLst/>
              <a:rect l="l" t="t" r="r" b="b"/>
              <a:pathLst>
                <a:path w="3633337" h="3633337">
                  <a:moveTo>
                    <a:pt x="0" y="0"/>
                  </a:moveTo>
                  <a:lnTo>
                    <a:pt x="3633337" y="0"/>
                  </a:lnTo>
                  <a:lnTo>
                    <a:pt x="3633337" y="3633338"/>
                  </a:lnTo>
                  <a:lnTo>
                    <a:pt x="0" y="3633338"/>
                  </a:lnTo>
                  <a:lnTo>
                    <a:pt x="0" y="0"/>
                  </a:lnTo>
                  <a:close/>
                </a:path>
              </a:pathLst>
            </a:custGeom>
            <a:blipFill>
              <a:blip r:embed="rId2"/>
              <a:stretch>
                <a:fillRect/>
              </a:stretch>
            </a:blipFill>
          </p:spPr>
          <p:txBody>
            <a:bodyPr/>
            <a:lstStyle/>
            <a:p>
              <a:endParaRPr lang="fr-FR"/>
            </a:p>
          </p:txBody>
        </p:sp>
        <p:grpSp>
          <p:nvGrpSpPr>
            <p:cNvPr id="8" name="Group 8"/>
            <p:cNvGrpSpPr/>
            <p:nvPr/>
          </p:nvGrpSpPr>
          <p:grpSpPr>
            <a:xfrm>
              <a:off x="4663157" y="5374425"/>
              <a:ext cx="4988069" cy="1447843"/>
              <a:chOff x="0" y="0"/>
              <a:chExt cx="1029588" cy="298849"/>
            </a:xfrm>
          </p:grpSpPr>
          <p:sp>
            <p:nvSpPr>
              <p:cNvPr id="9" name="Freeform 9"/>
              <p:cNvSpPr/>
              <p:nvPr/>
            </p:nvSpPr>
            <p:spPr>
              <a:xfrm>
                <a:off x="0" y="0"/>
                <a:ext cx="1029588" cy="298849"/>
              </a:xfrm>
              <a:custGeom>
                <a:avLst/>
                <a:gdLst/>
                <a:ahLst/>
                <a:cxnLst/>
                <a:rect l="l" t="t" r="r" b="b"/>
                <a:pathLst>
                  <a:path w="1029588" h="298849">
                    <a:moveTo>
                      <a:pt x="59053" y="0"/>
                    </a:moveTo>
                    <a:lnTo>
                      <a:pt x="970535" y="0"/>
                    </a:lnTo>
                    <a:cubicBezTo>
                      <a:pt x="1003149" y="0"/>
                      <a:pt x="1029588" y="26439"/>
                      <a:pt x="1029588" y="59053"/>
                    </a:cubicBezTo>
                    <a:lnTo>
                      <a:pt x="1029588" y="239797"/>
                    </a:lnTo>
                    <a:cubicBezTo>
                      <a:pt x="1029588" y="255458"/>
                      <a:pt x="1023366" y="270479"/>
                      <a:pt x="1012292" y="281553"/>
                    </a:cubicBezTo>
                    <a:cubicBezTo>
                      <a:pt x="1001217" y="292628"/>
                      <a:pt x="986197" y="298849"/>
                      <a:pt x="970535" y="298849"/>
                    </a:cubicBezTo>
                    <a:lnTo>
                      <a:pt x="59053" y="298849"/>
                    </a:lnTo>
                    <a:cubicBezTo>
                      <a:pt x="26439" y="298849"/>
                      <a:pt x="0" y="272411"/>
                      <a:pt x="0" y="239797"/>
                    </a:cubicBezTo>
                    <a:lnTo>
                      <a:pt x="0" y="59053"/>
                    </a:lnTo>
                    <a:cubicBezTo>
                      <a:pt x="0" y="26439"/>
                      <a:pt x="26439" y="0"/>
                      <a:pt x="59053" y="0"/>
                    </a:cubicBezTo>
                    <a:close/>
                  </a:path>
                </a:pathLst>
              </a:custGeom>
              <a:solidFill>
                <a:srgbClr val="EA6F26"/>
              </a:solidFill>
            </p:spPr>
            <p:txBody>
              <a:bodyPr/>
              <a:lstStyle/>
              <a:p>
                <a:endParaRPr lang="fr-FR"/>
              </a:p>
            </p:txBody>
          </p:sp>
          <p:sp>
            <p:nvSpPr>
              <p:cNvPr id="10" name="TextBox 10"/>
              <p:cNvSpPr txBox="1"/>
              <p:nvPr/>
            </p:nvSpPr>
            <p:spPr>
              <a:xfrm>
                <a:off x="0" y="-28575"/>
                <a:ext cx="1029588" cy="327424"/>
              </a:xfrm>
              <a:prstGeom prst="rect">
                <a:avLst/>
              </a:prstGeom>
            </p:spPr>
            <p:txBody>
              <a:bodyPr lIns="50800" tIns="50800" rIns="50800" bIns="50800" rtlCol="0" anchor="ctr"/>
              <a:lstStyle/>
              <a:p>
                <a:pPr algn="ctr">
                  <a:lnSpc>
                    <a:spcPts val="2520"/>
                  </a:lnSpc>
                </a:pPr>
                <a:r>
                  <a:rPr lang="en-US" sz="1800" b="1">
                    <a:solidFill>
                      <a:srgbClr val="FFFFFF"/>
                    </a:solidFill>
                    <a:latin typeface="Open Sans Bold"/>
                    <a:ea typeface="Open Sans Bold"/>
                    <a:cs typeface="Open Sans Bold"/>
                    <a:sym typeface="Open Sans Bold"/>
                  </a:rPr>
                  <a:t>Active learning : entraîner un modèle pour annoter les cas </a:t>
                </a:r>
              </a:p>
              <a:p>
                <a:pPr algn="ctr">
                  <a:lnSpc>
                    <a:spcPts val="2520"/>
                  </a:lnSpc>
                  <a:spcBef>
                    <a:spcPct val="0"/>
                  </a:spcBef>
                </a:pPr>
                <a:r>
                  <a:rPr lang="en-US" sz="1800" b="1">
                    <a:solidFill>
                      <a:srgbClr val="FFFFFF"/>
                    </a:solidFill>
                    <a:latin typeface="Open Sans Bold"/>
                    <a:ea typeface="Open Sans Bold"/>
                    <a:cs typeface="Open Sans Bold"/>
                    <a:sym typeface="Open Sans Bold"/>
                  </a:rPr>
                  <a:t>les plus ambigus</a:t>
                </a:r>
              </a:p>
            </p:txBody>
          </p:sp>
        </p:grpSp>
        <p:grpSp>
          <p:nvGrpSpPr>
            <p:cNvPr id="11" name="Group 11"/>
            <p:cNvGrpSpPr/>
            <p:nvPr/>
          </p:nvGrpSpPr>
          <p:grpSpPr>
            <a:xfrm>
              <a:off x="4663157" y="1957397"/>
              <a:ext cx="4988069" cy="1447843"/>
              <a:chOff x="0" y="0"/>
              <a:chExt cx="1029588" cy="298849"/>
            </a:xfrm>
          </p:grpSpPr>
          <p:sp>
            <p:nvSpPr>
              <p:cNvPr id="12" name="Freeform 12"/>
              <p:cNvSpPr/>
              <p:nvPr/>
            </p:nvSpPr>
            <p:spPr>
              <a:xfrm>
                <a:off x="0" y="0"/>
                <a:ext cx="1029588" cy="298849"/>
              </a:xfrm>
              <a:custGeom>
                <a:avLst/>
                <a:gdLst/>
                <a:ahLst/>
                <a:cxnLst/>
                <a:rect l="l" t="t" r="r" b="b"/>
                <a:pathLst>
                  <a:path w="1029588" h="298849">
                    <a:moveTo>
                      <a:pt x="59053" y="0"/>
                    </a:moveTo>
                    <a:lnTo>
                      <a:pt x="970535" y="0"/>
                    </a:lnTo>
                    <a:cubicBezTo>
                      <a:pt x="1003149" y="0"/>
                      <a:pt x="1029588" y="26439"/>
                      <a:pt x="1029588" y="59053"/>
                    </a:cubicBezTo>
                    <a:lnTo>
                      <a:pt x="1029588" y="239797"/>
                    </a:lnTo>
                    <a:cubicBezTo>
                      <a:pt x="1029588" y="255458"/>
                      <a:pt x="1023366" y="270479"/>
                      <a:pt x="1012292" y="281553"/>
                    </a:cubicBezTo>
                    <a:cubicBezTo>
                      <a:pt x="1001217" y="292628"/>
                      <a:pt x="986197" y="298849"/>
                      <a:pt x="970535" y="298849"/>
                    </a:cubicBezTo>
                    <a:lnTo>
                      <a:pt x="59053" y="298849"/>
                    </a:lnTo>
                    <a:cubicBezTo>
                      <a:pt x="26439" y="298849"/>
                      <a:pt x="0" y="272411"/>
                      <a:pt x="0" y="239797"/>
                    </a:cubicBezTo>
                    <a:lnTo>
                      <a:pt x="0" y="59053"/>
                    </a:lnTo>
                    <a:cubicBezTo>
                      <a:pt x="0" y="26439"/>
                      <a:pt x="26439" y="0"/>
                      <a:pt x="59053" y="0"/>
                    </a:cubicBezTo>
                    <a:close/>
                  </a:path>
                </a:pathLst>
              </a:custGeom>
              <a:solidFill>
                <a:srgbClr val="EA6F26"/>
              </a:solidFill>
            </p:spPr>
            <p:txBody>
              <a:bodyPr/>
              <a:lstStyle/>
              <a:p>
                <a:endParaRPr lang="fr-FR"/>
              </a:p>
            </p:txBody>
          </p:sp>
          <p:sp>
            <p:nvSpPr>
              <p:cNvPr id="13" name="TextBox 13"/>
              <p:cNvSpPr txBox="1"/>
              <p:nvPr/>
            </p:nvSpPr>
            <p:spPr>
              <a:xfrm>
                <a:off x="0" y="-28575"/>
                <a:ext cx="1029588" cy="327424"/>
              </a:xfrm>
              <a:prstGeom prst="rect">
                <a:avLst/>
              </a:prstGeom>
            </p:spPr>
            <p:txBody>
              <a:bodyPr lIns="50800" tIns="50800" rIns="50800" bIns="50800" rtlCol="0" anchor="ctr"/>
              <a:lstStyle/>
              <a:p>
                <a:pPr algn="ctr">
                  <a:lnSpc>
                    <a:spcPts val="2520"/>
                  </a:lnSpc>
                  <a:spcBef>
                    <a:spcPct val="0"/>
                  </a:spcBef>
                </a:pPr>
                <a:r>
                  <a:rPr lang="en-US" sz="1800" b="1">
                    <a:solidFill>
                      <a:srgbClr val="FFFFFF"/>
                    </a:solidFill>
                    <a:latin typeface="Open Sans Bold"/>
                    <a:ea typeface="Open Sans Bold"/>
                    <a:cs typeface="Open Sans Bold"/>
                    <a:sym typeface="Open Sans Bold"/>
                  </a:rPr>
                  <a:t>Search : annoter des données choisies par des RegEx, des mots-clés ou du génératif</a:t>
                </a:r>
              </a:p>
            </p:txBody>
          </p:sp>
        </p:grpSp>
        <p:grpSp>
          <p:nvGrpSpPr>
            <p:cNvPr id="14" name="Group 14"/>
            <p:cNvGrpSpPr/>
            <p:nvPr/>
          </p:nvGrpSpPr>
          <p:grpSpPr>
            <a:xfrm>
              <a:off x="0" y="3753308"/>
              <a:ext cx="4014875" cy="1129790"/>
              <a:chOff x="0" y="0"/>
              <a:chExt cx="828711" cy="233200"/>
            </a:xfrm>
          </p:grpSpPr>
          <p:sp>
            <p:nvSpPr>
              <p:cNvPr id="15" name="Freeform 15"/>
              <p:cNvSpPr/>
              <p:nvPr/>
            </p:nvSpPr>
            <p:spPr>
              <a:xfrm>
                <a:off x="0" y="0"/>
                <a:ext cx="828711" cy="233200"/>
              </a:xfrm>
              <a:custGeom>
                <a:avLst/>
                <a:gdLst/>
                <a:ahLst/>
                <a:cxnLst/>
                <a:rect l="l" t="t" r="r" b="b"/>
                <a:pathLst>
                  <a:path w="828711" h="233200">
                    <a:moveTo>
                      <a:pt x="73367" y="0"/>
                    </a:moveTo>
                    <a:lnTo>
                      <a:pt x="755344" y="0"/>
                    </a:lnTo>
                    <a:cubicBezTo>
                      <a:pt x="774802" y="0"/>
                      <a:pt x="793463" y="7730"/>
                      <a:pt x="807222" y="21489"/>
                    </a:cubicBezTo>
                    <a:cubicBezTo>
                      <a:pt x="820981" y="35248"/>
                      <a:pt x="828711" y="53909"/>
                      <a:pt x="828711" y="73367"/>
                    </a:cubicBezTo>
                    <a:lnTo>
                      <a:pt x="828711" y="159833"/>
                    </a:lnTo>
                    <a:cubicBezTo>
                      <a:pt x="828711" y="179291"/>
                      <a:pt x="820981" y="197952"/>
                      <a:pt x="807222" y="211711"/>
                    </a:cubicBezTo>
                    <a:cubicBezTo>
                      <a:pt x="793463" y="225470"/>
                      <a:pt x="774802" y="233200"/>
                      <a:pt x="755344" y="233200"/>
                    </a:cubicBezTo>
                    <a:lnTo>
                      <a:pt x="73367" y="233200"/>
                    </a:lnTo>
                    <a:cubicBezTo>
                      <a:pt x="53909" y="233200"/>
                      <a:pt x="35248" y="225470"/>
                      <a:pt x="21489" y="211711"/>
                    </a:cubicBezTo>
                    <a:cubicBezTo>
                      <a:pt x="7730" y="197952"/>
                      <a:pt x="0" y="179291"/>
                      <a:pt x="0" y="159833"/>
                    </a:cubicBezTo>
                    <a:lnTo>
                      <a:pt x="0" y="73367"/>
                    </a:lnTo>
                    <a:cubicBezTo>
                      <a:pt x="0" y="53909"/>
                      <a:pt x="7730" y="35248"/>
                      <a:pt x="21489" y="21489"/>
                    </a:cubicBezTo>
                    <a:cubicBezTo>
                      <a:pt x="35248" y="7730"/>
                      <a:pt x="53909" y="0"/>
                      <a:pt x="73367" y="0"/>
                    </a:cubicBezTo>
                    <a:close/>
                  </a:path>
                </a:pathLst>
              </a:custGeom>
              <a:solidFill>
                <a:srgbClr val="2A3067"/>
              </a:solidFill>
            </p:spPr>
            <p:txBody>
              <a:bodyPr/>
              <a:lstStyle/>
              <a:p>
                <a:endParaRPr lang="fr-FR"/>
              </a:p>
            </p:txBody>
          </p:sp>
          <p:sp>
            <p:nvSpPr>
              <p:cNvPr id="16" name="TextBox 16"/>
              <p:cNvSpPr txBox="1"/>
              <p:nvPr/>
            </p:nvSpPr>
            <p:spPr>
              <a:xfrm>
                <a:off x="0" y="-28575"/>
                <a:ext cx="828711" cy="261775"/>
              </a:xfrm>
              <a:prstGeom prst="rect">
                <a:avLst/>
              </a:prstGeom>
            </p:spPr>
            <p:txBody>
              <a:bodyPr lIns="50800" tIns="50800" rIns="50800" bIns="50800" rtlCol="0" anchor="ctr"/>
              <a:lstStyle/>
              <a:p>
                <a:pPr algn="ctr">
                  <a:lnSpc>
                    <a:spcPts val="2520"/>
                  </a:lnSpc>
                  <a:spcBef>
                    <a:spcPct val="0"/>
                  </a:spcBef>
                </a:pPr>
                <a:r>
                  <a:rPr lang="en-US" sz="1800" b="1">
                    <a:solidFill>
                      <a:srgbClr val="FFFFFF"/>
                    </a:solidFill>
                    <a:latin typeface="Open Sans Bold"/>
                    <a:ea typeface="Open Sans Bold"/>
                    <a:cs typeface="Open Sans Bold"/>
                    <a:sym typeface="Open Sans Bold"/>
                  </a:rPr>
                  <a:t>Modifier le codebook par itérations successives</a:t>
                </a:r>
              </a:p>
            </p:txBody>
          </p:sp>
        </p:grpSp>
      </p:grpSp>
      <p:sp>
        <p:nvSpPr>
          <p:cNvPr id="17" name="TextBox 17"/>
          <p:cNvSpPr txBox="1"/>
          <p:nvPr/>
        </p:nvSpPr>
        <p:spPr>
          <a:xfrm>
            <a:off x="1074686" y="1114425"/>
            <a:ext cx="15685922" cy="673100"/>
          </a:xfrm>
          <a:prstGeom prst="rect">
            <a:avLst/>
          </a:prstGeom>
        </p:spPr>
        <p:txBody>
          <a:bodyPr lIns="0" tIns="0" rIns="0" bIns="0" rtlCol="0" anchor="t">
            <a:spAutoFit/>
          </a:bodyPr>
          <a:lstStyle/>
          <a:p>
            <a:pPr algn="l">
              <a:lnSpc>
                <a:spcPts val="5050"/>
              </a:lnSpc>
            </a:pPr>
            <a:r>
              <a:rPr lang="en-US" sz="5000" b="1">
                <a:solidFill>
                  <a:srgbClr val="000000"/>
                </a:solidFill>
                <a:latin typeface="Open Sauce Bold"/>
                <a:ea typeface="Open Sauce Bold"/>
                <a:cs typeface="Open Sauce Bold"/>
                <a:sym typeface="Open Sauce Bold"/>
              </a:rPr>
              <a:t>Rappel : le workflow d’un projet ActiveTigger</a:t>
            </a:r>
          </a:p>
        </p:txBody>
      </p:sp>
      <p:sp>
        <p:nvSpPr>
          <p:cNvPr id="18" name="TextBox 18"/>
          <p:cNvSpPr txBox="1"/>
          <p:nvPr/>
        </p:nvSpPr>
        <p:spPr>
          <a:xfrm>
            <a:off x="1166009" y="3167592"/>
            <a:ext cx="5945631" cy="701675"/>
          </a:xfrm>
          <a:prstGeom prst="rect">
            <a:avLst/>
          </a:prstGeom>
        </p:spPr>
        <p:txBody>
          <a:bodyPr lIns="0" tIns="0" rIns="0" bIns="0" rtlCol="0" anchor="t">
            <a:spAutoFit/>
          </a:bodyPr>
          <a:lstStyle/>
          <a:p>
            <a:pPr algn="l">
              <a:lnSpc>
                <a:spcPts val="2800"/>
              </a:lnSpc>
              <a:spcBef>
                <a:spcPct val="0"/>
              </a:spcBef>
            </a:pPr>
            <a:r>
              <a:rPr lang="en-US" sz="2000" b="1">
                <a:solidFill>
                  <a:srgbClr val="000000"/>
                </a:solidFill>
                <a:latin typeface="Open Sauce Bold"/>
                <a:ea typeface="Open Sauce Bold"/>
                <a:cs typeface="Open Sauce Bold"/>
                <a:sym typeface="Open Sauce Bold"/>
              </a:rPr>
              <a:t>Étape 2 : Annoter les données d’entraînement et fixer son codebook</a:t>
            </a:r>
          </a:p>
        </p:txBody>
      </p:sp>
      <p:sp>
        <p:nvSpPr>
          <p:cNvPr id="19" name="TextBox 19"/>
          <p:cNvSpPr txBox="1"/>
          <p:nvPr/>
        </p:nvSpPr>
        <p:spPr>
          <a:xfrm>
            <a:off x="1166009" y="2370048"/>
            <a:ext cx="5945631" cy="349250"/>
          </a:xfrm>
          <a:prstGeom prst="rect">
            <a:avLst/>
          </a:prstGeom>
        </p:spPr>
        <p:txBody>
          <a:bodyPr lIns="0" tIns="0" rIns="0" bIns="0" rtlCol="0" anchor="t">
            <a:spAutoFit/>
          </a:bodyPr>
          <a:lstStyle/>
          <a:p>
            <a:pPr algn="l">
              <a:lnSpc>
                <a:spcPts val="2800"/>
              </a:lnSpc>
              <a:spcBef>
                <a:spcPct val="0"/>
              </a:spcBef>
            </a:pPr>
            <a:r>
              <a:rPr lang="en-US" sz="2000" b="1">
                <a:solidFill>
                  <a:srgbClr val="000000"/>
                </a:solidFill>
                <a:latin typeface="Open Sauce Bold"/>
                <a:ea typeface="Open Sauce Bold"/>
                <a:cs typeface="Open Sauce Bold"/>
                <a:sym typeface="Open Sauce Bold"/>
              </a:rPr>
              <a:t>Étape 1 : Création du projet</a:t>
            </a:r>
          </a:p>
        </p:txBody>
      </p:sp>
      <p:sp>
        <p:nvSpPr>
          <p:cNvPr id="20" name="AutoShape 20"/>
          <p:cNvSpPr/>
          <p:nvPr/>
        </p:nvSpPr>
        <p:spPr>
          <a:xfrm flipH="1" flipV="1">
            <a:off x="9107863" y="2357914"/>
            <a:ext cx="45662" cy="7222837"/>
          </a:xfrm>
          <a:prstGeom prst="line">
            <a:avLst/>
          </a:prstGeom>
          <a:ln w="19050" cap="flat">
            <a:solidFill>
              <a:srgbClr val="2A3067"/>
            </a:solidFill>
            <a:prstDash val="solid"/>
            <a:headEnd type="none" w="sm" len="sm"/>
            <a:tailEnd type="none" w="sm" len="sm"/>
          </a:ln>
        </p:spPr>
        <p:txBody>
          <a:bodyPr/>
          <a:lstStyle/>
          <a:p>
            <a:endParaRPr lang="fr-FR"/>
          </a:p>
        </p:txBody>
      </p:sp>
      <p:sp>
        <p:nvSpPr>
          <p:cNvPr id="21" name="TextBox 21"/>
          <p:cNvSpPr txBox="1"/>
          <p:nvPr/>
        </p:nvSpPr>
        <p:spPr>
          <a:xfrm>
            <a:off x="9623691" y="2906135"/>
            <a:ext cx="7537477" cy="349250"/>
          </a:xfrm>
          <a:prstGeom prst="rect">
            <a:avLst/>
          </a:prstGeom>
        </p:spPr>
        <p:txBody>
          <a:bodyPr lIns="0" tIns="0" rIns="0" bIns="0" rtlCol="0" anchor="t">
            <a:spAutoFit/>
          </a:bodyPr>
          <a:lstStyle/>
          <a:p>
            <a:pPr algn="l">
              <a:lnSpc>
                <a:spcPts val="2800"/>
              </a:lnSpc>
              <a:spcBef>
                <a:spcPct val="0"/>
              </a:spcBef>
            </a:pPr>
            <a:r>
              <a:rPr lang="en-US" sz="2000" b="1">
                <a:solidFill>
                  <a:srgbClr val="000000"/>
                </a:solidFill>
                <a:latin typeface="Open Sauce Bold"/>
                <a:ea typeface="Open Sauce Bold"/>
                <a:cs typeface="Open Sauce Bold"/>
                <a:sym typeface="Open Sauce Bold"/>
              </a:rPr>
              <a:t>Étape 3 : Annoter les données de validation et de test</a:t>
            </a:r>
          </a:p>
        </p:txBody>
      </p:sp>
      <p:sp>
        <p:nvSpPr>
          <p:cNvPr id="22" name="TextBox 22"/>
          <p:cNvSpPr txBox="1"/>
          <p:nvPr/>
        </p:nvSpPr>
        <p:spPr>
          <a:xfrm>
            <a:off x="9623691" y="4103141"/>
            <a:ext cx="4104627" cy="349250"/>
          </a:xfrm>
          <a:prstGeom prst="rect">
            <a:avLst/>
          </a:prstGeom>
        </p:spPr>
        <p:txBody>
          <a:bodyPr lIns="0" tIns="0" rIns="0" bIns="0" rtlCol="0" anchor="t">
            <a:spAutoFit/>
          </a:bodyPr>
          <a:lstStyle/>
          <a:p>
            <a:pPr algn="l">
              <a:lnSpc>
                <a:spcPts val="2800"/>
              </a:lnSpc>
              <a:spcBef>
                <a:spcPct val="0"/>
              </a:spcBef>
            </a:pPr>
            <a:r>
              <a:rPr lang="en-US" sz="2000" b="1">
                <a:solidFill>
                  <a:srgbClr val="000000"/>
                </a:solidFill>
                <a:latin typeface="Open Sauce Bold"/>
                <a:ea typeface="Open Sauce Bold"/>
                <a:cs typeface="Open Sauce Bold"/>
                <a:sym typeface="Open Sauce Bold"/>
              </a:rPr>
              <a:t>Étape 4 : Entraîner des modèles</a:t>
            </a:r>
          </a:p>
        </p:txBody>
      </p:sp>
      <p:sp>
        <p:nvSpPr>
          <p:cNvPr id="23" name="TextBox 23"/>
          <p:cNvSpPr txBox="1"/>
          <p:nvPr/>
        </p:nvSpPr>
        <p:spPr>
          <a:xfrm>
            <a:off x="9623691" y="5386130"/>
            <a:ext cx="5209590" cy="349250"/>
          </a:xfrm>
          <a:prstGeom prst="rect">
            <a:avLst/>
          </a:prstGeom>
        </p:spPr>
        <p:txBody>
          <a:bodyPr lIns="0" tIns="0" rIns="0" bIns="0" rtlCol="0" anchor="t">
            <a:spAutoFit/>
          </a:bodyPr>
          <a:lstStyle/>
          <a:p>
            <a:pPr algn="l">
              <a:lnSpc>
                <a:spcPts val="2800"/>
              </a:lnSpc>
              <a:spcBef>
                <a:spcPct val="0"/>
              </a:spcBef>
            </a:pPr>
            <a:r>
              <a:rPr lang="en-US" sz="2000" b="1">
                <a:solidFill>
                  <a:srgbClr val="000000"/>
                </a:solidFill>
                <a:latin typeface="Open Sauce Bold"/>
                <a:ea typeface="Open Sauce Bold"/>
                <a:cs typeface="Open Sauce Bold"/>
                <a:sym typeface="Open Sauce Bold"/>
              </a:rPr>
              <a:t>Étape 5 : Sélectionner un modèle</a:t>
            </a:r>
          </a:p>
        </p:txBody>
      </p:sp>
      <p:sp>
        <p:nvSpPr>
          <p:cNvPr id="24" name="TextBox 24"/>
          <p:cNvSpPr txBox="1"/>
          <p:nvPr/>
        </p:nvSpPr>
        <p:spPr>
          <a:xfrm>
            <a:off x="9601200" y="6684284"/>
            <a:ext cx="5209590" cy="349250"/>
          </a:xfrm>
          <a:prstGeom prst="rect">
            <a:avLst/>
          </a:prstGeom>
        </p:spPr>
        <p:txBody>
          <a:bodyPr lIns="0" tIns="0" rIns="0" bIns="0" rtlCol="0" anchor="t">
            <a:spAutoFit/>
          </a:bodyPr>
          <a:lstStyle/>
          <a:p>
            <a:pPr algn="l">
              <a:lnSpc>
                <a:spcPts val="2800"/>
              </a:lnSpc>
              <a:spcBef>
                <a:spcPct val="0"/>
              </a:spcBef>
            </a:pPr>
            <a:r>
              <a:rPr lang="en-US" sz="2000" b="1">
                <a:solidFill>
                  <a:srgbClr val="000000"/>
                </a:solidFill>
                <a:latin typeface="Open Sauce Bold"/>
                <a:ea typeface="Open Sauce Bold"/>
                <a:cs typeface="Open Sauce Bold"/>
                <a:sym typeface="Open Sauce Bold"/>
              </a:rPr>
              <a:t>Étape 6 : Évaluer le modèle</a:t>
            </a:r>
          </a:p>
        </p:txBody>
      </p:sp>
      <p:sp>
        <p:nvSpPr>
          <p:cNvPr id="25" name="TextBox 25"/>
          <p:cNvSpPr txBox="1"/>
          <p:nvPr/>
        </p:nvSpPr>
        <p:spPr>
          <a:xfrm>
            <a:off x="9623691" y="8021498"/>
            <a:ext cx="6210963" cy="349250"/>
          </a:xfrm>
          <a:prstGeom prst="rect">
            <a:avLst/>
          </a:prstGeom>
        </p:spPr>
        <p:txBody>
          <a:bodyPr lIns="0" tIns="0" rIns="0" bIns="0" rtlCol="0" anchor="t">
            <a:spAutoFit/>
          </a:bodyPr>
          <a:lstStyle/>
          <a:p>
            <a:pPr algn="l">
              <a:lnSpc>
                <a:spcPts val="2800"/>
              </a:lnSpc>
              <a:spcBef>
                <a:spcPct val="0"/>
              </a:spcBef>
            </a:pPr>
            <a:r>
              <a:rPr lang="en-US" sz="2000" b="1">
                <a:solidFill>
                  <a:srgbClr val="000000"/>
                </a:solidFill>
                <a:latin typeface="Open Sauce Bold"/>
                <a:ea typeface="Open Sauce Bold"/>
                <a:cs typeface="Open Sauce Bold"/>
                <a:sym typeface="Open Sauce Bold"/>
              </a:rPr>
              <a:t>Étape 7 : Étendre la prédiction à tout le corpus</a:t>
            </a:r>
          </a:p>
        </p:txBody>
      </p:sp>
      <p:sp>
        <p:nvSpPr>
          <p:cNvPr id="26" name="Freeform 26"/>
          <p:cNvSpPr/>
          <p:nvPr/>
        </p:nvSpPr>
        <p:spPr>
          <a:xfrm>
            <a:off x="13331328" y="6494921"/>
            <a:ext cx="503604" cy="490785"/>
          </a:xfrm>
          <a:custGeom>
            <a:avLst/>
            <a:gdLst/>
            <a:ahLst/>
            <a:cxnLst/>
            <a:rect l="l" t="t" r="r" b="b"/>
            <a:pathLst>
              <a:path w="503604" h="490785">
                <a:moveTo>
                  <a:pt x="0" y="0"/>
                </a:moveTo>
                <a:lnTo>
                  <a:pt x="503603" y="0"/>
                </a:lnTo>
                <a:lnTo>
                  <a:pt x="503603" y="490785"/>
                </a:lnTo>
                <a:lnTo>
                  <a:pt x="0" y="490785"/>
                </a:lnTo>
                <a:lnTo>
                  <a:pt x="0" y="0"/>
                </a:lnTo>
                <a:close/>
              </a:path>
            </a:pathLst>
          </a:custGeom>
          <a:blipFill>
            <a:blip r:embed="rId3"/>
            <a:stretch>
              <a:fillRect/>
            </a:stretch>
          </a:blipFill>
        </p:spPr>
        <p:txBody>
          <a:bodyPr/>
          <a:lstStyle/>
          <a:p>
            <a:endParaRPr lang="fr-FR"/>
          </a:p>
        </p:txBody>
      </p:sp>
      <p:grpSp>
        <p:nvGrpSpPr>
          <p:cNvPr id="27" name="Group 27"/>
          <p:cNvGrpSpPr/>
          <p:nvPr/>
        </p:nvGrpSpPr>
        <p:grpSpPr>
          <a:xfrm>
            <a:off x="13240144" y="7099143"/>
            <a:ext cx="685971" cy="267121"/>
            <a:chOff x="0" y="0"/>
            <a:chExt cx="22819" cy="8886"/>
          </a:xfrm>
        </p:grpSpPr>
        <p:sp>
          <p:nvSpPr>
            <p:cNvPr id="28" name="Freeform 28"/>
            <p:cNvSpPr/>
            <p:nvPr/>
          </p:nvSpPr>
          <p:spPr>
            <a:xfrm>
              <a:off x="0" y="0"/>
              <a:ext cx="22819" cy="8886"/>
            </a:xfrm>
            <a:custGeom>
              <a:avLst/>
              <a:gdLst/>
              <a:ahLst/>
              <a:cxnLst/>
              <a:rect l="l" t="t" r="r" b="b"/>
              <a:pathLst>
                <a:path w="22819" h="8886">
                  <a:moveTo>
                    <a:pt x="0" y="0"/>
                  </a:moveTo>
                  <a:lnTo>
                    <a:pt x="22819" y="0"/>
                  </a:lnTo>
                  <a:lnTo>
                    <a:pt x="22819" y="8886"/>
                  </a:lnTo>
                  <a:lnTo>
                    <a:pt x="0" y="8886"/>
                  </a:lnTo>
                  <a:close/>
                </a:path>
              </a:pathLst>
            </a:custGeom>
            <a:solidFill>
              <a:srgbClr val="8CAD75"/>
            </a:solidFill>
          </p:spPr>
          <p:txBody>
            <a:bodyPr/>
            <a:lstStyle/>
            <a:p>
              <a:endParaRPr lang="fr-FR"/>
            </a:p>
          </p:txBody>
        </p:sp>
        <p:sp>
          <p:nvSpPr>
            <p:cNvPr id="29" name="TextBox 29"/>
            <p:cNvSpPr txBox="1"/>
            <p:nvPr/>
          </p:nvSpPr>
          <p:spPr>
            <a:xfrm>
              <a:off x="0" y="-28575"/>
              <a:ext cx="22819" cy="37461"/>
            </a:xfrm>
            <a:prstGeom prst="rect">
              <a:avLst/>
            </a:prstGeom>
          </p:spPr>
          <p:txBody>
            <a:bodyPr lIns="50487" tIns="50487" rIns="50487" bIns="50487" rtlCol="0" anchor="ctr"/>
            <a:lstStyle/>
            <a:p>
              <a:pPr algn="ctr">
                <a:lnSpc>
                  <a:spcPts val="1400"/>
                </a:lnSpc>
                <a:spcBef>
                  <a:spcPct val="0"/>
                </a:spcBef>
              </a:pPr>
              <a:r>
                <a:rPr lang="en-US" sz="1000" b="1">
                  <a:solidFill>
                    <a:srgbClr val="FFFFFF"/>
                  </a:solidFill>
                  <a:latin typeface="Gotham Bold"/>
                  <a:ea typeface="Gotham Bold"/>
                  <a:cs typeface="Gotham Bold"/>
                  <a:sym typeface="Gotham Bold"/>
                </a:rPr>
                <a:t>Test Set</a:t>
              </a:r>
            </a:p>
          </p:txBody>
        </p:sp>
      </p:grpSp>
      <p:sp>
        <p:nvSpPr>
          <p:cNvPr id="30" name="Freeform 30"/>
          <p:cNvSpPr/>
          <p:nvPr/>
        </p:nvSpPr>
        <p:spPr>
          <a:xfrm>
            <a:off x="14334278" y="5140701"/>
            <a:ext cx="503604" cy="490785"/>
          </a:xfrm>
          <a:custGeom>
            <a:avLst/>
            <a:gdLst/>
            <a:ahLst/>
            <a:cxnLst/>
            <a:rect l="l" t="t" r="r" b="b"/>
            <a:pathLst>
              <a:path w="503604" h="490785">
                <a:moveTo>
                  <a:pt x="0" y="0"/>
                </a:moveTo>
                <a:lnTo>
                  <a:pt x="503604" y="0"/>
                </a:lnTo>
                <a:lnTo>
                  <a:pt x="503604" y="490785"/>
                </a:lnTo>
                <a:lnTo>
                  <a:pt x="0" y="490785"/>
                </a:lnTo>
                <a:lnTo>
                  <a:pt x="0" y="0"/>
                </a:lnTo>
                <a:close/>
              </a:path>
            </a:pathLst>
          </a:custGeom>
          <a:blipFill>
            <a:blip r:embed="rId3"/>
            <a:stretch>
              <a:fillRect/>
            </a:stretch>
          </a:blipFill>
        </p:spPr>
        <p:txBody>
          <a:bodyPr/>
          <a:lstStyle/>
          <a:p>
            <a:endParaRPr lang="fr-FR"/>
          </a:p>
        </p:txBody>
      </p:sp>
      <p:grpSp>
        <p:nvGrpSpPr>
          <p:cNvPr id="31" name="Group 31"/>
          <p:cNvGrpSpPr/>
          <p:nvPr/>
        </p:nvGrpSpPr>
        <p:grpSpPr>
          <a:xfrm>
            <a:off x="14062173" y="5735380"/>
            <a:ext cx="1047814" cy="284859"/>
            <a:chOff x="0" y="0"/>
            <a:chExt cx="34857" cy="9476"/>
          </a:xfrm>
        </p:grpSpPr>
        <p:sp>
          <p:nvSpPr>
            <p:cNvPr id="32" name="Freeform 32"/>
            <p:cNvSpPr/>
            <p:nvPr/>
          </p:nvSpPr>
          <p:spPr>
            <a:xfrm>
              <a:off x="0" y="0"/>
              <a:ext cx="34857" cy="9476"/>
            </a:xfrm>
            <a:custGeom>
              <a:avLst/>
              <a:gdLst/>
              <a:ahLst/>
              <a:cxnLst/>
              <a:rect l="l" t="t" r="r" b="b"/>
              <a:pathLst>
                <a:path w="34857" h="9476">
                  <a:moveTo>
                    <a:pt x="0" y="0"/>
                  </a:moveTo>
                  <a:lnTo>
                    <a:pt x="34857" y="0"/>
                  </a:lnTo>
                  <a:lnTo>
                    <a:pt x="34857" y="9476"/>
                  </a:lnTo>
                  <a:lnTo>
                    <a:pt x="0" y="9476"/>
                  </a:lnTo>
                  <a:close/>
                </a:path>
              </a:pathLst>
            </a:custGeom>
            <a:solidFill>
              <a:srgbClr val="8CAD75"/>
            </a:solidFill>
          </p:spPr>
          <p:txBody>
            <a:bodyPr/>
            <a:lstStyle/>
            <a:p>
              <a:endParaRPr lang="fr-FR"/>
            </a:p>
          </p:txBody>
        </p:sp>
        <p:sp>
          <p:nvSpPr>
            <p:cNvPr id="33" name="TextBox 33"/>
            <p:cNvSpPr txBox="1"/>
            <p:nvPr/>
          </p:nvSpPr>
          <p:spPr>
            <a:xfrm>
              <a:off x="0" y="-28575"/>
              <a:ext cx="34857" cy="38051"/>
            </a:xfrm>
            <a:prstGeom prst="rect">
              <a:avLst/>
            </a:prstGeom>
          </p:spPr>
          <p:txBody>
            <a:bodyPr lIns="50487" tIns="50487" rIns="50487" bIns="50487" rtlCol="0" anchor="ctr"/>
            <a:lstStyle/>
            <a:p>
              <a:pPr algn="ctr">
                <a:lnSpc>
                  <a:spcPts val="1400"/>
                </a:lnSpc>
                <a:spcBef>
                  <a:spcPct val="0"/>
                </a:spcBef>
              </a:pPr>
              <a:r>
                <a:rPr lang="en-US" sz="1000" b="1">
                  <a:solidFill>
                    <a:srgbClr val="FFFFFF"/>
                  </a:solidFill>
                  <a:latin typeface="Gotham Bold"/>
                  <a:ea typeface="Gotham Bold"/>
                  <a:cs typeface="Gotham Bold"/>
                  <a:sym typeface="Gotham Bold"/>
                </a:rPr>
                <a:t>Validation Set</a:t>
              </a:r>
            </a:p>
          </p:txBody>
        </p:sp>
      </p:grpSp>
      <p:sp>
        <p:nvSpPr>
          <p:cNvPr id="34" name="Freeform 34"/>
          <p:cNvSpPr/>
          <p:nvPr/>
        </p:nvSpPr>
        <p:spPr>
          <a:xfrm>
            <a:off x="15734188" y="7842514"/>
            <a:ext cx="633958" cy="547284"/>
          </a:xfrm>
          <a:custGeom>
            <a:avLst/>
            <a:gdLst/>
            <a:ahLst/>
            <a:cxnLst/>
            <a:rect l="l" t="t" r="r" b="b"/>
            <a:pathLst>
              <a:path w="633958" h="547284">
                <a:moveTo>
                  <a:pt x="0" y="0"/>
                </a:moveTo>
                <a:lnTo>
                  <a:pt x="633958" y="0"/>
                </a:lnTo>
                <a:lnTo>
                  <a:pt x="633958" y="547284"/>
                </a:lnTo>
                <a:lnTo>
                  <a:pt x="0" y="547284"/>
                </a:lnTo>
                <a:lnTo>
                  <a:pt x="0" y="0"/>
                </a:lnTo>
                <a:close/>
              </a:path>
            </a:pathLst>
          </a:custGeom>
          <a:blipFill>
            <a:blip r:embed="rId4"/>
            <a:stretch>
              <a:fillRect/>
            </a:stretch>
          </a:blipFill>
        </p:spPr>
        <p:txBody>
          <a:bodyPr/>
          <a:lstStyle/>
          <a:p>
            <a:endParaRPr lang="fr-FR"/>
          </a:p>
        </p:txBody>
      </p:sp>
      <p:grpSp>
        <p:nvGrpSpPr>
          <p:cNvPr id="35" name="Group 35"/>
          <p:cNvGrpSpPr/>
          <p:nvPr/>
        </p:nvGrpSpPr>
        <p:grpSpPr>
          <a:xfrm>
            <a:off x="15383422" y="8502910"/>
            <a:ext cx="1377186" cy="267121"/>
            <a:chOff x="0" y="0"/>
            <a:chExt cx="45813" cy="8886"/>
          </a:xfrm>
        </p:grpSpPr>
        <p:sp>
          <p:nvSpPr>
            <p:cNvPr id="36" name="Freeform 36"/>
            <p:cNvSpPr/>
            <p:nvPr/>
          </p:nvSpPr>
          <p:spPr>
            <a:xfrm>
              <a:off x="0" y="0"/>
              <a:ext cx="45813" cy="8886"/>
            </a:xfrm>
            <a:custGeom>
              <a:avLst/>
              <a:gdLst/>
              <a:ahLst/>
              <a:cxnLst/>
              <a:rect l="l" t="t" r="r" b="b"/>
              <a:pathLst>
                <a:path w="45813" h="8886">
                  <a:moveTo>
                    <a:pt x="0" y="0"/>
                  </a:moveTo>
                  <a:lnTo>
                    <a:pt x="45813" y="0"/>
                  </a:lnTo>
                  <a:lnTo>
                    <a:pt x="45813" y="8886"/>
                  </a:lnTo>
                  <a:lnTo>
                    <a:pt x="0" y="8886"/>
                  </a:lnTo>
                  <a:close/>
                </a:path>
              </a:pathLst>
            </a:custGeom>
            <a:solidFill>
              <a:srgbClr val="8CAD75"/>
            </a:solidFill>
          </p:spPr>
          <p:txBody>
            <a:bodyPr/>
            <a:lstStyle/>
            <a:p>
              <a:endParaRPr lang="fr-FR"/>
            </a:p>
          </p:txBody>
        </p:sp>
        <p:sp>
          <p:nvSpPr>
            <p:cNvPr id="37" name="TextBox 37"/>
            <p:cNvSpPr txBox="1"/>
            <p:nvPr/>
          </p:nvSpPr>
          <p:spPr>
            <a:xfrm>
              <a:off x="0" y="-28575"/>
              <a:ext cx="45813" cy="37461"/>
            </a:xfrm>
            <a:prstGeom prst="rect">
              <a:avLst/>
            </a:prstGeom>
          </p:spPr>
          <p:txBody>
            <a:bodyPr lIns="50487" tIns="50487" rIns="50487" bIns="50487" rtlCol="0" anchor="ctr"/>
            <a:lstStyle/>
            <a:p>
              <a:pPr algn="ctr">
                <a:lnSpc>
                  <a:spcPts val="1400"/>
                </a:lnSpc>
                <a:spcBef>
                  <a:spcPct val="0"/>
                </a:spcBef>
              </a:pPr>
              <a:r>
                <a:rPr lang="en-US" sz="1000" b="1">
                  <a:solidFill>
                    <a:srgbClr val="FFFFFF"/>
                  </a:solidFill>
                  <a:latin typeface="Gotham Bold"/>
                  <a:ea typeface="Gotham Bold"/>
                  <a:cs typeface="Gotham Bold"/>
                  <a:sym typeface="Gotham Bold"/>
                </a:rPr>
                <a:t>Données restantes</a:t>
              </a:r>
            </a:p>
          </p:txBody>
        </p:sp>
      </p:grpSp>
      <p:sp>
        <p:nvSpPr>
          <p:cNvPr id="38" name="Freeform 38"/>
          <p:cNvSpPr/>
          <p:nvPr/>
        </p:nvSpPr>
        <p:spPr>
          <a:xfrm>
            <a:off x="13857422" y="3934835"/>
            <a:ext cx="521631" cy="517555"/>
          </a:xfrm>
          <a:custGeom>
            <a:avLst/>
            <a:gdLst/>
            <a:ahLst/>
            <a:cxnLst/>
            <a:rect l="l" t="t" r="r" b="b"/>
            <a:pathLst>
              <a:path w="521631" h="517555">
                <a:moveTo>
                  <a:pt x="0" y="0"/>
                </a:moveTo>
                <a:lnTo>
                  <a:pt x="521631" y="0"/>
                </a:lnTo>
                <a:lnTo>
                  <a:pt x="521631" y="517556"/>
                </a:lnTo>
                <a:lnTo>
                  <a:pt x="0" y="517556"/>
                </a:lnTo>
                <a:lnTo>
                  <a:pt x="0" y="0"/>
                </a:lnTo>
                <a:close/>
              </a:path>
            </a:pathLst>
          </a:custGeom>
          <a:blipFill>
            <a:blip r:embed="rId5"/>
            <a:stretch>
              <a:fillRect/>
            </a:stretch>
          </a:blipFill>
        </p:spPr>
        <p:txBody>
          <a:bodyPr/>
          <a:lstStyle/>
          <a:p>
            <a:endParaRPr lang="fr-FR"/>
          </a:p>
        </p:txBody>
      </p:sp>
      <p:grpSp>
        <p:nvGrpSpPr>
          <p:cNvPr id="39" name="Group 39"/>
          <p:cNvGrpSpPr/>
          <p:nvPr/>
        </p:nvGrpSpPr>
        <p:grpSpPr>
          <a:xfrm>
            <a:off x="13787720" y="4544240"/>
            <a:ext cx="661036" cy="267121"/>
            <a:chOff x="0" y="0"/>
            <a:chExt cx="23103" cy="9336"/>
          </a:xfrm>
        </p:grpSpPr>
        <p:sp>
          <p:nvSpPr>
            <p:cNvPr id="40" name="Freeform 40"/>
            <p:cNvSpPr/>
            <p:nvPr/>
          </p:nvSpPr>
          <p:spPr>
            <a:xfrm>
              <a:off x="0" y="0"/>
              <a:ext cx="23103" cy="9336"/>
            </a:xfrm>
            <a:custGeom>
              <a:avLst/>
              <a:gdLst/>
              <a:ahLst/>
              <a:cxnLst/>
              <a:rect l="l" t="t" r="r" b="b"/>
              <a:pathLst>
                <a:path w="23103" h="9336">
                  <a:moveTo>
                    <a:pt x="0" y="0"/>
                  </a:moveTo>
                  <a:lnTo>
                    <a:pt x="23103" y="0"/>
                  </a:lnTo>
                  <a:lnTo>
                    <a:pt x="23103" y="9336"/>
                  </a:lnTo>
                  <a:lnTo>
                    <a:pt x="0" y="9336"/>
                  </a:lnTo>
                  <a:close/>
                </a:path>
              </a:pathLst>
            </a:custGeom>
            <a:solidFill>
              <a:srgbClr val="8CAD75"/>
            </a:solidFill>
          </p:spPr>
          <p:txBody>
            <a:bodyPr/>
            <a:lstStyle/>
            <a:p>
              <a:endParaRPr lang="fr-FR"/>
            </a:p>
          </p:txBody>
        </p:sp>
        <p:sp>
          <p:nvSpPr>
            <p:cNvPr id="41" name="TextBox 41"/>
            <p:cNvSpPr txBox="1"/>
            <p:nvPr/>
          </p:nvSpPr>
          <p:spPr>
            <a:xfrm>
              <a:off x="0" y="-28575"/>
              <a:ext cx="23103" cy="37911"/>
            </a:xfrm>
            <a:prstGeom prst="rect">
              <a:avLst/>
            </a:prstGeom>
          </p:spPr>
          <p:txBody>
            <a:bodyPr lIns="50487" tIns="50487" rIns="50487" bIns="50487" rtlCol="0" anchor="ctr"/>
            <a:lstStyle/>
            <a:p>
              <a:pPr algn="ctr">
                <a:lnSpc>
                  <a:spcPts val="1400"/>
                </a:lnSpc>
                <a:spcBef>
                  <a:spcPct val="0"/>
                </a:spcBef>
              </a:pPr>
              <a:r>
                <a:rPr lang="en-US" sz="1000" b="1">
                  <a:solidFill>
                    <a:srgbClr val="FFFFFF"/>
                  </a:solidFill>
                  <a:latin typeface="Gotham Bold"/>
                  <a:ea typeface="Gotham Bold"/>
                  <a:cs typeface="Gotham Bold"/>
                  <a:sym typeface="Gotham Bold"/>
                </a:rPr>
                <a:t>Train Set</a:t>
              </a: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66675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2"/>
            <a:stretch>
              <a:fillRect/>
            </a:stretch>
          </a:blipFill>
        </p:spPr>
        <p:txBody>
          <a:bodyPr/>
          <a:lstStyle/>
          <a:p>
            <a:endParaRPr lang="fr-FR"/>
          </a:p>
        </p:txBody>
      </p:sp>
      <p:sp>
        <p:nvSpPr>
          <p:cNvPr id="3" name="TextBox 3"/>
          <p:cNvSpPr txBox="1"/>
          <p:nvPr/>
        </p:nvSpPr>
        <p:spPr>
          <a:xfrm>
            <a:off x="1929998" y="752475"/>
            <a:ext cx="15685922" cy="1311275"/>
          </a:xfrm>
          <a:prstGeom prst="rect">
            <a:avLst/>
          </a:prstGeom>
        </p:spPr>
        <p:txBody>
          <a:bodyPr lIns="0" tIns="0" rIns="0" bIns="0" rtlCol="0" anchor="t">
            <a:spAutoFit/>
          </a:bodyPr>
          <a:lstStyle/>
          <a:p>
            <a:pPr algn="l">
              <a:lnSpc>
                <a:spcPts val="5050"/>
              </a:lnSpc>
            </a:pPr>
            <a:r>
              <a:rPr lang="en-US" sz="5000" b="1">
                <a:solidFill>
                  <a:srgbClr val="000000"/>
                </a:solidFill>
                <a:latin typeface="Open Sauce Bold"/>
                <a:ea typeface="Open Sauce Bold"/>
                <a:cs typeface="Open Sauce Bold"/>
                <a:sym typeface="Open Sauce Bold"/>
              </a:rPr>
              <a:t>Étape 2 : annoter les données d’entraînement et fixer son codebook</a:t>
            </a:r>
          </a:p>
        </p:txBody>
      </p:sp>
      <p:sp>
        <p:nvSpPr>
          <p:cNvPr id="4" name="TextBox 4"/>
          <p:cNvSpPr txBox="1"/>
          <p:nvPr/>
        </p:nvSpPr>
        <p:spPr>
          <a:xfrm>
            <a:off x="1229688" y="2921648"/>
            <a:ext cx="13160463" cy="5238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Pour pouvoir annoter, il nous faut créer un premier codebook.</a:t>
            </a:r>
          </a:p>
        </p:txBody>
      </p:sp>
      <p:sp>
        <p:nvSpPr>
          <p:cNvPr id="5" name="TextBox 5"/>
          <p:cNvSpPr txBox="1"/>
          <p:nvPr/>
        </p:nvSpPr>
        <p:spPr>
          <a:xfrm>
            <a:off x="1229688" y="4259846"/>
            <a:ext cx="12423187" cy="5238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Deux catégories (aussi appelées labels, étiquettes) : </a:t>
            </a:r>
          </a:p>
        </p:txBody>
      </p:sp>
      <p:sp>
        <p:nvSpPr>
          <p:cNvPr id="6" name="TextBox 6"/>
          <p:cNvSpPr txBox="1"/>
          <p:nvPr/>
        </p:nvSpPr>
        <p:spPr>
          <a:xfrm>
            <a:off x="1392439" y="6136869"/>
            <a:ext cx="12423187" cy="5238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Partons d’une définition simple (et un peu naïve) :</a:t>
            </a:r>
          </a:p>
        </p:txBody>
      </p:sp>
      <p:sp>
        <p:nvSpPr>
          <p:cNvPr id="7" name="TextBox 7"/>
          <p:cNvSpPr txBox="1"/>
          <p:nvPr/>
        </p:nvSpPr>
        <p:spPr>
          <a:xfrm>
            <a:off x="2264709" y="6886020"/>
            <a:ext cx="14135973" cy="1057275"/>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uce"/>
                <a:ea typeface="Open Sauce"/>
                <a:cs typeface="Open Sauce"/>
                <a:sym typeface="Open Sauce"/>
              </a:rPr>
              <a:t>Un amendement est </a:t>
            </a:r>
            <a:r>
              <a:rPr lang="en-US" sz="3000" b="1">
                <a:solidFill>
                  <a:srgbClr val="000000"/>
                </a:solidFill>
                <a:latin typeface="Open Sauce Bold"/>
                <a:ea typeface="Open Sauce Bold"/>
                <a:cs typeface="Open Sauce Bold"/>
                <a:sym typeface="Open Sauce Bold"/>
              </a:rPr>
              <a:t>source</a:t>
            </a:r>
            <a:r>
              <a:rPr lang="en-US" sz="3000">
                <a:solidFill>
                  <a:srgbClr val="000000"/>
                </a:solidFill>
                <a:latin typeface="Open Sauce"/>
                <a:ea typeface="Open Sauce"/>
                <a:cs typeface="Open Sauce"/>
                <a:sym typeface="Open Sauce"/>
              </a:rPr>
              <a:t> quand il a été travaillé avec un représentant d’intérêt et que son origine est exprimée explicitement comme telle. </a:t>
            </a:r>
          </a:p>
        </p:txBody>
      </p:sp>
      <p:sp>
        <p:nvSpPr>
          <p:cNvPr id="8" name="AutoShape 8"/>
          <p:cNvSpPr/>
          <p:nvPr/>
        </p:nvSpPr>
        <p:spPr>
          <a:xfrm flipH="1" flipV="1">
            <a:off x="1977623" y="6952762"/>
            <a:ext cx="12921" cy="1722826"/>
          </a:xfrm>
          <a:prstGeom prst="line">
            <a:avLst/>
          </a:prstGeom>
          <a:ln w="95250" cap="flat">
            <a:solidFill>
              <a:srgbClr val="EA6F26"/>
            </a:solidFill>
            <a:prstDash val="solid"/>
            <a:headEnd type="none" w="sm" len="sm"/>
            <a:tailEnd type="none" w="sm" len="sm"/>
          </a:ln>
        </p:spPr>
        <p:txBody>
          <a:bodyPr/>
          <a:lstStyle/>
          <a:p>
            <a:endParaRPr lang="fr-FR"/>
          </a:p>
        </p:txBody>
      </p:sp>
      <p:sp>
        <p:nvSpPr>
          <p:cNvPr id="9" name="TextBox 9"/>
          <p:cNvSpPr txBox="1"/>
          <p:nvPr/>
        </p:nvSpPr>
        <p:spPr>
          <a:xfrm>
            <a:off x="10916342" y="4265271"/>
            <a:ext cx="2736532" cy="1057275"/>
          </a:xfrm>
          <a:prstGeom prst="rect">
            <a:avLst/>
          </a:prstGeom>
        </p:spPr>
        <p:txBody>
          <a:bodyPr lIns="0" tIns="0" rIns="0" bIns="0" rtlCol="0" anchor="t">
            <a:spAutoFit/>
          </a:bodyPr>
          <a:lstStyle/>
          <a:p>
            <a:pPr marL="647700" lvl="1" indent="-323850" algn="l">
              <a:lnSpc>
                <a:spcPts val="4200"/>
              </a:lnSpc>
              <a:spcBef>
                <a:spcPct val="0"/>
              </a:spcBef>
              <a:buFont typeface="Arial"/>
              <a:buChar char="•"/>
            </a:pPr>
            <a:r>
              <a:rPr lang="en-US" sz="3000">
                <a:solidFill>
                  <a:srgbClr val="000000"/>
                </a:solidFill>
                <a:latin typeface="Open Sauce"/>
                <a:ea typeface="Open Sauce"/>
                <a:cs typeface="Open Sauce"/>
                <a:sym typeface="Open Sauce"/>
              </a:rPr>
              <a:t>source</a:t>
            </a:r>
          </a:p>
          <a:p>
            <a:pPr marL="647700" lvl="1" indent="-323850" algn="l">
              <a:lnSpc>
                <a:spcPts val="4200"/>
              </a:lnSpc>
              <a:spcBef>
                <a:spcPct val="0"/>
              </a:spcBef>
              <a:buFont typeface="Arial"/>
              <a:buChar char="•"/>
            </a:pPr>
            <a:r>
              <a:rPr lang="en-US" sz="3000">
                <a:solidFill>
                  <a:srgbClr val="000000"/>
                </a:solidFill>
                <a:latin typeface="Open Sauce"/>
                <a:ea typeface="Open Sauce"/>
                <a:cs typeface="Open Sauce"/>
                <a:sym typeface="Open Sauce"/>
              </a:rPr>
              <a:t>non-source</a:t>
            </a:r>
          </a:p>
        </p:txBody>
      </p:sp>
      <p:sp>
        <p:nvSpPr>
          <p:cNvPr id="10" name="TextBox 10"/>
          <p:cNvSpPr txBox="1"/>
          <p:nvPr/>
        </p:nvSpPr>
        <p:spPr>
          <a:xfrm>
            <a:off x="2264709" y="8171895"/>
            <a:ext cx="14135973" cy="523875"/>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uce"/>
                <a:ea typeface="Open Sauce"/>
                <a:cs typeface="Open Sauce"/>
                <a:sym typeface="Open Sauce"/>
              </a:rPr>
              <a:t>Un amendement est </a:t>
            </a:r>
            <a:r>
              <a:rPr lang="en-US" sz="3000" b="1">
                <a:solidFill>
                  <a:srgbClr val="000000"/>
                </a:solidFill>
                <a:latin typeface="Open Sauce Bold"/>
                <a:ea typeface="Open Sauce Bold"/>
                <a:cs typeface="Open Sauce Bold"/>
                <a:sym typeface="Open Sauce Bold"/>
              </a:rPr>
              <a:t>non-source</a:t>
            </a:r>
            <a:r>
              <a:rPr lang="en-US" sz="3000">
                <a:solidFill>
                  <a:srgbClr val="000000"/>
                </a:solidFill>
                <a:latin typeface="Open Sauce"/>
                <a:ea typeface="Open Sauce"/>
                <a:cs typeface="Open Sauce"/>
                <a:sym typeface="Open Sauce"/>
              </a:rPr>
              <a:t> dans tous les autres cas.</a:t>
            </a:r>
          </a:p>
        </p:txBody>
      </p:sp>
      <p:sp>
        <p:nvSpPr>
          <p:cNvPr id="11" name="TextBox 11"/>
          <p:cNvSpPr txBox="1"/>
          <p:nvPr/>
        </p:nvSpPr>
        <p:spPr>
          <a:xfrm>
            <a:off x="1402315" y="6765519"/>
            <a:ext cx="162752" cy="762000"/>
          </a:xfrm>
          <a:prstGeom prst="rect">
            <a:avLst/>
          </a:prstGeom>
        </p:spPr>
        <p:txBody>
          <a:bodyPr lIns="0" tIns="0" rIns="0" bIns="0" rtlCol="0" anchor="t">
            <a:spAutoFit/>
          </a:bodyPr>
          <a:lstStyle/>
          <a:p>
            <a:pPr algn="l">
              <a:lnSpc>
                <a:spcPts val="6299"/>
              </a:lnSpc>
            </a:pPr>
            <a:r>
              <a:rPr lang="en-US" sz="4500" b="1">
                <a:solidFill>
                  <a:srgbClr val="EA6F26"/>
                </a:solidFill>
                <a:latin typeface="Open Sauce Bold"/>
                <a:ea typeface="Open Sauce Bold"/>
                <a:cs typeface="Open Sauce Bold"/>
                <a:sym typeface="Open Sauce Bold"/>
              </a:rPr>
              <a:t>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66675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2"/>
            <a:stretch>
              <a:fillRect/>
            </a:stretch>
          </a:blipFill>
        </p:spPr>
        <p:txBody>
          <a:bodyPr/>
          <a:lstStyle/>
          <a:p>
            <a:endParaRPr lang="fr-FR"/>
          </a:p>
        </p:txBody>
      </p:sp>
      <p:sp>
        <p:nvSpPr>
          <p:cNvPr id="3" name="Freeform 3"/>
          <p:cNvSpPr/>
          <p:nvPr/>
        </p:nvSpPr>
        <p:spPr>
          <a:xfrm>
            <a:off x="3660969" y="4060419"/>
            <a:ext cx="10966061" cy="5448762"/>
          </a:xfrm>
          <a:custGeom>
            <a:avLst/>
            <a:gdLst/>
            <a:ahLst/>
            <a:cxnLst/>
            <a:rect l="l" t="t" r="r" b="b"/>
            <a:pathLst>
              <a:path w="10966061" h="5448762">
                <a:moveTo>
                  <a:pt x="0" y="0"/>
                </a:moveTo>
                <a:lnTo>
                  <a:pt x="10966062" y="0"/>
                </a:lnTo>
                <a:lnTo>
                  <a:pt x="10966062" y="5448761"/>
                </a:lnTo>
                <a:lnTo>
                  <a:pt x="0" y="5448761"/>
                </a:lnTo>
                <a:lnTo>
                  <a:pt x="0" y="0"/>
                </a:lnTo>
                <a:close/>
              </a:path>
            </a:pathLst>
          </a:custGeom>
          <a:blipFill>
            <a:blip r:embed="rId3"/>
            <a:stretch>
              <a:fillRect/>
            </a:stretch>
          </a:blipFill>
        </p:spPr>
        <p:txBody>
          <a:bodyPr/>
          <a:lstStyle/>
          <a:p>
            <a:endParaRPr lang="fr-FR"/>
          </a:p>
        </p:txBody>
      </p:sp>
      <p:sp>
        <p:nvSpPr>
          <p:cNvPr id="4" name="Freeform 4"/>
          <p:cNvSpPr/>
          <p:nvPr/>
        </p:nvSpPr>
        <p:spPr>
          <a:xfrm>
            <a:off x="8444467" y="8108558"/>
            <a:ext cx="430125" cy="534317"/>
          </a:xfrm>
          <a:custGeom>
            <a:avLst/>
            <a:gdLst/>
            <a:ahLst/>
            <a:cxnLst/>
            <a:rect l="l" t="t" r="r" b="b"/>
            <a:pathLst>
              <a:path w="430125" h="534317">
                <a:moveTo>
                  <a:pt x="0" y="0"/>
                </a:moveTo>
                <a:lnTo>
                  <a:pt x="430126" y="0"/>
                </a:lnTo>
                <a:lnTo>
                  <a:pt x="430126" y="534318"/>
                </a:lnTo>
                <a:lnTo>
                  <a:pt x="0" y="534318"/>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fr-FR"/>
          </a:p>
        </p:txBody>
      </p:sp>
      <p:sp>
        <p:nvSpPr>
          <p:cNvPr id="5" name="TextBox 5"/>
          <p:cNvSpPr txBox="1"/>
          <p:nvPr/>
        </p:nvSpPr>
        <p:spPr>
          <a:xfrm>
            <a:off x="1929998" y="752475"/>
            <a:ext cx="15685922" cy="1311275"/>
          </a:xfrm>
          <a:prstGeom prst="rect">
            <a:avLst/>
          </a:prstGeom>
        </p:spPr>
        <p:txBody>
          <a:bodyPr lIns="0" tIns="0" rIns="0" bIns="0" rtlCol="0" anchor="t">
            <a:spAutoFit/>
          </a:bodyPr>
          <a:lstStyle/>
          <a:p>
            <a:pPr algn="l">
              <a:lnSpc>
                <a:spcPts val="5050"/>
              </a:lnSpc>
            </a:pPr>
            <a:r>
              <a:rPr lang="en-US" sz="5000" b="1">
                <a:solidFill>
                  <a:srgbClr val="000000"/>
                </a:solidFill>
                <a:latin typeface="Open Sauce Bold"/>
                <a:ea typeface="Open Sauce Bold"/>
                <a:cs typeface="Open Sauce Bold"/>
                <a:sym typeface="Open Sauce Bold"/>
              </a:rPr>
              <a:t>Étape 2 : annoter les données d’entraînement et fixer son codebook</a:t>
            </a:r>
          </a:p>
        </p:txBody>
      </p:sp>
      <p:sp>
        <p:nvSpPr>
          <p:cNvPr id="6" name="TextBox 6"/>
          <p:cNvSpPr txBox="1"/>
          <p:nvPr/>
        </p:nvSpPr>
        <p:spPr>
          <a:xfrm>
            <a:off x="1229688" y="2498319"/>
            <a:ext cx="14887250" cy="10572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1. Créons les deux labels (source et non-source) : les taper puis cliquer sur Add.</a:t>
            </a:r>
          </a:p>
          <a:p>
            <a:pPr algn="l">
              <a:lnSpc>
                <a:spcPts val="4200"/>
              </a:lnSpc>
            </a:pPr>
            <a:r>
              <a:rPr lang="en-US" sz="3000">
                <a:solidFill>
                  <a:srgbClr val="000000"/>
                </a:solidFill>
                <a:latin typeface="Open Sauce"/>
                <a:ea typeface="Open Sauce"/>
                <a:cs typeface="Open Sauce"/>
                <a:sym typeface="Open Sauce"/>
              </a:rPr>
              <a:t>2. Rentrons notre premier codebook : cliquer sur l’icône stylo et ajouter le texte.</a:t>
            </a:r>
          </a:p>
        </p:txBody>
      </p:sp>
      <p:sp>
        <p:nvSpPr>
          <p:cNvPr id="7" name="Freeform 7"/>
          <p:cNvSpPr/>
          <p:nvPr/>
        </p:nvSpPr>
        <p:spPr>
          <a:xfrm>
            <a:off x="14043962" y="5537411"/>
            <a:ext cx="430125" cy="534317"/>
          </a:xfrm>
          <a:custGeom>
            <a:avLst/>
            <a:gdLst/>
            <a:ahLst/>
            <a:cxnLst/>
            <a:rect l="l" t="t" r="r" b="b"/>
            <a:pathLst>
              <a:path w="430125" h="534317">
                <a:moveTo>
                  <a:pt x="0" y="0"/>
                </a:moveTo>
                <a:lnTo>
                  <a:pt x="430125" y="0"/>
                </a:lnTo>
                <a:lnTo>
                  <a:pt x="430125" y="534317"/>
                </a:lnTo>
                <a:lnTo>
                  <a:pt x="0" y="53431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fr-F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66675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3"/>
            <a:stretch>
              <a:fillRect/>
            </a:stretch>
          </a:blipFill>
        </p:spPr>
        <p:txBody>
          <a:bodyPr/>
          <a:lstStyle/>
          <a:p>
            <a:endParaRPr lang="fr-FR"/>
          </a:p>
        </p:txBody>
      </p:sp>
      <p:sp>
        <p:nvSpPr>
          <p:cNvPr id="3" name="Freeform 3"/>
          <p:cNvSpPr/>
          <p:nvPr/>
        </p:nvSpPr>
        <p:spPr>
          <a:xfrm>
            <a:off x="14733273" y="4765454"/>
            <a:ext cx="2617476" cy="5095024"/>
          </a:xfrm>
          <a:custGeom>
            <a:avLst/>
            <a:gdLst/>
            <a:ahLst/>
            <a:cxnLst/>
            <a:rect l="l" t="t" r="r" b="b"/>
            <a:pathLst>
              <a:path w="2617476" h="5095024">
                <a:moveTo>
                  <a:pt x="0" y="0"/>
                </a:moveTo>
                <a:lnTo>
                  <a:pt x="2617476" y="0"/>
                </a:lnTo>
                <a:lnTo>
                  <a:pt x="2617476" y="5095024"/>
                </a:lnTo>
                <a:lnTo>
                  <a:pt x="0" y="5095024"/>
                </a:lnTo>
                <a:lnTo>
                  <a:pt x="0" y="0"/>
                </a:lnTo>
                <a:close/>
              </a:path>
            </a:pathLst>
          </a:custGeom>
          <a:blipFill>
            <a:blip r:embed="rId4"/>
            <a:stretch>
              <a:fillRect/>
            </a:stretch>
          </a:blipFill>
        </p:spPr>
        <p:txBody>
          <a:bodyPr/>
          <a:lstStyle/>
          <a:p>
            <a:endParaRPr lang="fr-FR"/>
          </a:p>
        </p:txBody>
      </p:sp>
      <p:sp>
        <p:nvSpPr>
          <p:cNvPr id="4" name="Freeform 4"/>
          <p:cNvSpPr/>
          <p:nvPr/>
        </p:nvSpPr>
        <p:spPr>
          <a:xfrm>
            <a:off x="1392439" y="2482901"/>
            <a:ext cx="13084230" cy="6501227"/>
          </a:xfrm>
          <a:custGeom>
            <a:avLst/>
            <a:gdLst/>
            <a:ahLst/>
            <a:cxnLst/>
            <a:rect l="l" t="t" r="r" b="b"/>
            <a:pathLst>
              <a:path w="13084230" h="6501227">
                <a:moveTo>
                  <a:pt x="0" y="0"/>
                </a:moveTo>
                <a:lnTo>
                  <a:pt x="13084230" y="0"/>
                </a:lnTo>
                <a:lnTo>
                  <a:pt x="13084230" y="6501226"/>
                </a:lnTo>
                <a:lnTo>
                  <a:pt x="0" y="6501226"/>
                </a:lnTo>
                <a:lnTo>
                  <a:pt x="0" y="0"/>
                </a:lnTo>
                <a:close/>
              </a:path>
            </a:pathLst>
          </a:custGeom>
          <a:blipFill>
            <a:blip r:embed="rId5"/>
            <a:stretch>
              <a:fillRect/>
            </a:stretch>
          </a:blipFill>
        </p:spPr>
        <p:txBody>
          <a:bodyPr/>
          <a:lstStyle/>
          <a:p>
            <a:endParaRPr lang="fr-FR"/>
          </a:p>
        </p:txBody>
      </p:sp>
      <p:sp>
        <p:nvSpPr>
          <p:cNvPr id="5" name="TextBox 5"/>
          <p:cNvSpPr txBox="1"/>
          <p:nvPr/>
        </p:nvSpPr>
        <p:spPr>
          <a:xfrm>
            <a:off x="1929998" y="752475"/>
            <a:ext cx="15685922" cy="1311275"/>
          </a:xfrm>
          <a:prstGeom prst="rect">
            <a:avLst/>
          </a:prstGeom>
        </p:spPr>
        <p:txBody>
          <a:bodyPr lIns="0" tIns="0" rIns="0" bIns="0" rtlCol="0" anchor="t">
            <a:spAutoFit/>
          </a:bodyPr>
          <a:lstStyle/>
          <a:p>
            <a:pPr algn="l">
              <a:lnSpc>
                <a:spcPts val="5050"/>
              </a:lnSpc>
            </a:pPr>
            <a:r>
              <a:rPr lang="en-US" sz="5000" b="1">
                <a:solidFill>
                  <a:srgbClr val="000000"/>
                </a:solidFill>
                <a:latin typeface="Open Sauce Bold"/>
                <a:ea typeface="Open Sauce Bold"/>
                <a:cs typeface="Open Sauce Bold"/>
                <a:sym typeface="Open Sauce Bold"/>
              </a:rPr>
              <a:t>Étape 2 : annoter les données d’entraînement et fixer son codebook</a:t>
            </a:r>
          </a:p>
        </p:txBody>
      </p:sp>
      <p:sp>
        <p:nvSpPr>
          <p:cNvPr id="6" name="TextBox 6"/>
          <p:cNvSpPr txBox="1"/>
          <p:nvPr/>
        </p:nvSpPr>
        <p:spPr>
          <a:xfrm>
            <a:off x="1392439" y="8963025"/>
            <a:ext cx="12372069" cy="5238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3. Pour plus de confort, changer les paramètres de configuration.</a:t>
            </a:r>
          </a:p>
        </p:txBody>
      </p:sp>
      <p:sp>
        <p:nvSpPr>
          <p:cNvPr id="7" name="Freeform 7"/>
          <p:cNvSpPr/>
          <p:nvPr/>
        </p:nvSpPr>
        <p:spPr>
          <a:xfrm>
            <a:off x="14220066" y="4127930"/>
            <a:ext cx="513207" cy="637524"/>
          </a:xfrm>
          <a:custGeom>
            <a:avLst/>
            <a:gdLst/>
            <a:ahLst/>
            <a:cxnLst/>
            <a:rect l="l" t="t" r="r" b="b"/>
            <a:pathLst>
              <a:path w="513207" h="637524">
                <a:moveTo>
                  <a:pt x="0" y="0"/>
                </a:moveTo>
                <a:lnTo>
                  <a:pt x="513207" y="0"/>
                </a:lnTo>
                <a:lnTo>
                  <a:pt x="513207" y="637524"/>
                </a:lnTo>
                <a:lnTo>
                  <a:pt x="0" y="637524"/>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fr-F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66675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3"/>
            <a:stretch>
              <a:fillRect/>
            </a:stretch>
          </a:blipFill>
        </p:spPr>
        <p:txBody>
          <a:bodyPr/>
          <a:lstStyle/>
          <a:p>
            <a:endParaRPr lang="fr-FR"/>
          </a:p>
        </p:txBody>
      </p:sp>
      <p:sp>
        <p:nvSpPr>
          <p:cNvPr id="3" name="Freeform 3"/>
          <p:cNvSpPr/>
          <p:nvPr/>
        </p:nvSpPr>
        <p:spPr>
          <a:xfrm>
            <a:off x="1028700" y="3780305"/>
            <a:ext cx="11636847" cy="5782058"/>
          </a:xfrm>
          <a:custGeom>
            <a:avLst/>
            <a:gdLst/>
            <a:ahLst/>
            <a:cxnLst/>
            <a:rect l="l" t="t" r="r" b="b"/>
            <a:pathLst>
              <a:path w="11636847" h="5782058">
                <a:moveTo>
                  <a:pt x="0" y="0"/>
                </a:moveTo>
                <a:lnTo>
                  <a:pt x="11636847" y="0"/>
                </a:lnTo>
                <a:lnTo>
                  <a:pt x="11636847" y="5782059"/>
                </a:lnTo>
                <a:lnTo>
                  <a:pt x="0" y="5782059"/>
                </a:lnTo>
                <a:lnTo>
                  <a:pt x="0" y="0"/>
                </a:lnTo>
                <a:close/>
              </a:path>
            </a:pathLst>
          </a:custGeom>
          <a:blipFill>
            <a:blip r:embed="rId4"/>
            <a:stretch>
              <a:fillRect/>
            </a:stretch>
          </a:blipFill>
        </p:spPr>
        <p:txBody>
          <a:bodyPr/>
          <a:lstStyle/>
          <a:p>
            <a:endParaRPr lang="fr-FR"/>
          </a:p>
        </p:txBody>
      </p:sp>
      <p:sp>
        <p:nvSpPr>
          <p:cNvPr id="4" name="TextBox 4"/>
          <p:cNvSpPr txBox="1"/>
          <p:nvPr/>
        </p:nvSpPr>
        <p:spPr>
          <a:xfrm>
            <a:off x="1929998" y="752475"/>
            <a:ext cx="15685922" cy="1311275"/>
          </a:xfrm>
          <a:prstGeom prst="rect">
            <a:avLst/>
          </a:prstGeom>
        </p:spPr>
        <p:txBody>
          <a:bodyPr lIns="0" tIns="0" rIns="0" bIns="0" rtlCol="0" anchor="t">
            <a:spAutoFit/>
          </a:bodyPr>
          <a:lstStyle/>
          <a:p>
            <a:pPr algn="l">
              <a:lnSpc>
                <a:spcPts val="5050"/>
              </a:lnSpc>
            </a:pPr>
            <a:r>
              <a:rPr lang="en-US" sz="5000" b="1">
                <a:solidFill>
                  <a:srgbClr val="000000"/>
                </a:solidFill>
                <a:latin typeface="Open Sauce Bold"/>
                <a:ea typeface="Open Sauce Bold"/>
                <a:cs typeface="Open Sauce Bold"/>
                <a:sym typeface="Open Sauce Bold"/>
              </a:rPr>
              <a:t>Étape 2 : annoter les données d’entraînement et fixer son codebook</a:t>
            </a:r>
          </a:p>
        </p:txBody>
      </p:sp>
      <p:sp>
        <p:nvSpPr>
          <p:cNvPr id="5" name="TextBox 5"/>
          <p:cNvSpPr txBox="1"/>
          <p:nvPr/>
        </p:nvSpPr>
        <p:spPr>
          <a:xfrm>
            <a:off x="1028700" y="2360053"/>
            <a:ext cx="14224387" cy="10572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4. C’est parti : annotons une dizaine d’amendements de façon aléatoire.</a:t>
            </a:r>
          </a:p>
          <a:p>
            <a:pPr algn="l">
              <a:lnSpc>
                <a:spcPts val="4200"/>
              </a:lnSpc>
            </a:pPr>
            <a:r>
              <a:rPr lang="en-US" sz="3000">
                <a:solidFill>
                  <a:srgbClr val="000000"/>
                </a:solidFill>
                <a:latin typeface="Open Sauce"/>
                <a:ea typeface="Open Sauce"/>
                <a:cs typeface="Open Sauce"/>
                <a:sym typeface="Open Sauce"/>
              </a:rPr>
              <a:t>On apprend à connaître nos données.</a:t>
            </a:r>
          </a:p>
        </p:txBody>
      </p:sp>
      <p:sp>
        <p:nvSpPr>
          <p:cNvPr id="6" name="TextBox 6"/>
          <p:cNvSpPr txBox="1"/>
          <p:nvPr/>
        </p:nvSpPr>
        <p:spPr>
          <a:xfrm>
            <a:off x="13014316" y="3713630"/>
            <a:ext cx="4016748" cy="55911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5. Le </a:t>
            </a:r>
            <a:r>
              <a:rPr lang="en-US" sz="3000" i="1">
                <a:solidFill>
                  <a:srgbClr val="000000"/>
                </a:solidFill>
                <a:latin typeface="Open Sauce Italics"/>
                <a:ea typeface="Open Sauce Italics"/>
                <a:cs typeface="Open Sauce Italics"/>
                <a:sym typeface="Open Sauce Italics"/>
              </a:rPr>
              <a:t>sourcing</a:t>
            </a:r>
            <a:r>
              <a:rPr lang="en-US" sz="3000">
                <a:solidFill>
                  <a:srgbClr val="000000"/>
                </a:solidFill>
                <a:latin typeface="Open Sauce"/>
                <a:ea typeface="Open Sauce"/>
                <a:cs typeface="Open Sauce"/>
                <a:sym typeface="Open Sauce"/>
              </a:rPr>
              <a:t> se matérialise souvent par la présence de la phrase suivante : “Cet amendement a été travaillé avec xx”. </a:t>
            </a:r>
          </a:p>
          <a:p>
            <a:pPr algn="l">
              <a:lnSpc>
                <a:spcPts val="2100"/>
              </a:lnSpc>
            </a:pPr>
            <a:endParaRPr lang="en-US" sz="3000">
              <a:solidFill>
                <a:srgbClr val="000000"/>
              </a:solidFill>
              <a:latin typeface="Open Sauce"/>
              <a:ea typeface="Open Sauce"/>
              <a:cs typeface="Open Sauce"/>
              <a:sym typeface="Open Sauce"/>
            </a:endParaRPr>
          </a:p>
          <a:p>
            <a:pPr algn="l">
              <a:lnSpc>
                <a:spcPts val="4200"/>
              </a:lnSpc>
            </a:pPr>
            <a:r>
              <a:rPr lang="en-US" sz="3000">
                <a:solidFill>
                  <a:srgbClr val="000000"/>
                </a:solidFill>
                <a:latin typeface="Open Sauce"/>
                <a:ea typeface="Open Sauce"/>
                <a:cs typeface="Open Sauce"/>
                <a:sym typeface="Open Sauce"/>
              </a:rPr>
              <a:t>Annotons les amendements qui contiennent “travaillé avec”.</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66675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3"/>
            <a:stretch>
              <a:fillRect/>
            </a:stretch>
          </a:blipFill>
        </p:spPr>
        <p:txBody>
          <a:bodyPr/>
          <a:lstStyle/>
          <a:p>
            <a:endParaRPr lang="fr-FR"/>
          </a:p>
        </p:txBody>
      </p:sp>
      <p:sp>
        <p:nvSpPr>
          <p:cNvPr id="3" name="Freeform 3"/>
          <p:cNvSpPr/>
          <p:nvPr/>
        </p:nvSpPr>
        <p:spPr>
          <a:xfrm>
            <a:off x="1028700" y="3954280"/>
            <a:ext cx="10674758" cy="5304020"/>
          </a:xfrm>
          <a:custGeom>
            <a:avLst/>
            <a:gdLst/>
            <a:ahLst/>
            <a:cxnLst/>
            <a:rect l="l" t="t" r="r" b="b"/>
            <a:pathLst>
              <a:path w="10674758" h="5304020">
                <a:moveTo>
                  <a:pt x="0" y="0"/>
                </a:moveTo>
                <a:lnTo>
                  <a:pt x="10674758" y="0"/>
                </a:lnTo>
                <a:lnTo>
                  <a:pt x="10674758" y="5304020"/>
                </a:lnTo>
                <a:lnTo>
                  <a:pt x="0" y="5304020"/>
                </a:lnTo>
                <a:lnTo>
                  <a:pt x="0" y="0"/>
                </a:lnTo>
                <a:close/>
              </a:path>
            </a:pathLst>
          </a:custGeom>
          <a:blipFill>
            <a:blip r:embed="rId4"/>
            <a:stretch>
              <a:fillRect/>
            </a:stretch>
          </a:blipFill>
        </p:spPr>
        <p:txBody>
          <a:bodyPr/>
          <a:lstStyle/>
          <a:p>
            <a:endParaRPr lang="fr-FR"/>
          </a:p>
        </p:txBody>
      </p:sp>
      <p:sp>
        <p:nvSpPr>
          <p:cNvPr id="4" name="Freeform 4"/>
          <p:cNvSpPr/>
          <p:nvPr/>
        </p:nvSpPr>
        <p:spPr>
          <a:xfrm>
            <a:off x="6366079" y="4257120"/>
            <a:ext cx="10573028" cy="5253473"/>
          </a:xfrm>
          <a:custGeom>
            <a:avLst/>
            <a:gdLst/>
            <a:ahLst/>
            <a:cxnLst/>
            <a:rect l="l" t="t" r="r" b="b"/>
            <a:pathLst>
              <a:path w="10573028" h="5253473">
                <a:moveTo>
                  <a:pt x="0" y="0"/>
                </a:moveTo>
                <a:lnTo>
                  <a:pt x="10573028" y="0"/>
                </a:lnTo>
                <a:lnTo>
                  <a:pt x="10573028" y="5253473"/>
                </a:lnTo>
                <a:lnTo>
                  <a:pt x="0" y="5253473"/>
                </a:lnTo>
                <a:lnTo>
                  <a:pt x="0" y="0"/>
                </a:lnTo>
                <a:close/>
              </a:path>
            </a:pathLst>
          </a:custGeom>
          <a:blipFill>
            <a:blip r:embed="rId5"/>
            <a:stretch>
              <a:fillRect/>
            </a:stretch>
          </a:blipFill>
        </p:spPr>
        <p:txBody>
          <a:bodyPr/>
          <a:lstStyle/>
          <a:p>
            <a:endParaRPr lang="fr-FR"/>
          </a:p>
        </p:txBody>
      </p:sp>
      <p:sp>
        <p:nvSpPr>
          <p:cNvPr id="5" name="TextBox 5"/>
          <p:cNvSpPr txBox="1"/>
          <p:nvPr/>
        </p:nvSpPr>
        <p:spPr>
          <a:xfrm>
            <a:off x="1929998" y="752475"/>
            <a:ext cx="15685922" cy="1311275"/>
          </a:xfrm>
          <a:prstGeom prst="rect">
            <a:avLst/>
          </a:prstGeom>
        </p:spPr>
        <p:txBody>
          <a:bodyPr lIns="0" tIns="0" rIns="0" bIns="0" rtlCol="0" anchor="t">
            <a:spAutoFit/>
          </a:bodyPr>
          <a:lstStyle/>
          <a:p>
            <a:pPr algn="l">
              <a:lnSpc>
                <a:spcPts val="5050"/>
              </a:lnSpc>
            </a:pPr>
            <a:r>
              <a:rPr lang="en-US" sz="5000" b="1">
                <a:solidFill>
                  <a:srgbClr val="000000"/>
                </a:solidFill>
                <a:latin typeface="Open Sauce Bold"/>
                <a:ea typeface="Open Sauce Bold"/>
                <a:cs typeface="Open Sauce Bold"/>
                <a:sym typeface="Open Sauce Bold"/>
              </a:rPr>
              <a:t>Étape 2 : annoter les données d’entraînement et fixer son codebook</a:t>
            </a:r>
          </a:p>
        </p:txBody>
      </p:sp>
      <p:sp>
        <p:nvSpPr>
          <p:cNvPr id="6" name="TextBox 6"/>
          <p:cNvSpPr txBox="1"/>
          <p:nvPr/>
        </p:nvSpPr>
        <p:spPr>
          <a:xfrm>
            <a:off x="1028700" y="2397880"/>
            <a:ext cx="16230600" cy="10572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6. On a maintenant assez de données pour entraîner un premier modèle, qui va nous permettre d’annoter en utilisant l’</a:t>
            </a:r>
            <a:r>
              <a:rPr lang="en-US" sz="3000" b="1">
                <a:solidFill>
                  <a:srgbClr val="000000"/>
                </a:solidFill>
                <a:latin typeface="Open Sauce Bold"/>
                <a:ea typeface="Open Sauce Bold"/>
                <a:cs typeface="Open Sauce Bold"/>
                <a:sym typeface="Open Sauce Bold"/>
              </a:rPr>
              <a:t>active learning</a:t>
            </a:r>
            <a:r>
              <a:rPr lang="en-US" sz="3000">
                <a:solidFill>
                  <a:srgbClr val="000000"/>
                </a:solidFill>
                <a:latin typeface="Open Sauce"/>
                <a:ea typeface="Open Sauce"/>
                <a:cs typeface="Open Sauce"/>
                <a:sym typeface="Open Sauce"/>
              </a:rPr>
              <a:t>. </a:t>
            </a:r>
          </a:p>
        </p:txBody>
      </p:sp>
      <p:sp>
        <p:nvSpPr>
          <p:cNvPr id="7" name="Freeform 7"/>
          <p:cNvSpPr/>
          <p:nvPr/>
        </p:nvSpPr>
        <p:spPr>
          <a:xfrm>
            <a:off x="4538931" y="5589487"/>
            <a:ext cx="430125" cy="534317"/>
          </a:xfrm>
          <a:custGeom>
            <a:avLst/>
            <a:gdLst/>
            <a:ahLst/>
            <a:cxnLst/>
            <a:rect l="l" t="t" r="r" b="b"/>
            <a:pathLst>
              <a:path w="430125" h="534317">
                <a:moveTo>
                  <a:pt x="0" y="0"/>
                </a:moveTo>
                <a:lnTo>
                  <a:pt x="430125" y="0"/>
                </a:lnTo>
                <a:lnTo>
                  <a:pt x="430125" y="534318"/>
                </a:lnTo>
                <a:lnTo>
                  <a:pt x="0" y="53431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fr-FR"/>
          </a:p>
        </p:txBody>
      </p:sp>
      <p:sp>
        <p:nvSpPr>
          <p:cNvPr id="8" name="Freeform 8"/>
          <p:cNvSpPr/>
          <p:nvPr/>
        </p:nvSpPr>
        <p:spPr>
          <a:xfrm>
            <a:off x="12346183" y="8319541"/>
            <a:ext cx="430125" cy="534317"/>
          </a:xfrm>
          <a:custGeom>
            <a:avLst/>
            <a:gdLst/>
            <a:ahLst/>
            <a:cxnLst/>
            <a:rect l="l" t="t" r="r" b="b"/>
            <a:pathLst>
              <a:path w="430125" h="534317">
                <a:moveTo>
                  <a:pt x="0" y="0"/>
                </a:moveTo>
                <a:lnTo>
                  <a:pt x="430125" y="0"/>
                </a:lnTo>
                <a:lnTo>
                  <a:pt x="430125" y="534318"/>
                </a:lnTo>
                <a:lnTo>
                  <a:pt x="0" y="53431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fr-F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66675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3"/>
            <a:stretch>
              <a:fillRect/>
            </a:stretch>
          </a:blipFill>
        </p:spPr>
        <p:txBody>
          <a:bodyPr/>
          <a:lstStyle/>
          <a:p>
            <a:endParaRPr lang="fr-FR"/>
          </a:p>
        </p:txBody>
      </p:sp>
      <p:sp>
        <p:nvSpPr>
          <p:cNvPr id="3" name="Freeform 3"/>
          <p:cNvSpPr/>
          <p:nvPr/>
        </p:nvSpPr>
        <p:spPr>
          <a:xfrm>
            <a:off x="1028700" y="3321805"/>
            <a:ext cx="11482638" cy="5792536"/>
          </a:xfrm>
          <a:custGeom>
            <a:avLst/>
            <a:gdLst/>
            <a:ahLst/>
            <a:cxnLst/>
            <a:rect l="l" t="t" r="r" b="b"/>
            <a:pathLst>
              <a:path w="11482638" h="5792536">
                <a:moveTo>
                  <a:pt x="0" y="0"/>
                </a:moveTo>
                <a:lnTo>
                  <a:pt x="11482638" y="0"/>
                </a:lnTo>
                <a:lnTo>
                  <a:pt x="11482638" y="5792537"/>
                </a:lnTo>
                <a:lnTo>
                  <a:pt x="0" y="5792537"/>
                </a:lnTo>
                <a:lnTo>
                  <a:pt x="0" y="0"/>
                </a:lnTo>
                <a:close/>
              </a:path>
            </a:pathLst>
          </a:custGeom>
          <a:blipFill>
            <a:blip r:embed="rId4"/>
            <a:stretch>
              <a:fillRect b="-850"/>
            </a:stretch>
          </a:blipFill>
        </p:spPr>
        <p:txBody>
          <a:bodyPr/>
          <a:lstStyle/>
          <a:p>
            <a:endParaRPr lang="fr-FR"/>
          </a:p>
        </p:txBody>
      </p:sp>
      <p:sp>
        <p:nvSpPr>
          <p:cNvPr id="4" name="TextBox 4"/>
          <p:cNvSpPr txBox="1"/>
          <p:nvPr/>
        </p:nvSpPr>
        <p:spPr>
          <a:xfrm>
            <a:off x="1929998" y="752475"/>
            <a:ext cx="15685922" cy="1311275"/>
          </a:xfrm>
          <a:prstGeom prst="rect">
            <a:avLst/>
          </a:prstGeom>
        </p:spPr>
        <p:txBody>
          <a:bodyPr lIns="0" tIns="0" rIns="0" bIns="0" rtlCol="0" anchor="t">
            <a:spAutoFit/>
          </a:bodyPr>
          <a:lstStyle/>
          <a:p>
            <a:pPr algn="l">
              <a:lnSpc>
                <a:spcPts val="5050"/>
              </a:lnSpc>
            </a:pPr>
            <a:r>
              <a:rPr lang="en-US" sz="5000" b="1">
                <a:solidFill>
                  <a:srgbClr val="000000"/>
                </a:solidFill>
                <a:latin typeface="Open Sauce Bold"/>
                <a:ea typeface="Open Sauce Bold"/>
                <a:cs typeface="Open Sauce Bold"/>
                <a:sym typeface="Open Sauce Bold"/>
              </a:rPr>
              <a:t>Étape 2 : annoter les données d’entraînement et fixer son codebook</a:t>
            </a:r>
          </a:p>
        </p:txBody>
      </p:sp>
      <p:sp>
        <p:nvSpPr>
          <p:cNvPr id="5" name="TextBox 5"/>
          <p:cNvSpPr txBox="1"/>
          <p:nvPr/>
        </p:nvSpPr>
        <p:spPr>
          <a:xfrm>
            <a:off x="1028700" y="2397880"/>
            <a:ext cx="16230600" cy="5238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7. Annotons quelques d’amendements en utilisant l’active learning.</a:t>
            </a:r>
          </a:p>
        </p:txBody>
      </p:sp>
      <p:sp>
        <p:nvSpPr>
          <p:cNvPr id="6" name="TextBox 6"/>
          <p:cNvSpPr txBox="1"/>
          <p:nvPr/>
        </p:nvSpPr>
        <p:spPr>
          <a:xfrm>
            <a:off x="12233088" y="6456867"/>
            <a:ext cx="5026212" cy="26574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Nous pourrons ensuite entraîner d’autres modèles pour améliorer les prédictions et donc la sélection des cas difficiles. </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66675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3"/>
            <a:stretch>
              <a:fillRect/>
            </a:stretch>
          </a:blipFill>
        </p:spPr>
        <p:txBody>
          <a:bodyPr/>
          <a:lstStyle/>
          <a:p>
            <a:endParaRPr lang="fr-FR"/>
          </a:p>
        </p:txBody>
      </p:sp>
      <p:sp>
        <p:nvSpPr>
          <p:cNvPr id="3" name="AutoShape 3"/>
          <p:cNvSpPr/>
          <p:nvPr/>
        </p:nvSpPr>
        <p:spPr>
          <a:xfrm flipV="1">
            <a:off x="1846853" y="8276540"/>
            <a:ext cx="4586" cy="1000592"/>
          </a:xfrm>
          <a:prstGeom prst="line">
            <a:avLst/>
          </a:prstGeom>
          <a:ln w="95250" cap="flat">
            <a:solidFill>
              <a:srgbClr val="EA6F26"/>
            </a:solidFill>
            <a:prstDash val="solid"/>
            <a:headEnd type="none" w="sm" len="sm"/>
            <a:tailEnd type="none" w="sm" len="sm"/>
          </a:ln>
        </p:spPr>
        <p:txBody>
          <a:bodyPr/>
          <a:lstStyle/>
          <a:p>
            <a:endParaRPr lang="fr-FR"/>
          </a:p>
        </p:txBody>
      </p:sp>
      <p:grpSp>
        <p:nvGrpSpPr>
          <p:cNvPr id="4" name="Group 4"/>
          <p:cNvGrpSpPr/>
          <p:nvPr/>
        </p:nvGrpSpPr>
        <p:grpSpPr>
          <a:xfrm>
            <a:off x="1035819" y="6587659"/>
            <a:ext cx="7127593" cy="1239469"/>
            <a:chOff x="0" y="0"/>
            <a:chExt cx="1877226" cy="326445"/>
          </a:xfrm>
        </p:grpSpPr>
        <p:sp>
          <p:nvSpPr>
            <p:cNvPr id="5" name="Freeform 5"/>
            <p:cNvSpPr/>
            <p:nvPr/>
          </p:nvSpPr>
          <p:spPr>
            <a:xfrm>
              <a:off x="0" y="0"/>
              <a:ext cx="1877226" cy="326445"/>
            </a:xfrm>
            <a:custGeom>
              <a:avLst/>
              <a:gdLst/>
              <a:ahLst/>
              <a:cxnLst/>
              <a:rect l="l" t="t" r="r" b="b"/>
              <a:pathLst>
                <a:path w="1877226" h="326445">
                  <a:moveTo>
                    <a:pt x="55396" y="0"/>
                  </a:moveTo>
                  <a:lnTo>
                    <a:pt x="1821830" y="0"/>
                  </a:lnTo>
                  <a:cubicBezTo>
                    <a:pt x="1852425" y="0"/>
                    <a:pt x="1877226" y="24801"/>
                    <a:pt x="1877226" y="55396"/>
                  </a:cubicBezTo>
                  <a:lnTo>
                    <a:pt x="1877226" y="271049"/>
                  </a:lnTo>
                  <a:cubicBezTo>
                    <a:pt x="1877226" y="301643"/>
                    <a:pt x="1852425" y="326445"/>
                    <a:pt x="1821830" y="326445"/>
                  </a:cubicBezTo>
                  <a:lnTo>
                    <a:pt x="55396" y="326445"/>
                  </a:lnTo>
                  <a:cubicBezTo>
                    <a:pt x="24801" y="326445"/>
                    <a:pt x="0" y="301643"/>
                    <a:pt x="0" y="271049"/>
                  </a:cubicBezTo>
                  <a:lnTo>
                    <a:pt x="0" y="55396"/>
                  </a:lnTo>
                  <a:cubicBezTo>
                    <a:pt x="0" y="24801"/>
                    <a:pt x="24801" y="0"/>
                    <a:pt x="55396" y="0"/>
                  </a:cubicBezTo>
                  <a:close/>
                </a:path>
              </a:pathLst>
            </a:custGeom>
            <a:ln w="28575" cap="rnd">
              <a:solidFill>
                <a:srgbClr val="EA6F26"/>
              </a:solidFill>
              <a:prstDash val="solid"/>
              <a:round/>
            </a:ln>
          </p:spPr>
          <p:txBody>
            <a:bodyPr/>
            <a:lstStyle/>
            <a:p>
              <a:endParaRPr lang="fr-FR"/>
            </a:p>
          </p:txBody>
        </p:sp>
        <p:sp>
          <p:nvSpPr>
            <p:cNvPr id="6" name="TextBox 6"/>
            <p:cNvSpPr txBox="1"/>
            <p:nvPr/>
          </p:nvSpPr>
          <p:spPr>
            <a:xfrm>
              <a:off x="0" y="-38100"/>
              <a:ext cx="1877226" cy="364545"/>
            </a:xfrm>
            <a:prstGeom prst="rect">
              <a:avLst/>
            </a:prstGeom>
          </p:spPr>
          <p:txBody>
            <a:bodyPr lIns="304800" tIns="304800" rIns="304800" bIns="304800" rtlCol="0" anchor="ctr"/>
            <a:lstStyle/>
            <a:p>
              <a:pPr algn="ctr">
                <a:lnSpc>
                  <a:spcPts val="2659"/>
                </a:lnSpc>
                <a:spcBef>
                  <a:spcPct val="0"/>
                </a:spcBef>
              </a:pPr>
              <a:r>
                <a:rPr lang="en-US" sz="1899">
                  <a:solidFill>
                    <a:srgbClr val="000000"/>
                  </a:solidFill>
                  <a:latin typeface="Open Sans"/>
                  <a:ea typeface="Open Sans"/>
                  <a:cs typeface="Open Sans"/>
                  <a:sym typeface="Open Sans"/>
                </a:rPr>
                <a:t> (...) </a:t>
              </a:r>
              <a:r>
                <a:rPr lang="en-US" sz="1899" b="1">
                  <a:solidFill>
                    <a:srgbClr val="000000"/>
                  </a:solidFill>
                  <a:latin typeface="Open Sans Bold"/>
                  <a:ea typeface="Open Sans Bold"/>
                  <a:cs typeface="Open Sans Bold"/>
                  <a:sym typeface="Open Sans Bold"/>
                </a:rPr>
                <a:t>Cet amendement a été suggéré par la Fondation pour la Nature et l’Homme.</a:t>
              </a:r>
            </a:p>
          </p:txBody>
        </p:sp>
      </p:grpSp>
      <p:sp>
        <p:nvSpPr>
          <p:cNvPr id="7" name="AutoShape 7"/>
          <p:cNvSpPr/>
          <p:nvPr/>
        </p:nvSpPr>
        <p:spPr>
          <a:xfrm flipH="1" flipV="1">
            <a:off x="2437622" y="3787733"/>
            <a:ext cx="12921" cy="1722826"/>
          </a:xfrm>
          <a:prstGeom prst="line">
            <a:avLst/>
          </a:prstGeom>
          <a:ln w="95250" cap="flat">
            <a:solidFill>
              <a:srgbClr val="EA6F26"/>
            </a:solidFill>
            <a:prstDash val="solid"/>
            <a:headEnd type="none" w="sm" len="sm"/>
            <a:tailEnd type="none" w="sm" len="sm"/>
          </a:ln>
        </p:spPr>
        <p:txBody>
          <a:bodyPr/>
          <a:lstStyle/>
          <a:p>
            <a:endParaRPr lang="fr-FR"/>
          </a:p>
        </p:txBody>
      </p:sp>
      <p:grpSp>
        <p:nvGrpSpPr>
          <p:cNvPr id="8" name="Group 8"/>
          <p:cNvGrpSpPr/>
          <p:nvPr/>
        </p:nvGrpSpPr>
        <p:grpSpPr>
          <a:xfrm>
            <a:off x="1622003" y="3530491"/>
            <a:ext cx="15238678" cy="2304692"/>
            <a:chOff x="0" y="0"/>
            <a:chExt cx="4013479" cy="606997"/>
          </a:xfrm>
        </p:grpSpPr>
        <p:sp>
          <p:nvSpPr>
            <p:cNvPr id="9" name="Freeform 9"/>
            <p:cNvSpPr/>
            <p:nvPr/>
          </p:nvSpPr>
          <p:spPr>
            <a:xfrm>
              <a:off x="0" y="0"/>
              <a:ext cx="4013479" cy="606997"/>
            </a:xfrm>
            <a:custGeom>
              <a:avLst/>
              <a:gdLst/>
              <a:ahLst/>
              <a:cxnLst/>
              <a:rect l="l" t="t" r="r" b="b"/>
              <a:pathLst>
                <a:path w="4013479" h="606997">
                  <a:moveTo>
                    <a:pt x="7113" y="0"/>
                  </a:moveTo>
                  <a:lnTo>
                    <a:pt x="4006366" y="0"/>
                  </a:lnTo>
                  <a:cubicBezTo>
                    <a:pt x="4008253" y="0"/>
                    <a:pt x="4010062" y="749"/>
                    <a:pt x="4011396" y="2083"/>
                  </a:cubicBezTo>
                  <a:cubicBezTo>
                    <a:pt x="4012730" y="3417"/>
                    <a:pt x="4013479" y="5226"/>
                    <a:pt x="4013479" y="7113"/>
                  </a:cubicBezTo>
                  <a:lnTo>
                    <a:pt x="4013479" y="599885"/>
                  </a:lnTo>
                  <a:cubicBezTo>
                    <a:pt x="4013479" y="601771"/>
                    <a:pt x="4012730" y="603580"/>
                    <a:pt x="4011396" y="604914"/>
                  </a:cubicBezTo>
                  <a:cubicBezTo>
                    <a:pt x="4010062" y="606248"/>
                    <a:pt x="4008253" y="606997"/>
                    <a:pt x="4006366" y="606997"/>
                  </a:cubicBezTo>
                  <a:lnTo>
                    <a:pt x="7113" y="606997"/>
                  </a:lnTo>
                  <a:cubicBezTo>
                    <a:pt x="5226" y="606997"/>
                    <a:pt x="3417" y="606248"/>
                    <a:pt x="2083" y="604914"/>
                  </a:cubicBezTo>
                  <a:cubicBezTo>
                    <a:pt x="749" y="603580"/>
                    <a:pt x="0" y="601771"/>
                    <a:pt x="0" y="599885"/>
                  </a:cubicBezTo>
                  <a:lnTo>
                    <a:pt x="0" y="7113"/>
                  </a:lnTo>
                  <a:cubicBezTo>
                    <a:pt x="0" y="5226"/>
                    <a:pt x="749" y="3417"/>
                    <a:pt x="2083" y="2083"/>
                  </a:cubicBezTo>
                  <a:cubicBezTo>
                    <a:pt x="3417" y="749"/>
                    <a:pt x="5226" y="0"/>
                    <a:pt x="7113" y="0"/>
                  </a:cubicBezTo>
                  <a:close/>
                </a:path>
              </a:pathLst>
            </a:custGeom>
            <a:ln w="19050" cap="sq">
              <a:solidFill>
                <a:srgbClr val="000000"/>
              </a:solidFill>
              <a:prstDash val="solid"/>
              <a:miter/>
            </a:ln>
          </p:spPr>
          <p:txBody>
            <a:bodyPr/>
            <a:lstStyle/>
            <a:p>
              <a:endParaRPr lang="fr-FR"/>
            </a:p>
          </p:txBody>
        </p:sp>
        <p:sp>
          <p:nvSpPr>
            <p:cNvPr id="10" name="TextBox 10"/>
            <p:cNvSpPr txBox="1"/>
            <p:nvPr/>
          </p:nvSpPr>
          <p:spPr>
            <a:xfrm>
              <a:off x="0" y="-38100"/>
              <a:ext cx="4013479" cy="645097"/>
            </a:xfrm>
            <a:prstGeom prst="rect">
              <a:avLst/>
            </a:prstGeom>
          </p:spPr>
          <p:txBody>
            <a:bodyPr lIns="50800" tIns="50800" rIns="50800" bIns="50800" rtlCol="0" anchor="ctr"/>
            <a:lstStyle/>
            <a:p>
              <a:pPr algn="ctr">
                <a:lnSpc>
                  <a:spcPts val="2659"/>
                </a:lnSpc>
              </a:pPr>
              <a:endParaRPr/>
            </a:p>
          </p:txBody>
        </p:sp>
      </p:grpSp>
      <p:sp>
        <p:nvSpPr>
          <p:cNvPr id="11" name="TextBox 11"/>
          <p:cNvSpPr txBox="1"/>
          <p:nvPr/>
        </p:nvSpPr>
        <p:spPr>
          <a:xfrm>
            <a:off x="1929998" y="752475"/>
            <a:ext cx="15685922" cy="1311275"/>
          </a:xfrm>
          <a:prstGeom prst="rect">
            <a:avLst/>
          </a:prstGeom>
        </p:spPr>
        <p:txBody>
          <a:bodyPr lIns="0" tIns="0" rIns="0" bIns="0" rtlCol="0" anchor="t">
            <a:spAutoFit/>
          </a:bodyPr>
          <a:lstStyle/>
          <a:p>
            <a:pPr algn="l">
              <a:lnSpc>
                <a:spcPts val="5050"/>
              </a:lnSpc>
            </a:pPr>
            <a:r>
              <a:rPr lang="en-US" sz="5000" b="1">
                <a:solidFill>
                  <a:srgbClr val="000000"/>
                </a:solidFill>
                <a:latin typeface="Open Sauce Bold"/>
                <a:ea typeface="Open Sauce Bold"/>
                <a:cs typeface="Open Sauce Bold"/>
                <a:sym typeface="Open Sauce Bold"/>
              </a:rPr>
              <a:t>Étape 2 : annoter les données d’entraînement et fixer son codebook</a:t>
            </a:r>
          </a:p>
        </p:txBody>
      </p:sp>
      <p:sp>
        <p:nvSpPr>
          <p:cNvPr id="12" name="TextBox 12"/>
          <p:cNvSpPr txBox="1"/>
          <p:nvPr/>
        </p:nvSpPr>
        <p:spPr>
          <a:xfrm>
            <a:off x="1028700" y="2397880"/>
            <a:ext cx="16230600" cy="5238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Au fil des annotations, on rencontre des cas difficiles qui font évoluer notre codebook.</a:t>
            </a:r>
          </a:p>
        </p:txBody>
      </p:sp>
      <p:sp>
        <p:nvSpPr>
          <p:cNvPr id="13" name="TextBox 13"/>
          <p:cNvSpPr txBox="1"/>
          <p:nvPr/>
        </p:nvSpPr>
        <p:spPr>
          <a:xfrm>
            <a:off x="2138525" y="8209798"/>
            <a:ext cx="15120775" cy="1057275"/>
          </a:xfrm>
          <a:prstGeom prst="rect">
            <a:avLst/>
          </a:prstGeom>
        </p:spPr>
        <p:txBody>
          <a:bodyPr lIns="0" tIns="0" rIns="0" bIns="0" rtlCol="0" anchor="t">
            <a:spAutoFit/>
          </a:bodyPr>
          <a:lstStyle/>
          <a:p>
            <a:pPr algn="l">
              <a:lnSpc>
                <a:spcPts val="4200"/>
              </a:lnSpc>
              <a:spcBef>
                <a:spcPct val="0"/>
              </a:spcBef>
            </a:pPr>
            <a:r>
              <a:rPr lang="en-US" sz="3000" i="1">
                <a:solidFill>
                  <a:srgbClr val="000000"/>
                </a:solidFill>
                <a:latin typeface="Open Sauce Italics"/>
                <a:ea typeface="Open Sauce Italics"/>
                <a:cs typeface="Open Sauce Italics"/>
                <a:sym typeface="Open Sauce Italics"/>
              </a:rPr>
              <a:t>Modif</a:t>
            </a:r>
            <a:r>
              <a:rPr lang="en-US" sz="3000">
                <a:solidFill>
                  <a:srgbClr val="000000"/>
                </a:solidFill>
                <a:latin typeface="Open Sauce"/>
                <a:ea typeface="Open Sauce"/>
                <a:cs typeface="Open Sauce"/>
                <a:sym typeface="Open Sauce"/>
              </a:rPr>
              <a:t>: Un amendement est source quand il a été </a:t>
            </a:r>
            <a:r>
              <a:rPr lang="en-US" sz="3000" b="1">
                <a:solidFill>
                  <a:srgbClr val="000000"/>
                </a:solidFill>
                <a:latin typeface="Open Sauce Bold"/>
                <a:ea typeface="Open Sauce Bold"/>
                <a:cs typeface="Open Sauce Bold"/>
                <a:sym typeface="Open Sauce Bold"/>
              </a:rPr>
              <a:t>suggéré par ou</a:t>
            </a:r>
            <a:r>
              <a:rPr lang="en-US" sz="3000">
                <a:solidFill>
                  <a:srgbClr val="000000"/>
                </a:solidFill>
                <a:latin typeface="Open Sauce"/>
                <a:ea typeface="Open Sauce"/>
                <a:cs typeface="Open Sauce"/>
                <a:sym typeface="Open Sauce"/>
              </a:rPr>
              <a:t> travaillé avec un représentant d’intérêt et que son origine est exprimée explicitement comme telle. </a:t>
            </a:r>
          </a:p>
        </p:txBody>
      </p:sp>
      <p:sp>
        <p:nvSpPr>
          <p:cNvPr id="14" name="TextBox 14"/>
          <p:cNvSpPr txBox="1"/>
          <p:nvPr/>
        </p:nvSpPr>
        <p:spPr>
          <a:xfrm>
            <a:off x="1276131" y="8089296"/>
            <a:ext cx="370364" cy="762000"/>
          </a:xfrm>
          <a:prstGeom prst="rect">
            <a:avLst/>
          </a:prstGeom>
        </p:spPr>
        <p:txBody>
          <a:bodyPr lIns="0" tIns="0" rIns="0" bIns="0" rtlCol="0" anchor="t">
            <a:spAutoFit/>
          </a:bodyPr>
          <a:lstStyle/>
          <a:p>
            <a:pPr algn="l">
              <a:lnSpc>
                <a:spcPts val="6299"/>
              </a:lnSpc>
            </a:pPr>
            <a:r>
              <a:rPr lang="en-US" sz="4500" b="1">
                <a:solidFill>
                  <a:srgbClr val="EA6F26"/>
                </a:solidFill>
                <a:latin typeface="Open Sauce Bold"/>
                <a:ea typeface="Open Sauce Bold"/>
                <a:cs typeface="Open Sauce Bold"/>
                <a:sym typeface="Open Sauce Bold"/>
              </a:rPr>
              <a:t>2</a:t>
            </a:r>
          </a:p>
        </p:txBody>
      </p:sp>
      <p:sp>
        <p:nvSpPr>
          <p:cNvPr id="15" name="TextBox 15"/>
          <p:cNvSpPr txBox="1"/>
          <p:nvPr/>
        </p:nvSpPr>
        <p:spPr>
          <a:xfrm>
            <a:off x="8655158" y="6912118"/>
            <a:ext cx="6148867" cy="523875"/>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uce"/>
                <a:ea typeface="Open Sauce"/>
                <a:cs typeface="Open Sauce"/>
                <a:sym typeface="Open Sauce"/>
              </a:rPr>
              <a:t>PB : suggérer ≠ travailler avec</a:t>
            </a:r>
          </a:p>
        </p:txBody>
      </p:sp>
      <p:sp>
        <p:nvSpPr>
          <p:cNvPr id="16" name="TextBox 16"/>
          <p:cNvSpPr txBox="1"/>
          <p:nvPr/>
        </p:nvSpPr>
        <p:spPr>
          <a:xfrm>
            <a:off x="2724708" y="3720991"/>
            <a:ext cx="14135973" cy="1057275"/>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uce"/>
                <a:ea typeface="Open Sauce"/>
                <a:cs typeface="Open Sauce"/>
                <a:sym typeface="Open Sauce"/>
              </a:rPr>
              <a:t>Un amendement est </a:t>
            </a:r>
            <a:r>
              <a:rPr lang="en-US" sz="3000" b="1">
                <a:solidFill>
                  <a:srgbClr val="000000"/>
                </a:solidFill>
                <a:latin typeface="Open Sauce Bold"/>
                <a:ea typeface="Open Sauce Bold"/>
                <a:cs typeface="Open Sauce Bold"/>
                <a:sym typeface="Open Sauce Bold"/>
              </a:rPr>
              <a:t>source</a:t>
            </a:r>
            <a:r>
              <a:rPr lang="en-US" sz="3000">
                <a:solidFill>
                  <a:srgbClr val="000000"/>
                </a:solidFill>
                <a:latin typeface="Open Sauce"/>
                <a:ea typeface="Open Sauce"/>
                <a:cs typeface="Open Sauce"/>
                <a:sym typeface="Open Sauce"/>
              </a:rPr>
              <a:t> quand il a été travaillé avec un représentant d’intérêt et que son origine est exprimée explicitement comme telle. </a:t>
            </a:r>
          </a:p>
        </p:txBody>
      </p:sp>
      <p:sp>
        <p:nvSpPr>
          <p:cNvPr id="17" name="TextBox 17"/>
          <p:cNvSpPr txBox="1"/>
          <p:nvPr/>
        </p:nvSpPr>
        <p:spPr>
          <a:xfrm>
            <a:off x="2724708" y="5006866"/>
            <a:ext cx="14135973" cy="523875"/>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uce"/>
                <a:ea typeface="Open Sauce"/>
                <a:cs typeface="Open Sauce"/>
                <a:sym typeface="Open Sauce"/>
              </a:rPr>
              <a:t>Un amendement est </a:t>
            </a:r>
            <a:r>
              <a:rPr lang="en-US" sz="3000" b="1">
                <a:solidFill>
                  <a:srgbClr val="000000"/>
                </a:solidFill>
                <a:latin typeface="Open Sauce Bold"/>
                <a:ea typeface="Open Sauce Bold"/>
                <a:cs typeface="Open Sauce Bold"/>
                <a:sym typeface="Open Sauce Bold"/>
              </a:rPr>
              <a:t>non-source</a:t>
            </a:r>
            <a:r>
              <a:rPr lang="en-US" sz="3000">
                <a:solidFill>
                  <a:srgbClr val="000000"/>
                </a:solidFill>
                <a:latin typeface="Open Sauce"/>
                <a:ea typeface="Open Sauce"/>
                <a:cs typeface="Open Sauce"/>
                <a:sym typeface="Open Sauce"/>
              </a:rPr>
              <a:t> dans tous les autres cas.</a:t>
            </a:r>
          </a:p>
        </p:txBody>
      </p:sp>
      <p:sp>
        <p:nvSpPr>
          <p:cNvPr id="18" name="TextBox 18"/>
          <p:cNvSpPr txBox="1"/>
          <p:nvPr/>
        </p:nvSpPr>
        <p:spPr>
          <a:xfrm>
            <a:off x="1862314" y="3600490"/>
            <a:ext cx="162752" cy="762000"/>
          </a:xfrm>
          <a:prstGeom prst="rect">
            <a:avLst/>
          </a:prstGeom>
        </p:spPr>
        <p:txBody>
          <a:bodyPr lIns="0" tIns="0" rIns="0" bIns="0" rtlCol="0" anchor="t">
            <a:spAutoFit/>
          </a:bodyPr>
          <a:lstStyle/>
          <a:p>
            <a:pPr algn="l">
              <a:lnSpc>
                <a:spcPts val="6299"/>
              </a:lnSpc>
            </a:pPr>
            <a:r>
              <a:rPr lang="en-US" sz="4500" b="1">
                <a:solidFill>
                  <a:srgbClr val="EA6F26"/>
                </a:solidFill>
                <a:latin typeface="Open Sauce Bold"/>
                <a:ea typeface="Open Sauce Bold"/>
                <a:cs typeface="Open Sauce Bold"/>
                <a:sym typeface="Open Sauce Bold"/>
              </a:rPr>
              <a:t>1</a:t>
            </a:r>
          </a:p>
        </p:txBody>
      </p:sp>
      <p:sp>
        <p:nvSpPr>
          <p:cNvPr id="19" name="TextBox 19"/>
          <p:cNvSpPr txBox="1"/>
          <p:nvPr/>
        </p:nvSpPr>
        <p:spPr>
          <a:xfrm rot="-5400000">
            <a:off x="87750" y="4404766"/>
            <a:ext cx="2272424" cy="523875"/>
          </a:xfrm>
          <a:prstGeom prst="rect">
            <a:avLst/>
          </a:prstGeom>
        </p:spPr>
        <p:txBody>
          <a:bodyPr lIns="0" tIns="0" rIns="0" bIns="0" rtlCol="0" anchor="t">
            <a:spAutoFit/>
          </a:bodyPr>
          <a:lstStyle/>
          <a:p>
            <a:pPr algn="ctr">
              <a:lnSpc>
                <a:spcPts val="4200"/>
              </a:lnSpc>
            </a:pPr>
            <a:r>
              <a:rPr lang="en-US" sz="3000">
                <a:solidFill>
                  <a:srgbClr val="000000"/>
                </a:solidFill>
                <a:latin typeface="Open Sauce"/>
                <a:ea typeface="Open Sauce"/>
                <a:cs typeface="Open Sauce"/>
                <a:sym typeface="Open Sauce"/>
              </a:rPr>
              <a:t>DÉPART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66675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3"/>
            <a:stretch>
              <a:fillRect/>
            </a:stretch>
          </a:blipFill>
        </p:spPr>
        <p:txBody>
          <a:bodyPr/>
          <a:lstStyle/>
          <a:p>
            <a:endParaRPr lang="fr-FR"/>
          </a:p>
        </p:txBody>
      </p:sp>
      <p:sp>
        <p:nvSpPr>
          <p:cNvPr id="3" name="AutoShape 3"/>
          <p:cNvSpPr/>
          <p:nvPr/>
        </p:nvSpPr>
        <p:spPr>
          <a:xfrm flipH="1" flipV="1">
            <a:off x="2063940" y="7793611"/>
            <a:ext cx="1431" cy="1486031"/>
          </a:xfrm>
          <a:prstGeom prst="line">
            <a:avLst/>
          </a:prstGeom>
          <a:ln w="95250" cap="flat">
            <a:solidFill>
              <a:srgbClr val="EA6F26"/>
            </a:solidFill>
            <a:prstDash val="solid"/>
            <a:headEnd type="none" w="sm" len="sm"/>
            <a:tailEnd type="none" w="sm" len="sm"/>
          </a:ln>
        </p:spPr>
        <p:txBody>
          <a:bodyPr/>
          <a:lstStyle/>
          <a:p>
            <a:endParaRPr lang="fr-FR"/>
          </a:p>
        </p:txBody>
      </p:sp>
      <p:grpSp>
        <p:nvGrpSpPr>
          <p:cNvPr id="4" name="Group 4"/>
          <p:cNvGrpSpPr/>
          <p:nvPr/>
        </p:nvGrpSpPr>
        <p:grpSpPr>
          <a:xfrm>
            <a:off x="1488632" y="3542081"/>
            <a:ext cx="4465771" cy="1572844"/>
            <a:chOff x="0" y="0"/>
            <a:chExt cx="1176170" cy="414247"/>
          </a:xfrm>
        </p:grpSpPr>
        <p:sp>
          <p:nvSpPr>
            <p:cNvPr id="5" name="Freeform 5"/>
            <p:cNvSpPr/>
            <p:nvPr/>
          </p:nvSpPr>
          <p:spPr>
            <a:xfrm>
              <a:off x="0" y="0"/>
              <a:ext cx="1176170" cy="414247"/>
            </a:xfrm>
            <a:custGeom>
              <a:avLst/>
              <a:gdLst/>
              <a:ahLst/>
              <a:cxnLst/>
              <a:rect l="l" t="t" r="r" b="b"/>
              <a:pathLst>
                <a:path w="1176170" h="414247">
                  <a:moveTo>
                    <a:pt x="88414" y="0"/>
                  </a:moveTo>
                  <a:lnTo>
                    <a:pt x="1087756" y="0"/>
                  </a:lnTo>
                  <a:cubicBezTo>
                    <a:pt x="1111205" y="0"/>
                    <a:pt x="1133693" y="9315"/>
                    <a:pt x="1150274" y="25896"/>
                  </a:cubicBezTo>
                  <a:cubicBezTo>
                    <a:pt x="1166855" y="42477"/>
                    <a:pt x="1176170" y="64965"/>
                    <a:pt x="1176170" y="88414"/>
                  </a:cubicBezTo>
                  <a:lnTo>
                    <a:pt x="1176170" y="325833"/>
                  </a:lnTo>
                  <a:cubicBezTo>
                    <a:pt x="1176170" y="349282"/>
                    <a:pt x="1166855" y="371770"/>
                    <a:pt x="1150274" y="388351"/>
                  </a:cubicBezTo>
                  <a:cubicBezTo>
                    <a:pt x="1133693" y="404932"/>
                    <a:pt x="1111205" y="414247"/>
                    <a:pt x="1087756" y="414247"/>
                  </a:cubicBezTo>
                  <a:lnTo>
                    <a:pt x="88414" y="414247"/>
                  </a:lnTo>
                  <a:cubicBezTo>
                    <a:pt x="64965" y="414247"/>
                    <a:pt x="42477" y="404932"/>
                    <a:pt x="25896" y="388351"/>
                  </a:cubicBezTo>
                  <a:cubicBezTo>
                    <a:pt x="9315" y="371770"/>
                    <a:pt x="0" y="349282"/>
                    <a:pt x="0" y="325833"/>
                  </a:cubicBezTo>
                  <a:lnTo>
                    <a:pt x="0" y="88414"/>
                  </a:lnTo>
                  <a:cubicBezTo>
                    <a:pt x="0" y="64965"/>
                    <a:pt x="9315" y="42477"/>
                    <a:pt x="25896" y="25896"/>
                  </a:cubicBezTo>
                  <a:cubicBezTo>
                    <a:pt x="42477" y="9315"/>
                    <a:pt x="64965" y="0"/>
                    <a:pt x="88414" y="0"/>
                  </a:cubicBezTo>
                  <a:close/>
                </a:path>
              </a:pathLst>
            </a:custGeom>
            <a:ln w="28575" cap="rnd">
              <a:solidFill>
                <a:srgbClr val="EA6F26"/>
              </a:solidFill>
              <a:prstDash val="solid"/>
              <a:round/>
            </a:ln>
          </p:spPr>
          <p:txBody>
            <a:bodyPr/>
            <a:lstStyle/>
            <a:p>
              <a:endParaRPr lang="fr-FR"/>
            </a:p>
          </p:txBody>
        </p:sp>
        <p:sp>
          <p:nvSpPr>
            <p:cNvPr id="6" name="TextBox 6"/>
            <p:cNvSpPr txBox="1"/>
            <p:nvPr/>
          </p:nvSpPr>
          <p:spPr>
            <a:xfrm>
              <a:off x="0" y="-38100"/>
              <a:ext cx="1176170" cy="452347"/>
            </a:xfrm>
            <a:prstGeom prst="rect">
              <a:avLst/>
            </a:prstGeom>
          </p:spPr>
          <p:txBody>
            <a:bodyPr lIns="304800" tIns="304800" rIns="304800" bIns="304800" rtlCol="0" anchor="ctr"/>
            <a:lstStyle/>
            <a:p>
              <a:pPr algn="ctr">
                <a:lnSpc>
                  <a:spcPts val="2659"/>
                </a:lnSpc>
                <a:spcBef>
                  <a:spcPct val="0"/>
                </a:spcBef>
              </a:pPr>
              <a:r>
                <a:rPr lang="en-US" sz="1899">
                  <a:solidFill>
                    <a:srgbClr val="000000"/>
                  </a:solidFill>
                  <a:latin typeface="Open Sans"/>
                  <a:ea typeface="Open Sans"/>
                  <a:cs typeface="Open Sans"/>
                  <a:sym typeface="Open Sans"/>
                </a:rPr>
                <a:t>Cet amendement </a:t>
              </a:r>
              <a:r>
                <a:rPr lang="en-US" sz="1899" b="1">
                  <a:solidFill>
                    <a:srgbClr val="000000"/>
                  </a:solidFill>
                  <a:latin typeface="Open Sans Bold"/>
                  <a:ea typeface="Open Sans Bold"/>
                  <a:cs typeface="Open Sans Bold"/>
                  <a:sym typeface="Open Sans Bold"/>
                </a:rPr>
                <a:t>adopté en commission du développement durable</a:t>
              </a:r>
              <a:r>
                <a:rPr lang="en-US" sz="1899">
                  <a:solidFill>
                    <a:srgbClr val="000000"/>
                  </a:solidFill>
                  <a:latin typeface="Open Sans"/>
                  <a:ea typeface="Open Sans"/>
                  <a:cs typeface="Open Sans"/>
                  <a:sym typeface="Open Sans"/>
                </a:rPr>
                <a:t> propose (...)</a:t>
              </a:r>
            </a:p>
          </p:txBody>
        </p:sp>
      </p:grpSp>
      <p:grpSp>
        <p:nvGrpSpPr>
          <p:cNvPr id="7" name="Group 7"/>
          <p:cNvGrpSpPr/>
          <p:nvPr/>
        </p:nvGrpSpPr>
        <p:grpSpPr>
          <a:xfrm>
            <a:off x="1488632" y="5574051"/>
            <a:ext cx="5383355" cy="1572844"/>
            <a:chOff x="0" y="0"/>
            <a:chExt cx="1417838" cy="414247"/>
          </a:xfrm>
        </p:grpSpPr>
        <p:sp>
          <p:nvSpPr>
            <p:cNvPr id="8" name="Freeform 8"/>
            <p:cNvSpPr/>
            <p:nvPr/>
          </p:nvSpPr>
          <p:spPr>
            <a:xfrm>
              <a:off x="0" y="0"/>
              <a:ext cx="1417838" cy="414247"/>
            </a:xfrm>
            <a:custGeom>
              <a:avLst/>
              <a:gdLst/>
              <a:ahLst/>
              <a:cxnLst/>
              <a:rect l="l" t="t" r="r" b="b"/>
              <a:pathLst>
                <a:path w="1417838" h="414247">
                  <a:moveTo>
                    <a:pt x="73344" y="0"/>
                  </a:moveTo>
                  <a:lnTo>
                    <a:pt x="1344494" y="0"/>
                  </a:lnTo>
                  <a:cubicBezTo>
                    <a:pt x="1385001" y="0"/>
                    <a:pt x="1417838" y="32837"/>
                    <a:pt x="1417838" y="73344"/>
                  </a:cubicBezTo>
                  <a:lnTo>
                    <a:pt x="1417838" y="340903"/>
                  </a:lnTo>
                  <a:cubicBezTo>
                    <a:pt x="1417838" y="360355"/>
                    <a:pt x="1410111" y="379010"/>
                    <a:pt x="1396356" y="392765"/>
                  </a:cubicBezTo>
                  <a:cubicBezTo>
                    <a:pt x="1382602" y="406520"/>
                    <a:pt x="1363946" y="414247"/>
                    <a:pt x="1344494" y="414247"/>
                  </a:cubicBezTo>
                  <a:lnTo>
                    <a:pt x="73344" y="414247"/>
                  </a:lnTo>
                  <a:cubicBezTo>
                    <a:pt x="32837" y="414247"/>
                    <a:pt x="0" y="381410"/>
                    <a:pt x="0" y="340903"/>
                  </a:cubicBezTo>
                  <a:lnTo>
                    <a:pt x="0" y="73344"/>
                  </a:lnTo>
                  <a:cubicBezTo>
                    <a:pt x="0" y="32837"/>
                    <a:pt x="32837" y="0"/>
                    <a:pt x="73344" y="0"/>
                  </a:cubicBezTo>
                  <a:close/>
                </a:path>
              </a:pathLst>
            </a:custGeom>
            <a:ln w="28575" cap="rnd">
              <a:solidFill>
                <a:srgbClr val="EA6F26"/>
              </a:solidFill>
              <a:prstDash val="solid"/>
              <a:round/>
            </a:ln>
          </p:spPr>
          <p:txBody>
            <a:bodyPr/>
            <a:lstStyle/>
            <a:p>
              <a:endParaRPr lang="fr-FR"/>
            </a:p>
          </p:txBody>
        </p:sp>
        <p:sp>
          <p:nvSpPr>
            <p:cNvPr id="9" name="TextBox 9"/>
            <p:cNvSpPr txBox="1"/>
            <p:nvPr/>
          </p:nvSpPr>
          <p:spPr>
            <a:xfrm>
              <a:off x="0" y="-38100"/>
              <a:ext cx="1417838" cy="452347"/>
            </a:xfrm>
            <a:prstGeom prst="rect">
              <a:avLst/>
            </a:prstGeom>
          </p:spPr>
          <p:txBody>
            <a:bodyPr lIns="304800" tIns="304800" rIns="304800" bIns="304800" rtlCol="0" anchor="ctr"/>
            <a:lstStyle/>
            <a:p>
              <a:pPr algn="ctr">
                <a:lnSpc>
                  <a:spcPts val="2659"/>
                </a:lnSpc>
                <a:spcBef>
                  <a:spcPct val="0"/>
                </a:spcBef>
              </a:pPr>
              <a:r>
                <a:rPr lang="en-US" sz="1899">
                  <a:solidFill>
                    <a:srgbClr val="000000"/>
                  </a:solidFill>
                  <a:latin typeface="Open Sans"/>
                  <a:ea typeface="Open Sans"/>
                  <a:cs typeface="Open Sans"/>
                  <a:sym typeface="Open Sans"/>
                </a:rPr>
                <a:t>Le présent amendement, </a:t>
              </a:r>
              <a:r>
                <a:rPr lang="en-US" sz="1899" b="1">
                  <a:solidFill>
                    <a:srgbClr val="000000"/>
                  </a:solidFill>
                  <a:latin typeface="Open Sans Bold"/>
                  <a:ea typeface="Open Sans Bold"/>
                  <a:cs typeface="Open Sans Bold"/>
                  <a:sym typeface="Open Sans Bold"/>
                </a:rPr>
                <a:t>soutenu par l’Association des maires de France (AMF)</a:t>
              </a:r>
              <a:r>
                <a:rPr lang="en-US" sz="1899">
                  <a:solidFill>
                    <a:srgbClr val="000000"/>
                  </a:solidFill>
                  <a:latin typeface="Open Sans"/>
                  <a:ea typeface="Open Sans"/>
                  <a:cs typeface="Open Sans"/>
                  <a:sym typeface="Open Sans"/>
                </a:rPr>
                <a:t>, vise à supprimer (...)</a:t>
              </a:r>
            </a:p>
          </p:txBody>
        </p:sp>
      </p:grpSp>
      <p:sp>
        <p:nvSpPr>
          <p:cNvPr id="10" name="TextBox 10"/>
          <p:cNvSpPr txBox="1"/>
          <p:nvPr/>
        </p:nvSpPr>
        <p:spPr>
          <a:xfrm>
            <a:off x="1929998" y="752475"/>
            <a:ext cx="15685922" cy="1311275"/>
          </a:xfrm>
          <a:prstGeom prst="rect">
            <a:avLst/>
          </a:prstGeom>
        </p:spPr>
        <p:txBody>
          <a:bodyPr lIns="0" tIns="0" rIns="0" bIns="0" rtlCol="0" anchor="t">
            <a:spAutoFit/>
          </a:bodyPr>
          <a:lstStyle/>
          <a:p>
            <a:pPr algn="l">
              <a:lnSpc>
                <a:spcPts val="5050"/>
              </a:lnSpc>
            </a:pPr>
            <a:r>
              <a:rPr lang="en-US" sz="5000" b="1">
                <a:solidFill>
                  <a:srgbClr val="000000"/>
                </a:solidFill>
                <a:latin typeface="Open Sauce Bold"/>
                <a:ea typeface="Open Sauce Bold"/>
                <a:cs typeface="Open Sauce Bold"/>
                <a:sym typeface="Open Sauce Bold"/>
              </a:rPr>
              <a:t>Étape 2 : annoter les données d’entraînement et fixer son codebook</a:t>
            </a:r>
          </a:p>
        </p:txBody>
      </p:sp>
      <p:sp>
        <p:nvSpPr>
          <p:cNvPr id="11" name="TextBox 11"/>
          <p:cNvSpPr txBox="1"/>
          <p:nvPr/>
        </p:nvSpPr>
        <p:spPr>
          <a:xfrm>
            <a:off x="1028700" y="2397880"/>
            <a:ext cx="16230600" cy="5238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Au fil des annotations, on rencontre des cas difficiles qui font évoluer notre codebook.</a:t>
            </a:r>
          </a:p>
        </p:txBody>
      </p:sp>
      <p:sp>
        <p:nvSpPr>
          <p:cNvPr id="12" name="TextBox 12"/>
          <p:cNvSpPr txBox="1"/>
          <p:nvPr/>
        </p:nvSpPr>
        <p:spPr>
          <a:xfrm>
            <a:off x="2351026" y="7726869"/>
            <a:ext cx="15217269" cy="1590675"/>
          </a:xfrm>
          <a:prstGeom prst="rect">
            <a:avLst/>
          </a:prstGeom>
        </p:spPr>
        <p:txBody>
          <a:bodyPr lIns="0" tIns="0" rIns="0" bIns="0" rtlCol="0" anchor="t">
            <a:spAutoFit/>
          </a:bodyPr>
          <a:lstStyle/>
          <a:p>
            <a:pPr algn="l">
              <a:lnSpc>
                <a:spcPts val="4200"/>
              </a:lnSpc>
              <a:spcBef>
                <a:spcPct val="0"/>
              </a:spcBef>
            </a:pPr>
            <a:r>
              <a:rPr lang="en-US" sz="3000" i="1">
                <a:solidFill>
                  <a:srgbClr val="000000"/>
                </a:solidFill>
                <a:latin typeface="Open Sauce Italics"/>
                <a:ea typeface="Open Sauce Italics"/>
                <a:cs typeface="Open Sauce Italics"/>
                <a:sym typeface="Open Sauce Italics"/>
              </a:rPr>
              <a:t>Ajout:</a:t>
            </a:r>
            <a:r>
              <a:rPr lang="en-US" sz="3000">
                <a:solidFill>
                  <a:srgbClr val="000000"/>
                </a:solidFill>
                <a:latin typeface="Open Sauce"/>
                <a:ea typeface="Open Sauce"/>
                <a:cs typeface="Open Sauce"/>
                <a:sym typeface="Open Sauce"/>
              </a:rPr>
              <a:t> On entend par "représentant d’intérêt" un groupe ou une institution extérieure à la représentation politique, représentant des intérêts privés, conformément à la définition de la HATVP. </a:t>
            </a:r>
          </a:p>
        </p:txBody>
      </p:sp>
      <p:sp>
        <p:nvSpPr>
          <p:cNvPr id="13" name="TextBox 13"/>
          <p:cNvSpPr txBox="1"/>
          <p:nvPr/>
        </p:nvSpPr>
        <p:spPr>
          <a:xfrm>
            <a:off x="1488632" y="7606367"/>
            <a:ext cx="378301" cy="762000"/>
          </a:xfrm>
          <a:prstGeom prst="rect">
            <a:avLst/>
          </a:prstGeom>
        </p:spPr>
        <p:txBody>
          <a:bodyPr lIns="0" tIns="0" rIns="0" bIns="0" rtlCol="0" anchor="t">
            <a:spAutoFit/>
          </a:bodyPr>
          <a:lstStyle/>
          <a:p>
            <a:pPr algn="l">
              <a:lnSpc>
                <a:spcPts val="6299"/>
              </a:lnSpc>
            </a:pPr>
            <a:r>
              <a:rPr lang="en-US" sz="4500" b="1">
                <a:solidFill>
                  <a:srgbClr val="EA6F26"/>
                </a:solidFill>
                <a:latin typeface="Open Sauce Bold"/>
                <a:ea typeface="Open Sauce Bold"/>
                <a:cs typeface="Open Sauce Bold"/>
                <a:sym typeface="Open Sauce Bold"/>
              </a:rPr>
              <a:t>3</a:t>
            </a:r>
          </a:p>
        </p:txBody>
      </p:sp>
      <p:sp>
        <p:nvSpPr>
          <p:cNvPr id="14" name="TextBox 14"/>
          <p:cNvSpPr txBox="1"/>
          <p:nvPr/>
        </p:nvSpPr>
        <p:spPr>
          <a:xfrm>
            <a:off x="6518540" y="3600793"/>
            <a:ext cx="11008391" cy="1407795"/>
          </a:xfrm>
          <a:prstGeom prst="rect">
            <a:avLst/>
          </a:prstGeom>
        </p:spPr>
        <p:txBody>
          <a:bodyPr lIns="0" tIns="0" rIns="0" bIns="0" rtlCol="0" anchor="t">
            <a:spAutoFit/>
          </a:bodyPr>
          <a:lstStyle/>
          <a:p>
            <a:pPr algn="l">
              <a:lnSpc>
                <a:spcPts val="3780"/>
              </a:lnSpc>
            </a:pPr>
            <a:r>
              <a:rPr lang="en-US" sz="2700">
                <a:solidFill>
                  <a:srgbClr val="000000"/>
                </a:solidFill>
                <a:latin typeface="Open Sauce"/>
                <a:ea typeface="Open Sauce"/>
                <a:cs typeface="Open Sauce"/>
                <a:sym typeface="Open Sauce"/>
              </a:rPr>
              <a:t>PB : source explicite mais pas un représentant d’intérêt. </a:t>
            </a:r>
          </a:p>
          <a:p>
            <a:pPr algn="l">
              <a:lnSpc>
                <a:spcPts val="3780"/>
              </a:lnSpc>
            </a:pPr>
            <a:r>
              <a:rPr lang="en-US" sz="2700">
                <a:solidFill>
                  <a:srgbClr val="000000"/>
                </a:solidFill>
                <a:latin typeface="Open Sauce"/>
                <a:ea typeface="Open Sauce"/>
                <a:cs typeface="Open Sauce"/>
                <a:sym typeface="Open Sauce"/>
              </a:rPr>
              <a:t>        =&gt; Redéfinir la RQ vers l’identification de l’origine des     </a:t>
            </a:r>
          </a:p>
          <a:p>
            <a:pPr algn="l">
              <a:lnSpc>
                <a:spcPts val="3780"/>
              </a:lnSpc>
              <a:spcBef>
                <a:spcPct val="0"/>
              </a:spcBef>
            </a:pPr>
            <a:r>
              <a:rPr lang="en-US" sz="2700">
                <a:solidFill>
                  <a:srgbClr val="000000"/>
                </a:solidFill>
                <a:latin typeface="Open Sauce"/>
                <a:ea typeface="Open Sauce"/>
                <a:cs typeface="Open Sauce"/>
                <a:sym typeface="Open Sauce"/>
              </a:rPr>
              <a:t>       amendements, quelle qu’elle soit ? Choix : non.</a:t>
            </a:r>
          </a:p>
        </p:txBody>
      </p:sp>
      <p:sp>
        <p:nvSpPr>
          <p:cNvPr id="15" name="TextBox 15"/>
          <p:cNvSpPr txBox="1"/>
          <p:nvPr/>
        </p:nvSpPr>
        <p:spPr>
          <a:xfrm>
            <a:off x="7529212" y="5817548"/>
            <a:ext cx="8913003" cy="931545"/>
          </a:xfrm>
          <a:prstGeom prst="rect">
            <a:avLst/>
          </a:prstGeom>
        </p:spPr>
        <p:txBody>
          <a:bodyPr lIns="0" tIns="0" rIns="0" bIns="0" rtlCol="0" anchor="t">
            <a:spAutoFit/>
          </a:bodyPr>
          <a:lstStyle/>
          <a:p>
            <a:pPr algn="l">
              <a:lnSpc>
                <a:spcPts val="3780"/>
              </a:lnSpc>
              <a:spcBef>
                <a:spcPct val="0"/>
              </a:spcBef>
            </a:pPr>
            <a:r>
              <a:rPr lang="en-US" sz="2700">
                <a:solidFill>
                  <a:srgbClr val="000000"/>
                </a:solidFill>
                <a:latin typeface="Open Sauce"/>
                <a:ea typeface="Open Sauce"/>
                <a:cs typeface="Open Sauce"/>
                <a:sym typeface="Open Sauce"/>
              </a:rPr>
              <a:t>PB : associations d’élus et élues sont-elles des “lobbies” ? Choix : non (appui sur HATVP).</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66675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3"/>
            <a:stretch>
              <a:fillRect/>
            </a:stretch>
          </a:blipFill>
        </p:spPr>
        <p:txBody>
          <a:bodyPr/>
          <a:lstStyle/>
          <a:p>
            <a:endParaRPr lang="fr-FR"/>
          </a:p>
        </p:txBody>
      </p:sp>
      <p:sp>
        <p:nvSpPr>
          <p:cNvPr id="3" name="AutoShape 3"/>
          <p:cNvSpPr/>
          <p:nvPr/>
        </p:nvSpPr>
        <p:spPr>
          <a:xfrm flipV="1">
            <a:off x="1967747" y="7212108"/>
            <a:ext cx="0" cy="2270348"/>
          </a:xfrm>
          <a:prstGeom prst="line">
            <a:avLst/>
          </a:prstGeom>
          <a:ln w="95250" cap="flat">
            <a:solidFill>
              <a:srgbClr val="EA6F26"/>
            </a:solidFill>
            <a:prstDash val="solid"/>
            <a:headEnd type="none" w="sm" len="sm"/>
            <a:tailEnd type="none" w="sm" len="sm"/>
          </a:ln>
        </p:spPr>
        <p:txBody>
          <a:bodyPr/>
          <a:lstStyle/>
          <a:p>
            <a:endParaRPr lang="fr-FR"/>
          </a:p>
        </p:txBody>
      </p:sp>
      <p:sp>
        <p:nvSpPr>
          <p:cNvPr id="4" name="TextBox 4"/>
          <p:cNvSpPr txBox="1"/>
          <p:nvPr/>
        </p:nvSpPr>
        <p:spPr>
          <a:xfrm>
            <a:off x="1929998" y="752475"/>
            <a:ext cx="15685922" cy="1311275"/>
          </a:xfrm>
          <a:prstGeom prst="rect">
            <a:avLst/>
          </a:prstGeom>
        </p:spPr>
        <p:txBody>
          <a:bodyPr lIns="0" tIns="0" rIns="0" bIns="0" rtlCol="0" anchor="t">
            <a:spAutoFit/>
          </a:bodyPr>
          <a:lstStyle/>
          <a:p>
            <a:pPr algn="l">
              <a:lnSpc>
                <a:spcPts val="5050"/>
              </a:lnSpc>
            </a:pPr>
            <a:r>
              <a:rPr lang="en-US" sz="5000" b="1">
                <a:solidFill>
                  <a:srgbClr val="000000"/>
                </a:solidFill>
                <a:latin typeface="Open Sauce Bold"/>
                <a:ea typeface="Open Sauce Bold"/>
                <a:cs typeface="Open Sauce Bold"/>
                <a:sym typeface="Open Sauce Bold"/>
              </a:rPr>
              <a:t>Étape 2 : annoter les données d’entraînement et fixer son codebook</a:t>
            </a:r>
          </a:p>
        </p:txBody>
      </p:sp>
      <p:sp>
        <p:nvSpPr>
          <p:cNvPr id="5" name="TextBox 5"/>
          <p:cNvSpPr txBox="1"/>
          <p:nvPr/>
        </p:nvSpPr>
        <p:spPr>
          <a:xfrm>
            <a:off x="1028700" y="2397880"/>
            <a:ext cx="16230600" cy="5238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Au fil des annotations, on rencontre des cas difficiles qui font évoluer notre codebook.</a:t>
            </a:r>
          </a:p>
        </p:txBody>
      </p:sp>
      <p:sp>
        <p:nvSpPr>
          <p:cNvPr id="6" name="TextBox 6"/>
          <p:cNvSpPr txBox="1"/>
          <p:nvPr/>
        </p:nvSpPr>
        <p:spPr>
          <a:xfrm>
            <a:off x="2254833" y="7145366"/>
            <a:ext cx="15217269" cy="1057275"/>
          </a:xfrm>
          <a:prstGeom prst="rect">
            <a:avLst/>
          </a:prstGeom>
        </p:spPr>
        <p:txBody>
          <a:bodyPr lIns="0" tIns="0" rIns="0" bIns="0" rtlCol="0" anchor="t">
            <a:spAutoFit/>
          </a:bodyPr>
          <a:lstStyle/>
          <a:p>
            <a:pPr algn="l">
              <a:lnSpc>
                <a:spcPts val="4200"/>
              </a:lnSpc>
              <a:spcBef>
                <a:spcPct val="0"/>
              </a:spcBef>
            </a:pPr>
            <a:r>
              <a:rPr lang="en-US" sz="3000" i="1">
                <a:solidFill>
                  <a:srgbClr val="000000"/>
                </a:solidFill>
                <a:latin typeface="Open Sauce Italics"/>
                <a:ea typeface="Open Sauce Italics"/>
                <a:cs typeface="Open Sauce Italics"/>
                <a:sym typeface="Open Sauce Italics"/>
              </a:rPr>
              <a:t>Modif:</a:t>
            </a:r>
            <a:r>
              <a:rPr lang="en-US" sz="3000">
                <a:solidFill>
                  <a:srgbClr val="000000"/>
                </a:solidFill>
                <a:latin typeface="Open Sauce"/>
                <a:ea typeface="Open Sauce"/>
                <a:cs typeface="Open Sauce"/>
                <a:sym typeface="Open Sauce"/>
              </a:rPr>
              <a:t> On entend par "représentant d’intérêt" un groupe ou une institution extérieure à la représentation politique, représentant des intérêts privés. </a:t>
            </a:r>
          </a:p>
        </p:txBody>
      </p:sp>
      <p:sp>
        <p:nvSpPr>
          <p:cNvPr id="7" name="TextBox 7"/>
          <p:cNvSpPr txBox="1"/>
          <p:nvPr/>
        </p:nvSpPr>
        <p:spPr>
          <a:xfrm>
            <a:off x="1392439" y="7024864"/>
            <a:ext cx="369729" cy="762000"/>
          </a:xfrm>
          <a:prstGeom prst="rect">
            <a:avLst/>
          </a:prstGeom>
        </p:spPr>
        <p:txBody>
          <a:bodyPr lIns="0" tIns="0" rIns="0" bIns="0" rtlCol="0" anchor="t">
            <a:spAutoFit/>
          </a:bodyPr>
          <a:lstStyle/>
          <a:p>
            <a:pPr algn="l">
              <a:lnSpc>
                <a:spcPts val="6299"/>
              </a:lnSpc>
            </a:pPr>
            <a:r>
              <a:rPr lang="en-US" sz="4500" b="1">
                <a:solidFill>
                  <a:srgbClr val="EA6F26"/>
                </a:solidFill>
                <a:latin typeface="Open Sauce Bold"/>
                <a:ea typeface="Open Sauce Bold"/>
                <a:cs typeface="Open Sauce Bold"/>
                <a:sym typeface="Open Sauce Bold"/>
              </a:rPr>
              <a:t>4</a:t>
            </a:r>
          </a:p>
        </p:txBody>
      </p:sp>
      <p:sp>
        <p:nvSpPr>
          <p:cNvPr id="8" name="TextBox 8"/>
          <p:cNvSpPr txBox="1"/>
          <p:nvPr/>
        </p:nvSpPr>
        <p:spPr>
          <a:xfrm>
            <a:off x="6107091" y="4092396"/>
            <a:ext cx="10822004" cy="931545"/>
          </a:xfrm>
          <a:prstGeom prst="rect">
            <a:avLst/>
          </a:prstGeom>
        </p:spPr>
        <p:txBody>
          <a:bodyPr lIns="0" tIns="0" rIns="0" bIns="0" rtlCol="0" anchor="t">
            <a:spAutoFit/>
          </a:bodyPr>
          <a:lstStyle/>
          <a:p>
            <a:pPr algn="l">
              <a:lnSpc>
                <a:spcPts val="3780"/>
              </a:lnSpc>
              <a:spcBef>
                <a:spcPct val="0"/>
              </a:spcBef>
            </a:pPr>
            <a:r>
              <a:rPr lang="en-US" sz="2700">
                <a:solidFill>
                  <a:srgbClr val="000000"/>
                </a:solidFill>
                <a:latin typeface="Open Sauce"/>
                <a:ea typeface="Open Sauce"/>
                <a:cs typeface="Open Sauce"/>
                <a:sym typeface="Open Sauce"/>
              </a:rPr>
              <a:t>PB : “profession” et “collectif” ne rentrent pas dans la définition de la HATVP.</a:t>
            </a:r>
          </a:p>
        </p:txBody>
      </p:sp>
      <p:grpSp>
        <p:nvGrpSpPr>
          <p:cNvPr id="9" name="Group 9"/>
          <p:cNvGrpSpPr/>
          <p:nvPr/>
        </p:nvGrpSpPr>
        <p:grpSpPr>
          <a:xfrm>
            <a:off x="1551507" y="3321805"/>
            <a:ext cx="4034633" cy="1596472"/>
            <a:chOff x="0" y="0"/>
            <a:chExt cx="1062619" cy="420470"/>
          </a:xfrm>
        </p:grpSpPr>
        <p:sp>
          <p:nvSpPr>
            <p:cNvPr id="10" name="Freeform 10"/>
            <p:cNvSpPr/>
            <p:nvPr/>
          </p:nvSpPr>
          <p:spPr>
            <a:xfrm>
              <a:off x="0" y="0"/>
              <a:ext cx="1062619" cy="420470"/>
            </a:xfrm>
            <a:custGeom>
              <a:avLst/>
              <a:gdLst/>
              <a:ahLst/>
              <a:cxnLst/>
              <a:rect l="l" t="t" r="r" b="b"/>
              <a:pathLst>
                <a:path w="1062619" h="420470">
                  <a:moveTo>
                    <a:pt x="97862" y="0"/>
                  </a:moveTo>
                  <a:lnTo>
                    <a:pt x="964757" y="0"/>
                  </a:lnTo>
                  <a:cubicBezTo>
                    <a:pt x="1018805" y="0"/>
                    <a:pt x="1062619" y="43814"/>
                    <a:pt x="1062619" y="97862"/>
                  </a:cubicBezTo>
                  <a:lnTo>
                    <a:pt x="1062619" y="322608"/>
                  </a:lnTo>
                  <a:cubicBezTo>
                    <a:pt x="1062619" y="348563"/>
                    <a:pt x="1052309" y="373454"/>
                    <a:pt x="1033956" y="391807"/>
                  </a:cubicBezTo>
                  <a:cubicBezTo>
                    <a:pt x="1015603" y="410160"/>
                    <a:pt x="990712" y="420470"/>
                    <a:pt x="964757" y="420470"/>
                  </a:cubicBezTo>
                  <a:lnTo>
                    <a:pt x="97862" y="420470"/>
                  </a:lnTo>
                  <a:cubicBezTo>
                    <a:pt x="71908" y="420470"/>
                    <a:pt x="47016" y="410160"/>
                    <a:pt x="28663" y="391807"/>
                  </a:cubicBezTo>
                  <a:cubicBezTo>
                    <a:pt x="10310" y="373454"/>
                    <a:pt x="0" y="348563"/>
                    <a:pt x="0" y="322608"/>
                  </a:cubicBezTo>
                  <a:lnTo>
                    <a:pt x="0" y="97862"/>
                  </a:lnTo>
                  <a:cubicBezTo>
                    <a:pt x="0" y="71908"/>
                    <a:pt x="10310" y="47016"/>
                    <a:pt x="28663" y="28663"/>
                  </a:cubicBezTo>
                  <a:cubicBezTo>
                    <a:pt x="47016" y="10310"/>
                    <a:pt x="71908" y="0"/>
                    <a:pt x="97862" y="0"/>
                  </a:cubicBezTo>
                  <a:close/>
                </a:path>
              </a:pathLst>
            </a:custGeom>
            <a:ln w="28575" cap="rnd">
              <a:solidFill>
                <a:srgbClr val="EA6F26"/>
              </a:solidFill>
              <a:prstDash val="solid"/>
              <a:round/>
            </a:ln>
          </p:spPr>
          <p:txBody>
            <a:bodyPr/>
            <a:lstStyle/>
            <a:p>
              <a:endParaRPr lang="fr-FR"/>
            </a:p>
          </p:txBody>
        </p:sp>
        <p:sp>
          <p:nvSpPr>
            <p:cNvPr id="11" name="TextBox 11"/>
            <p:cNvSpPr txBox="1"/>
            <p:nvPr/>
          </p:nvSpPr>
          <p:spPr>
            <a:xfrm>
              <a:off x="0" y="-38100"/>
              <a:ext cx="1062619" cy="458570"/>
            </a:xfrm>
            <a:prstGeom prst="rect">
              <a:avLst/>
            </a:prstGeom>
          </p:spPr>
          <p:txBody>
            <a:bodyPr lIns="304800" tIns="304800" rIns="304800" bIns="304800" rtlCol="0" anchor="ctr"/>
            <a:lstStyle/>
            <a:p>
              <a:pPr algn="ctr">
                <a:lnSpc>
                  <a:spcPts val="2659"/>
                </a:lnSpc>
                <a:spcBef>
                  <a:spcPct val="0"/>
                </a:spcBef>
              </a:pPr>
              <a:r>
                <a:rPr lang="en-US" sz="1899">
                  <a:solidFill>
                    <a:srgbClr val="000000"/>
                  </a:solidFill>
                  <a:latin typeface="Open Sans"/>
                  <a:ea typeface="Open Sans"/>
                  <a:cs typeface="Open Sans"/>
                  <a:sym typeface="Open Sans"/>
                </a:rPr>
                <a:t>(...) Cet amendement a été élaboré en concertation </a:t>
              </a:r>
              <a:r>
                <a:rPr lang="en-US" sz="1899" b="1">
                  <a:solidFill>
                    <a:srgbClr val="000000"/>
                  </a:solidFill>
                  <a:latin typeface="Open Sans Bold"/>
                  <a:ea typeface="Open Sans Bold"/>
                  <a:cs typeface="Open Sans Bold"/>
                  <a:sym typeface="Open Sans Bold"/>
                </a:rPr>
                <a:t>avec la profession.</a:t>
              </a:r>
            </a:p>
          </p:txBody>
        </p:sp>
      </p:grpSp>
      <p:sp>
        <p:nvSpPr>
          <p:cNvPr id="12" name="TextBox 12"/>
          <p:cNvSpPr txBox="1"/>
          <p:nvPr/>
        </p:nvSpPr>
        <p:spPr>
          <a:xfrm>
            <a:off x="2254833" y="8425181"/>
            <a:ext cx="15217269" cy="1057275"/>
          </a:xfrm>
          <a:prstGeom prst="rect">
            <a:avLst/>
          </a:prstGeom>
        </p:spPr>
        <p:txBody>
          <a:bodyPr lIns="0" tIns="0" rIns="0" bIns="0" rtlCol="0" anchor="t">
            <a:spAutoFit/>
          </a:bodyPr>
          <a:lstStyle/>
          <a:p>
            <a:pPr algn="l">
              <a:lnSpc>
                <a:spcPts val="4200"/>
              </a:lnSpc>
              <a:spcBef>
                <a:spcPct val="0"/>
              </a:spcBef>
            </a:pPr>
            <a:r>
              <a:rPr lang="en-US" sz="3000" i="1">
                <a:solidFill>
                  <a:srgbClr val="000000"/>
                </a:solidFill>
                <a:latin typeface="Open Sauce Italics"/>
                <a:ea typeface="Open Sauce Italics"/>
                <a:cs typeface="Open Sauce Italics"/>
                <a:sym typeface="Open Sauce Italics"/>
              </a:rPr>
              <a:t>Ajout:</a:t>
            </a:r>
            <a:r>
              <a:rPr lang="en-US" sz="3000">
                <a:solidFill>
                  <a:srgbClr val="000000"/>
                </a:solidFill>
                <a:latin typeface="Open Sauce"/>
                <a:ea typeface="Open Sauce"/>
                <a:cs typeface="Open Sauce"/>
                <a:sym typeface="Open Sauce"/>
              </a:rPr>
              <a:t> Cette définition reprend celle de la HATVP mais élargit son champ en n'exigeant pas une personnalité morale du représentant d'intérêt. </a:t>
            </a:r>
          </a:p>
        </p:txBody>
      </p:sp>
      <p:grpSp>
        <p:nvGrpSpPr>
          <p:cNvPr id="13" name="Group 13"/>
          <p:cNvGrpSpPr/>
          <p:nvPr/>
        </p:nvGrpSpPr>
        <p:grpSpPr>
          <a:xfrm>
            <a:off x="1551507" y="5139637"/>
            <a:ext cx="4034633" cy="1596472"/>
            <a:chOff x="0" y="0"/>
            <a:chExt cx="1062619" cy="420470"/>
          </a:xfrm>
        </p:grpSpPr>
        <p:sp>
          <p:nvSpPr>
            <p:cNvPr id="14" name="Freeform 14"/>
            <p:cNvSpPr/>
            <p:nvPr/>
          </p:nvSpPr>
          <p:spPr>
            <a:xfrm>
              <a:off x="0" y="0"/>
              <a:ext cx="1062619" cy="420470"/>
            </a:xfrm>
            <a:custGeom>
              <a:avLst/>
              <a:gdLst/>
              <a:ahLst/>
              <a:cxnLst/>
              <a:rect l="l" t="t" r="r" b="b"/>
              <a:pathLst>
                <a:path w="1062619" h="420470">
                  <a:moveTo>
                    <a:pt x="97862" y="0"/>
                  </a:moveTo>
                  <a:lnTo>
                    <a:pt x="964757" y="0"/>
                  </a:lnTo>
                  <a:cubicBezTo>
                    <a:pt x="1018805" y="0"/>
                    <a:pt x="1062619" y="43814"/>
                    <a:pt x="1062619" y="97862"/>
                  </a:cubicBezTo>
                  <a:lnTo>
                    <a:pt x="1062619" y="322608"/>
                  </a:lnTo>
                  <a:cubicBezTo>
                    <a:pt x="1062619" y="348563"/>
                    <a:pt x="1052309" y="373454"/>
                    <a:pt x="1033956" y="391807"/>
                  </a:cubicBezTo>
                  <a:cubicBezTo>
                    <a:pt x="1015603" y="410160"/>
                    <a:pt x="990712" y="420470"/>
                    <a:pt x="964757" y="420470"/>
                  </a:cubicBezTo>
                  <a:lnTo>
                    <a:pt x="97862" y="420470"/>
                  </a:lnTo>
                  <a:cubicBezTo>
                    <a:pt x="71908" y="420470"/>
                    <a:pt x="47016" y="410160"/>
                    <a:pt x="28663" y="391807"/>
                  </a:cubicBezTo>
                  <a:cubicBezTo>
                    <a:pt x="10310" y="373454"/>
                    <a:pt x="0" y="348563"/>
                    <a:pt x="0" y="322608"/>
                  </a:cubicBezTo>
                  <a:lnTo>
                    <a:pt x="0" y="97862"/>
                  </a:lnTo>
                  <a:cubicBezTo>
                    <a:pt x="0" y="71908"/>
                    <a:pt x="10310" y="47016"/>
                    <a:pt x="28663" y="28663"/>
                  </a:cubicBezTo>
                  <a:cubicBezTo>
                    <a:pt x="47016" y="10310"/>
                    <a:pt x="71908" y="0"/>
                    <a:pt x="97862" y="0"/>
                  </a:cubicBezTo>
                  <a:close/>
                </a:path>
              </a:pathLst>
            </a:custGeom>
            <a:ln w="28575" cap="rnd">
              <a:solidFill>
                <a:srgbClr val="EA6F26"/>
              </a:solidFill>
              <a:prstDash val="solid"/>
              <a:round/>
            </a:ln>
          </p:spPr>
          <p:txBody>
            <a:bodyPr/>
            <a:lstStyle/>
            <a:p>
              <a:endParaRPr lang="fr-FR"/>
            </a:p>
          </p:txBody>
        </p:sp>
        <p:sp>
          <p:nvSpPr>
            <p:cNvPr id="15" name="TextBox 15"/>
            <p:cNvSpPr txBox="1"/>
            <p:nvPr/>
          </p:nvSpPr>
          <p:spPr>
            <a:xfrm>
              <a:off x="0" y="-38100"/>
              <a:ext cx="1062619" cy="458570"/>
            </a:xfrm>
            <a:prstGeom prst="rect">
              <a:avLst/>
            </a:prstGeom>
          </p:spPr>
          <p:txBody>
            <a:bodyPr lIns="304800" tIns="304800" rIns="304800" bIns="304800" rtlCol="0" anchor="ctr"/>
            <a:lstStyle/>
            <a:p>
              <a:pPr algn="ctr">
                <a:lnSpc>
                  <a:spcPts val="2659"/>
                </a:lnSpc>
                <a:spcBef>
                  <a:spcPct val="0"/>
                </a:spcBef>
              </a:pPr>
              <a:r>
                <a:rPr lang="en-US" sz="1899">
                  <a:solidFill>
                    <a:srgbClr val="000000"/>
                  </a:solidFill>
                  <a:latin typeface="Open Sans"/>
                  <a:ea typeface="Open Sans"/>
                  <a:cs typeface="Open Sans"/>
                  <a:sym typeface="Open Sans"/>
                </a:rPr>
                <a:t>(...) Cet amendement a été travaillé </a:t>
              </a:r>
              <a:r>
                <a:rPr lang="en-US" sz="1899" b="1">
                  <a:solidFill>
                    <a:srgbClr val="000000"/>
                  </a:solidFill>
                  <a:latin typeface="Open Sans Bold"/>
                  <a:ea typeface="Open Sans Bold"/>
                  <a:cs typeface="Open Sans Bold"/>
                  <a:sym typeface="Open Sans Bold"/>
                </a:rPr>
                <a:t>avec le collectif </a:t>
              </a:r>
              <a:r>
                <a:rPr lang="en-US" sz="1899">
                  <a:solidFill>
                    <a:srgbClr val="000000"/>
                  </a:solidFill>
                  <a:latin typeface="Open Sans"/>
                  <a:ea typeface="Open Sans"/>
                  <a:cs typeface="Open Sans"/>
                  <a:sym typeface="Open Sans"/>
                </a:rPr>
                <a:t>oui au train de nuit.</a:t>
              </a:r>
            </a:p>
          </p:txBody>
        </p:sp>
      </p:grpSp>
      <p:sp>
        <p:nvSpPr>
          <p:cNvPr id="16" name="TextBox 16"/>
          <p:cNvSpPr txBox="1"/>
          <p:nvPr/>
        </p:nvSpPr>
        <p:spPr>
          <a:xfrm>
            <a:off x="6539552" y="5092012"/>
            <a:ext cx="10822004" cy="455295"/>
          </a:xfrm>
          <a:prstGeom prst="rect">
            <a:avLst/>
          </a:prstGeom>
        </p:spPr>
        <p:txBody>
          <a:bodyPr lIns="0" tIns="0" rIns="0" bIns="0" rtlCol="0" anchor="t">
            <a:spAutoFit/>
          </a:bodyPr>
          <a:lstStyle/>
          <a:p>
            <a:pPr algn="l">
              <a:lnSpc>
                <a:spcPts val="3780"/>
              </a:lnSpc>
              <a:spcBef>
                <a:spcPct val="0"/>
              </a:spcBef>
            </a:pPr>
            <a:r>
              <a:rPr lang="en-US" sz="2700">
                <a:solidFill>
                  <a:srgbClr val="000000"/>
                </a:solidFill>
                <a:latin typeface="Open Sauce"/>
                <a:ea typeface="Open Sauce"/>
                <a:cs typeface="Open Sauce"/>
                <a:sym typeface="Open Sauce"/>
              </a:rPr>
              <a:t>=&gt; Les inclure ? Choix : oui.</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66675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3"/>
            <a:stretch>
              <a:fillRect/>
            </a:stretch>
          </a:blipFill>
        </p:spPr>
        <p:txBody>
          <a:bodyPr/>
          <a:lstStyle/>
          <a:p>
            <a:endParaRPr lang="fr-FR"/>
          </a:p>
        </p:txBody>
      </p:sp>
      <p:sp>
        <p:nvSpPr>
          <p:cNvPr id="3" name="Freeform 3"/>
          <p:cNvSpPr/>
          <p:nvPr/>
        </p:nvSpPr>
        <p:spPr>
          <a:xfrm>
            <a:off x="3289242" y="2523717"/>
            <a:ext cx="14326678" cy="6608180"/>
          </a:xfrm>
          <a:custGeom>
            <a:avLst/>
            <a:gdLst/>
            <a:ahLst/>
            <a:cxnLst/>
            <a:rect l="l" t="t" r="r" b="b"/>
            <a:pathLst>
              <a:path w="14326678" h="6608180">
                <a:moveTo>
                  <a:pt x="0" y="0"/>
                </a:moveTo>
                <a:lnTo>
                  <a:pt x="14326678" y="0"/>
                </a:lnTo>
                <a:lnTo>
                  <a:pt x="14326678" y="6608181"/>
                </a:lnTo>
                <a:lnTo>
                  <a:pt x="0" y="6608181"/>
                </a:lnTo>
                <a:lnTo>
                  <a:pt x="0" y="0"/>
                </a:lnTo>
                <a:close/>
              </a:path>
            </a:pathLst>
          </a:custGeom>
          <a:blipFill>
            <a:blip r:embed="rId4"/>
            <a:stretch>
              <a:fillRect/>
            </a:stretch>
          </a:blipFill>
        </p:spPr>
        <p:txBody>
          <a:bodyPr/>
          <a:lstStyle/>
          <a:p>
            <a:endParaRPr lang="fr-FR"/>
          </a:p>
        </p:txBody>
      </p:sp>
      <p:sp>
        <p:nvSpPr>
          <p:cNvPr id="4" name="TextBox 4"/>
          <p:cNvSpPr txBox="1"/>
          <p:nvPr/>
        </p:nvSpPr>
        <p:spPr>
          <a:xfrm>
            <a:off x="1929998" y="752475"/>
            <a:ext cx="15685922" cy="1311275"/>
          </a:xfrm>
          <a:prstGeom prst="rect">
            <a:avLst/>
          </a:prstGeom>
        </p:spPr>
        <p:txBody>
          <a:bodyPr lIns="0" tIns="0" rIns="0" bIns="0" rtlCol="0" anchor="t">
            <a:spAutoFit/>
          </a:bodyPr>
          <a:lstStyle/>
          <a:p>
            <a:pPr algn="l">
              <a:lnSpc>
                <a:spcPts val="5050"/>
              </a:lnSpc>
            </a:pPr>
            <a:r>
              <a:rPr lang="en-US" sz="5000" b="1">
                <a:solidFill>
                  <a:srgbClr val="000000"/>
                </a:solidFill>
                <a:latin typeface="Open Sauce Bold"/>
                <a:ea typeface="Open Sauce Bold"/>
                <a:cs typeface="Open Sauce Bold"/>
                <a:sym typeface="Open Sauce Bold"/>
              </a:rPr>
              <a:t>Étape 2 : annoter les données d’entraînement et fixer son codebook</a:t>
            </a:r>
          </a:p>
        </p:txBody>
      </p:sp>
      <p:sp>
        <p:nvSpPr>
          <p:cNvPr id="5" name="TextBox 5"/>
          <p:cNvSpPr txBox="1"/>
          <p:nvPr/>
        </p:nvSpPr>
        <p:spPr>
          <a:xfrm>
            <a:off x="1028700" y="2538984"/>
            <a:ext cx="2095277" cy="10572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Codebook final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3"/>
            <a:stretch>
              <a:fillRect/>
            </a:stretch>
          </a:blipFill>
        </p:spPr>
        <p:txBody>
          <a:bodyPr/>
          <a:lstStyle/>
          <a:p>
            <a:endParaRPr lang="fr-FR"/>
          </a:p>
        </p:txBody>
      </p:sp>
      <p:sp>
        <p:nvSpPr>
          <p:cNvPr id="3" name="Freeform 3"/>
          <p:cNvSpPr/>
          <p:nvPr/>
        </p:nvSpPr>
        <p:spPr>
          <a:xfrm>
            <a:off x="3444263" y="2863040"/>
            <a:ext cx="12800076" cy="6680040"/>
          </a:xfrm>
          <a:custGeom>
            <a:avLst/>
            <a:gdLst/>
            <a:ahLst/>
            <a:cxnLst/>
            <a:rect l="l" t="t" r="r" b="b"/>
            <a:pathLst>
              <a:path w="12800076" h="6680040">
                <a:moveTo>
                  <a:pt x="0" y="0"/>
                </a:moveTo>
                <a:lnTo>
                  <a:pt x="12800077" y="0"/>
                </a:lnTo>
                <a:lnTo>
                  <a:pt x="12800077" y="6680040"/>
                </a:lnTo>
                <a:lnTo>
                  <a:pt x="0" y="6680040"/>
                </a:lnTo>
                <a:lnTo>
                  <a:pt x="0" y="0"/>
                </a:lnTo>
                <a:close/>
              </a:path>
            </a:pathLst>
          </a:custGeom>
          <a:blipFill>
            <a:blip r:embed="rId4"/>
            <a:stretch>
              <a:fillRect/>
            </a:stretch>
          </a:blipFill>
        </p:spPr>
        <p:txBody>
          <a:bodyPr/>
          <a:lstStyle/>
          <a:p>
            <a:endParaRPr lang="fr-FR"/>
          </a:p>
        </p:txBody>
      </p:sp>
      <p:sp>
        <p:nvSpPr>
          <p:cNvPr id="4" name="TextBox 4"/>
          <p:cNvSpPr txBox="1"/>
          <p:nvPr/>
        </p:nvSpPr>
        <p:spPr>
          <a:xfrm>
            <a:off x="1099110" y="2078641"/>
            <a:ext cx="15736322" cy="10572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Maintenant que notre codebook est fixé, on peut annoter les données de validation et de test.</a:t>
            </a:r>
          </a:p>
        </p:txBody>
      </p:sp>
      <p:sp>
        <p:nvSpPr>
          <p:cNvPr id="5" name="TextBox 5"/>
          <p:cNvSpPr txBox="1"/>
          <p:nvPr/>
        </p:nvSpPr>
        <p:spPr>
          <a:xfrm>
            <a:off x="1929998" y="923925"/>
            <a:ext cx="14074546"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Étape 3 : annoter les validation et test sets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3"/>
            <a:stretch>
              <a:fillRect/>
            </a:stretch>
          </a:blipFill>
        </p:spPr>
        <p:txBody>
          <a:bodyPr/>
          <a:lstStyle/>
          <a:p>
            <a:endParaRPr lang="fr-FR"/>
          </a:p>
        </p:txBody>
      </p:sp>
      <p:sp>
        <p:nvSpPr>
          <p:cNvPr id="3" name="Freeform 3"/>
          <p:cNvSpPr/>
          <p:nvPr/>
        </p:nvSpPr>
        <p:spPr>
          <a:xfrm>
            <a:off x="14035355" y="3300161"/>
            <a:ext cx="2849060" cy="757382"/>
          </a:xfrm>
          <a:custGeom>
            <a:avLst/>
            <a:gdLst/>
            <a:ahLst/>
            <a:cxnLst/>
            <a:rect l="l" t="t" r="r" b="b"/>
            <a:pathLst>
              <a:path w="2849060" h="757382">
                <a:moveTo>
                  <a:pt x="0" y="0"/>
                </a:moveTo>
                <a:lnTo>
                  <a:pt x="2849059" y="0"/>
                </a:lnTo>
                <a:lnTo>
                  <a:pt x="2849059" y="757382"/>
                </a:lnTo>
                <a:lnTo>
                  <a:pt x="0" y="757382"/>
                </a:lnTo>
                <a:lnTo>
                  <a:pt x="0" y="0"/>
                </a:lnTo>
                <a:close/>
              </a:path>
            </a:pathLst>
          </a:custGeom>
          <a:blipFill>
            <a:blip r:embed="rId4"/>
            <a:stretch>
              <a:fillRect/>
            </a:stretch>
          </a:blipFill>
        </p:spPr>
        <p:txBody>
          <a:bodyPr/>
          <a:lstStyle/>
          <a:p>
            <a:endParaRPr lang="fr-FR"/>
          </a:p>
        </p:txBody>
      </p:sp>
      <p:sp>
        <p:nvSpPr>
          <p:cNvPr id="4" name="Freeform 4"/>
          <p:cNvSpPr/>
          <p:nvPr/>
        </p:nvSpPr>
        <p:spPr>
          <a:xfrm>
            <a:off x="12847532" y="2942638"/>
            <a:ext cx="1069561" cy="419714"/>
          </a:xfrm>
          <a:custGeom>
            <a:avLst/>
            <a:gdLst/>
            <a:ahLst/>
            <a:cxnLst/>
            <a:rect l="l" t="t" r="r" b="b"/>
            <a:pathLst>
              <a:path w="1069561" h="419714">
                <a:moveTo>
                  <a:pt x="0" y="0"/>
                </a:moveTo>
                <a:quadBezTo>
                  <a:pt x="395968" y="620904"/>
                  <a:pt x="1069561" y="323273"/>
                </a:quadBezTo>
              </a:path>
            </a:pathLst>
          </a:custGeom>
          <a:ln w="28575" cap="flat">
            <a:solidFill>
              <a:srgbClr val="000000"/>
            </a:solidFill>
            <a:prstDash val="solid"/>
            <a:headEnd type="none" w="sm" len="sm"/>
            <a:tailEnd type="none" w="sm" len="sm"/>
          </a:ln>
        </p:spPr>
        <p:txBody>
          <a:bodyPr/>
          <a:lstStyle/>
          <a:p>
            <a:endParaRPr lang="fr-FR"/>
          </a:p>
        </p:txBody>
      </p:sp>
      <p:grpSp>
        <p:nvGrpSpPr>
          <p:cNvPr id="5" name="Group 5"/>
          <p:cNvGrpSpPr/>
          <p:nvPr/>
        </p:nvGrpSpPr>
        <p:grpSpPr>
          <a:xfrm rot="-3443471">
            <a:off x="12755141" y="2934328"/>
            <a:ext cx="324660" cy="283652"/>
            <a:chOff x="0" y="0"/>
            <a:chExt cx="432881" cy="378203"/>
          </a:xfrm>
        </p:grpSpPr>
        <p:sp>
          <p:nvSpPr>
            <p:cNvPr id="6" name="AutoShape 6"/>
            <p:cNvSpPr/>
            <p:nvPr/>
          </p:nvSpPr>
          <p:spPr>
            <a:xfrm flipV="1">
              <a:off x="8480" y="12417"/>
              <a:ext cx="319420" cy="218148"/>
            </a:xfrm>
            <a:prstGeom prst="line">
              <a:avLst/>
            </a:prstGeom>
            <a:ln w="30073" cap="flat">
              <a:solidFill>
                <a:srgbClr val="000000"/>
              </a:solidFill>
              <a:prstDash val="solid"/>
              <a:headEnd type="none" w="sm" len="sm"/>
              <a:tailEnd type="none" w="sm" len="sm"/>
            </a:ln>
          </p:spPr>
          <p:txBody>
            <a:bodyPr/>
            <a:lstStyle/>
            <a:p>
              <a:endParaRPr lang="fr-FR"/>
            </a:p>
          </p:txBody>
        </p:sp>
        <p:sp>
          <p:nvSpPr>
            <p:cNvPr id="7" name="AutoShape 7"/>
            <p:cNvSpPr/>
            <p:nvPr/>
          </p:nvSpPr>
          <p:spPr>
            <a:xfrm flipH="1" flipV="1">
              <a:off x="306196" y="21560"/>
              <a:ext cx="112360" cy="352072"/>
            </a:xfrm>
            <a:prstGeom prst="line">
              <a:avLst/>
            </a:prstGeom>
            <a:ln w="30073" cap="flat">
              <a:solidFill>
                <a:srgbClr val="000000"/>
              </a:solidFill>
              <a:prstDash val="solid"/>
              <a:headEnd type="none" w="sm" len="sm"/>
              <a:tailEnd type="none" w="sm" len="sm"/>
            </a:ln>
          </p:spPr>
          <p:txBody>
            <a:bodyPr/>
            <a:lstStyle/>
            <a:p>
              <a:endParaRPr lang="fr-FR"/>
            </a:p>
          </p:txBody>
        </p:sp>
      </p:grpSp>
      <p:sp>
        <p:nvSpPr>
          <p:cNvPr id="8" name="Freeform 8"/>
          <p:cNvSpPr/>
          <p:nvPr/>
        </p:nvSpPr>
        <p:spPr>
          <a:xfrm>
            <a:off x="1028700" y="3429569"/>
            <a:ext cx="9058526" cy="5661579"/>
          </a:xfrm>
          <a:custGeom>
            <a:avLst/>
            <a:gdLst/>
            <a:ahLst/>
            <a:cxnLst/>
            <a:rect l="l" t="t" r="r" b="b"/>
            <a:pathLst>
              <a:path w="9058526" h="5661579">
                <a:moveTo>
                  <a:pt x="0" y="0"/>
                </a:moveTo>
                <a:lnTo>
                  <a:pt x="9058526" y="0"/>
                </a:lnTo>
                <a:lnTo>
                  <a:pt x="9058526" y="5661578"/>
                </a:lnTo>
                <a:lnTo>
                  <a:pt x="0" y="5661578"/>
                </a:lnTo>
                <a:lnTo>
                  <a:pt x="0" y="0"/>
                </a:lnTo>
                <a:close/>
              </a:path>
            </a:pathLst>
          </a:custGeom>
          <a:blipFill>
            <a:blip r:embed="rId5"/>
            <a:stretch>
              <a:fillRect/>
            </a:stretch>
          </a:blipFill>
        </p:spPr>
        <p:txBody>
          <a:bodyPr/>
          <a:lstStyle/>
          <a:p>
            <a:endParaRPr lang="fr-FR"/>
          </a:p>
        </p:txBody>
      </p:sp>
      <p:sp>
        <p:nvSpPr>
          <p:cNvPr id="9" name="TextBox 9"/>
          <p:cNvSpPr txBox="1"/>
          <p:nvPr/>
        </p:nvSpPr>
        <p:spPr>
          <a:xfrm>
            <a:off x="10521898" y="5238643"/>
            <a:ext cx="7766102" cy="2472055"/>
          </a:xfrm>
          <a:prstGeom prst="rect">
            <a:avLst/>
          </a:prstGeom>
        </p:spPr>
        <p:txBody>
          <a:bodyPr lIns="0" tIns="0" rIns="0" bIns="0" rtlCol="0" anchor="t">
            <a:spAutoFit/>
          </a:bodyPr>
          <a:lstStyle/>
          <a:p>
            <a:pPr algn="l">
              <a:lnSpc>
                <a:spcPts val="3919"/>
              </a:lnSpc>
            </a:pPr>
            <a:r>
              <a:rPr lang="en-US" sz="2799">
                <a:solidFill>
                  <a:srgbClr val="000000"/>
                </a:solidFill>
                <a:latin typeface="Open Sauce"/>
                <a:ea typeface="Open Sauce"/>
                <a:cs typeface="Open Sauce"/>
                <a:sym typeface="Open Sauce"/>
              </a:rPr>
              <a:t>On essaie </a:t>
            </a:r>
            <a:r>
              <a:rPr lang="en-US" sz="2799" b="1">
                <a:solidFill>
                  <a:srgbClr val="000000"/>
                </a:solidFill>
                <a:latin typeface="Open Sauce Bold"/>
                <a:ea typeface="Open Sauce Bold"/>
                <a:cs typeface="Open Sauce Bold"/>
                <a:sym typeface="Open Sauce Bold"/>
              </a:rPr>
              <a:t>CamembertaV2base </a:t>
            </a:r>
          </a:p>
          <a:p>
            <a:pPr algn="l">
              <a:lnSpc>
                <a:spcPts val="3919"/>
              </a:lnSpc>
            </a:pPr>
            <a:r>
              <a:rPr lang="en-US" sz="2799">
                <a:solidFill>
                  <a:srgbClr val="000000"/>
                </a:solidFill>
                <a:latin typeface="Open Sauce"/>
                <a:ea typeface="Open Sauce"/>
                <a:cs typeface="Open Sauce"/>
                <a:sym typeface="Open Sauce"/>
              </a:rPr>
              <a:t>et </a:t>
            </a:r>
            <a:r>
              <a:rPr lang="en-US" sz="2799" b="1">
                <a:solidFill>
                  <a:srgbClr val="000000"/>
                </a:solidFill>
                <a:latin typeface="Open Sauce Bold"/>
                <a:ea typeface="Open Sauce Bold"/>
                <a:cs typeface="Open Sauce Bold"/>
                <a:sym typeface="Open Sauce Bold"/>
              </a:rPr>
              <a:t>ModernCamemBERTbase</a:t>
            </a:r>
          </a:p>
          <a:p>
            <a:pPr marL="604519" lvl="1" indent="-302260" algn="l">
              <a:lnSpc>
                <a:spcPts val="3919"/>
              </a:lnSpc>
              <a:buFont typeface="Arial"/>
              <a:buChar char="•"/>
            </a:pPr>
            <a:r>
              <a:rPr lang="en-US" sz="2799">
                <a:solidFill>
                  <a:srgbClr val="000000"/>
                </a:solidFill>
                <a:latin typeface="Open Sauce"/>
                <a:ea typeface="Open Sauce"/>
                <a:cs typeface="Open Sauce"/>
                <a:sym typeface="Open Sauce"/>
              </a:rPr>
              <a:t>Francophones</a:t>
            </a:r>
          </a:p>
          <a:p>
            <a:pPr marL="604519" lvl="1" indent="-302260" algn="l">
              <a:lnSpc>
                <a:spcPts val="3919"/>
              </a:lnSpc>
              <a:buFont typeface="Arial"/>
              <a:buChar char="•"/>
            </a:pPr>
            <a:r>
              <a:rPr lang="en-US" sz="2799">
                <a:solidFill>
                  <a:srgbClr val="000000"/>
                </a:solidFill>
                <a:latin typeface="Open Sauce"/>
                <a:ea typeface="Open Sauce"/>
                <a:cs typeface="Open Sauce"/>
                <a:sym typeface="Open Sauce"/>
              </a:rPr>
              <a:t>Fenêtre de contexte de +1024 tokens</a:t>
            </a:r>
          </a:p>
          <a:p>
            <a:pPr marL="604519" lvl="1" indent="-302260" algn="l">
              <a:lnSpc>
                <a:spcPts val="3919"/>
              </a:lnSpc>
              <a:buFont typeface="Arial"/>
              <a:buChar char="•"/>
            </a:pPr>
            <a:r>
              <a:rPr lang="en-US" sz="2799">
                <a:solidFill>
                  <a:srgbClr val="000000"/>
                </a:solidFill>
                <a:latin typeface="Open Sauce"/>
                <a:ea typeface="Open Sauce"/>
                <a:cs typeface="Open Sauce"/>
                <a:sym typeface="Open Sauce"/>
              </a:rPr>
              <a:t>Données d’entraînement conviennent</a:t>
            </a:r>
          </a:p>
        </p:txBody>
      </p:sp>
      <p:sp>
        <p:nvSpPr>
          <p:cNvPr id="10" name="TextBox 10"/>
          <p:cNvSpPr txBox="1"/>
          <p:nvPr/>
        </p:nvSpPr>
        <p:spPr>
          <a:xfrm>
            <a:off x="1929998" y="923925"/>
            <a:ext cx="14074546"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Étape 4 : entraîner des modèles</a:t>
            </a:r>
          </a:p>
        </p:txBody>
      </p:sp>
      <p:sp>
        <p:nvSpPr>
          <p:cNvPr id="11" name="TextBox 11"/>
          <p:cNvSpPr txBox="1"/>
          <p:nvPr/>
        </p:nvSpPr>
        <p:spPr>
          <a:xfrm>
            <a:off x="1028700" y="2234617"/>
            <a:ext cx="15539600" cy="5238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Choisir un ou des modèles dont les caractéristiques correspondent à nos données.</a:t>
            </a:r>
          </a:p>
        </p:txBody>
      </p:sp>
      <p:sp>
        <p:nvSpPr>
          <p:cNvPr id="12" name="TextBox 12"/>
          <p:cNvSpPr txBox="1"/>
          <p:nvPr/>
        </p:nvSpPr>
        <p:spPr>
          <a:xfrm>
            <a:off x="14163586" y="2989011"/>
            <a:ext cx="2768453" cy="349250"/>
          </a:xfrm>
          <a:prstGeom prst="rect">
            <a:avLst/>
          </a:prstGeom>
        </p:spPr>
        <p:txBody>
          <a:bodyPr lIns="0" tIns="0" rIns="0" bIns="0" rtlCol="0" anchor="t">
            <a:spAutoFit/>
          </a:bodyPr>
          <a:lstStyle/>
          <a:p>
            <a:pPr algn="l">
              <a:lnSpc>
                <a:spcPts val="2800"/>
              </a:lnSpc>
            </a:pPr>
            <a:r>
              <a:rPr lang="en-US" sz="2000">
                <a:solidFill>
                  <a:srgbClr val="000000"/>
                </a:solidFill>
                <a:latin typeface="Open Sauce"/>
                <a:ea typeface="Open Sauce"/>
                <a:cs typeface="Open Sauce"/>
                <a:sym typeface="Open Sauce"/>
              </a:rPr>
              <a:t>cf. documentation sur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3"/>
            <a:stretch>
              <a:fillRect/>
            </a:stretch>
          </a:blipFill>
        </p:spPr>
        <p:txBody>
          <a:bodyPr/>
          <a:lstStyle/>
          <a:p>
            <a:endParaRPr lang="fr-FR"/>
          </a:p>
        </p:txBody>
      </p:sp>
      <p:sp>
        <p:nvSpPr>
          <p:cNvPr id="3" name="Freeform 3"/>
          <p:cNvSpPr/>
          <p:nvPr/>
        </p:nvSpPr>
        <p:spPr>
          <a:xfrm>
            <a:off x="6514480" y="2344285"/>
            <a:ext cx="10690564" cy="6681602"/>
          </a:xfrm>
          <a:custGeom>
            <a:avLst/>
            <a:gdLst/>
            <a:ahLst/>
            <a:cxnLst/>
            <a:rect l="l" t="t" r="r" b="b"/>
            <a:pathLst>
              <a:path w="10690564" h="6681602">
                <a:moveTo>
                  <a:pt x="0" y="0"/>
                </a:moveTo>
                <a:lnTo>
                  <a:pt x="10690564" y="0"/>
                </a:lnTo>
                <a:lnTo>
                  <a:pt x="10690564" y="6681602"/>
                </a:lnTo>
                <a:lnTo>
                  <a:pt x="0" y="6681602"/>
                </a:lnTo>
                <a:lnTo>
                  <a:pt x="0" y="0"/>
                </a:lnTo>
                <a:close/>
              </a:path>
            </a:pathLst>
          </a:custGeom>
          <a:blipFill>
            <a:blip r:embed="rId4"/>
            <a:stretch>
              <a:fillRect/>
            </a:stretch>
          </a:blipFill>
        </p:spPr>
        <p:txBody>
          <a:bodyPr/>
          <a:lstStyle/>
          <a:p>
            <a:endParaRPr lang="fr-FR"/>
          </a:p>
        </p:txBody>
      </p:sp>
      <p:sp>
        <p:nvSpPr>
          <p:cNvPr id="4" name="TextBox 4"/>
          <p:cNvSpPr txBox="1"/>
          <p:nvPr/>
        </p:nvSpPr>
        <p:spPr>
          <a:xfrm>
            <a:off x="1150821" y="2644429"/>
            <a:ext cx="4948809" cy="1976755"/>
          </a:xfrm>
          <a:prstGeom prst="rect">
            <a:avLst/>
          </a:prstGeom>
        </p:spPr>
        <p:txBody>
          <a:bodyPr lIns="0" tIns="0" rIns="0" bIns="0" rtlCol="0" anchor="t">
            <a:spAutoFit/>
          </a:bodyPr>
          <a:lstStyle/>
          <a:p>
            <a:pPr algn="l">
              <a:lnSpc>
                <a:spcPts val="3919"/>
              </a:lnSpc>
            </a:pPr>
            <a:r>
              <a:rPr lang="en-US" sz="2799">
                <a:solidFill>
                  <a:srgbClr val="000000"/>
                </a:solidFill>
                <a:latin typeface="Open Sauce"/>
                <a:ea typeface="Open Sauce"/>
                <a:cs typeface="Open Sauce"/>
                <a:sym typeface="Open Sauce"/>
              </a:rPr>
              <a:t>Augmenter </a:t>
            </a:r>
          </a:p>
          <a:p>
            <a:pPr marL="604519" lvl="1" indent="-302260" algn="l">
              <a:lnSpc>
                <a:spcPts val="3919"/>
              </a:lnSpc>
              <a:buFont typeface="Arial"/>
              <a:buChar char="•"/>
            </a:pPr>
            <a:r>
              <a:rPr lang="en-US" sz="2799">
                <a:solidFill>
                  <a:srgbClr val="000000"/>
                </a:solidFill>
                <a:latin typeface="Open Sauce"/>
                <a:ea typeface="Open Sauce"/>
                <a:cs typeface="Open Sauce"/>
                <a:sym typeface="Open Sauce"/>
              </a:rPr>
              <a:t>Batch Size*</a:t>
            </a:r>
          </a:p>
          <a:p>
            <a:pPr marL="604519" lvl="1" indent="-302260" algn="l">
              <a:lnSpc>
                <a:spcPts val="3919"/>
              </a:lnSpc>
              <a:buFont typeface="Arial"/>
              <a:buChar char="•"/>
            </a:pPr>
            <a:r>
              <a:rPr lang="en-US" sz="2799">
                <a:solidFill>
                  <a:srgbClr val="000000"/>
                </a:solidFill>
                <a:latin typeface="Open Sauce"/>
                <a:ea typeface="Open Sauce"/>
                <a:cs typeface="Open Sauce"/>
                <a:sym typeface="Open Sauce"/>
              </a:rPr>
              <a:t>Gradient Accumulation**</a:t>
            </a:r>
          </a:p>
          <a:p>
            <a:pPr algn="l">
              <a:lnSpc>
                <a:spcPts val="3919"/>
              </a:lnSpc>
            </a:pPr>
            <a:r>
              <a:rPr lang="en-US" sz="2799">
                <a:solidFill>
                  <a:srgbClr val="000000"/>
                </a:solidFill>
                <a:latin typeface="Open Sauce"/>
                <a:ea typeface="Open Sauce"/>
                <a:cs typeface="Open Sauce"/>
                <a:sym typeface="Open Sauce"/>
              </a:rPr>
              <a:t>car 1024 tokens par texte.</a:t>
            </a:r>
          </a:p>
        </p:txBody>
      </p:sp>
      <p:sp>
        <p:nvSpPr>
          <p:cNvPr id="5" name="TextBox 5"/>
          <p:cNvSpPr txBox="1"/>
          <p:nvPr/>
        </p:nvSpPr>
        <p:spPr>
          <a:xfrm>
            <a:off x="1929998" y="923925"/>
            <a:ext cx="14074546"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Étape 4 : entraîner des modèles</a:t>
            </a:r>
          </a:p>
        </p:txBody>
      </p:sp>
      <p:sp>
        <p:nvSpPr>
          <p:cNvPr id="6" name="TextBox 6"/>
          <p:cNvSpPr txBox="1"/>
          <p:nvPr/>
        </p:nvSpPr>
        <p:spPr>
          <a:xfrm>
            <a:off x="1028700" y="7266937"/>
            <a:ext cx="5206745" cy="1758950"/>
          </a:xfrm>
          <a:prstGeom prst="rect">
            <a:avLst/>
          </a:prstGeom>
        </p:spPr>
        <p:txBody>
          <a:bodyPr lIns="0" tIns="0" rIns="0" bIns="0" rtlCol="0" anchor="t">
            <a:spAutoFit/>
          </a:bodyPr>
          <a:lstStyle/>
          <a:p>
            <a:pPr algn="l">
              <a:lnSpc>
                <a:spcPts val="2800"/>
              </a:lnSpc>
              <a:spcBef>
                <a:spcPct val="0"/>
              </a:spcBef>
            </a:pPr>
            <a:r>
              <a:rPr lang="en-US" sz="2000">
                <a:solidFill>
                  <a:srgbClr val="000000"/>
                </a:solidFill>
                <a:latin typeface="Open Sauce"/>
                <a:ea typeface="Open Sauce"/>
                <a:cs typeface="Open Sauce"/>
                <a:sym typeface="Open Sauce"/>
              </a:rPr>
              <a:t>*Batch Size = nombre d’exemples que le modèle traite à la fois (en mémoire).</a:t>
            </a:r>
          </a:p>
          <a:p>
            <a:pPr algn="l">
              <a:lnSpc>
                <a:spcPts val="2800"/>
              </a:lnSpc>
              <a:spcBef>
                <a:spcPct val="0"/>
              </a:spcBef>
            </a:pPr>
            <a:endParaRPr lang="en-US" sz="2000">
              <a:solidFill>
                <a:srgbClr val="000000"/>
              </a:solidFill>
              <a:latin typeface="Open Sauce"/>
              <a:ea typeface="Open Sauce"/>
              <a:cs typeface="Open Sauce"/>
              <a:sym typeface="Open Sauce"/>
            </a:endParaRPr>
          </a:p>
          <a:p>
            <a:pPr algn="l">
              <a:lnSpc>
                <a:spcPts val="2800"/>
              </a:lnSpc>
              <a:spcBef>
                <a:spcPct val="0"/>
              </a:spcBef>
            </a:pPr>
            <a:r>
              <a:rPr lang="en-US" sz="2000">
                <a:solidFill>
                  <a:srgbClr val="000000"/>
                </a:solidFill>
                <a:latin typeface="Open Sauce"/>
                <a:ea typeface="Open Sauce"/>
                <a:cs typeface="Open Sauce"/>
                <a:sym typeface="Open Sauce"/>
              </a:rPr>
              <a:t>**Gradient Accumulation = nombre de batch additionnés pour modifier les poids.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3"/>
            <a:stretch>
              <a:fillRect/>
            </a:stretch>
          </a:blipFill>
        </p:spPr>
        <p:txBody>
          <a:bodyPr/>
          <a:lstStyle/>
          <a:p>
            <a:endParaRPr lang="fr-FR"/>
          </a:p>
        </p:txBody>
      </p:sp>
      <p:sp>
        <p:nvSpPr>
          <p:cNvPr id="3" name="Freeform 3"/>
          <p:cNvSpPr/>
          <p:nvPr/>
        </p:nvSpPr>
        <p:spPr>
          <a:xfrm>
            <a:off x="8507738" y="5787157"/>
            <a:ext cx="7172141" cy="3662275"/>
          </a:xfrm>
          <a:custGeom>
            <a:avLst/>
            <a:gdLst/>
            <a:ahLst/>
            <a:cxnLst/>
            <a:rect l="l" t="t" r="r" b="b"/>
            <a:pathLst>
              <a:path w="7172141" h="3662275">
                <a:moveTo>
                  <a:pt x="0" y="0"/>
                </a:moveTo>
                <a:lnTo>
                  <a:pt x="7172141" y="0"/>
                </a:lnTo>
                <a:lnTo>
                  <a:pt x="7172141" y="3662274"/>
                </a:lnTo>
                <a:lnTo>
                  <a:pt x="0" y="3662274"/>
                </a:lnTo>
                <a:lnTo>
                  <a:pt x="0" y="0"/>
                </a:lnTo>
                <a:close/>
              </a:path>
            </a:pathLst>
          </a:custGeom>
          <a:blipFill>
            <a:blip r:embed="rId4"/>
            <a:stretch>
              <a:fillRect/>
            </a:stretch>
          </a:blipFill>
        </p:spPr>
        <p:txBody>
          <a:bodyPr/>
          <a:lstStyle/>
          <a:p>
            <a:endParaRPr lang="fr-FR"/>
          </a:p>
        </p:txBody>
      </p:sp>
      <p:sp>
        <p:nvSpPr>
          <p:cNvPr id="4" name="Freeform 4"/>
          <p:cNvSpPr/>
          <p:nvPr/>
        </p:nvSpPr>
        <p:spPr>
          <a:xfrm>
            <a:off x="4430102" y="2261533"/>
            <a:ext cx="10911842" cy="3580448"/>
          </a:xfrm>
          <a:custGeom>
            <a:avLst/>
            <a:gdLst/>
            <a:ahLst/>
            <a:cxnLst/>
            <a:rect l="l" t="t" r="r" b="b"/>
            <a:pathLst>
              <a:path w="10911842" h="3580448">
                <a:moveTo>
                  <a:pt x="0" y="0"/>
                </a:moveTo>
                <a:lnTo>
                  <a:pt x="10911842" y="0"/>
                </a:lnTo>
                <a:lnTo>
                  <a:pt x="10911842" y="3580449"/>
                </a:lnTo>
                <a:lnTo>
                  <a:pt x="0" y="3580449"/>
                </a:lnTo>
                <a:lnTo>
                  <a:pt x="0" y="0"/>
                </a:lnTo>
                <a:close/>
              </a:path>
            </a:pathLst>
          </a:custGeom>
          <a:blipFill>
            <a:blip r:embed="rId5"/>
            <a:stretch>
              <a:fillRect/>
            </a:stretch>
          </a:blipFill>
        </p:spPr>
        <p:txBody>
          <a:bodyPr/>
          <a:lstStyle/>
          <a:p>
            <a:endParaRPr lang="fr-FR"/>
          </a:p>
        </p:txBody>
      </p:sp>
      <p:sp>
        <p:nvSpPr>
          <p:cNvPr id="5" name="TextBox 5"/>
          <p:cNvSpPr txBox="1"/>
          <p:nvPr/>
        </p:nvSpPr>
        <p:spPr>
          <a:xfrm>
            <a:off x="1929998" y="923925"/>
            <a:ext cx="14074546"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Étape 4 : entraîner des modèles</a:t>
            </a:r>
          </a:p>
        </p:txBody>
      </p:sp>
      <p:sp>
        <p:nvSpPr>
          <p:cNvPr id="6" name="TextBox 6"/>
          <p:cNvSpPr txBox="1"/>
          <p:nvPr/>
        </p:nvSpPr>
        <p:spPr>
          <a:xfrm>
            <a:off x="1278257" y="6811635"/>
            <a:ext cx="6406996" cy="931545"/>
          </a:xfrm>
          <a:prstGeom prst="rect">
            <a:avLst/>
          </a:prstGeom>
        </p:spPr>
        <p:txBody>
          <a:bodyPr lIns="0" tIns="0" rIns="0" bIns="0" rtlCol="0" anchor="t">
            <a:spAutoFit/>
          </a:bodyPr>
          <a:lstStyle/>
          <a:p>
            <a:pPr algn="l">
              <a:lnSpc>
                <a:spcPts val="3780"/>
              </a:lnSpc>
              <a:spcBef>
                <a:spcPct val="0"/>
              </a:spcBef>
            </a:pPr>
            <a:r>
              <a:rPr lang="en-US" sz="2700">
                <a:solidFill>
                  <a:srgbClr val="000000"/>
                </a:solidFill>
                <a:latin typeface="Open Sauce"/>
                <a:ea typeface="Open Sauce"/>
                <a:cs typeface="Open Sauce"/>
                <a:sym typeface="Open Sauce"/>
              </a:rPr>
              <a:t>Bons choix, mais il semblerait que le modèle pourrait encore apprendre.</a:t>
            </a:r>
          </a:p>
        </p:txBody>
      </p:sp>
      <p:sp>
        <p:nvSpPr>
          <p:cNvPr id="7" name="TextBox 7"/>
          <p:cNvSpPr txBox="1"/>
          <p:nvPr/>
        </p:nvSpPr>
        <p:spPr>
          <a:xfrm>
            <a:off x="1278257" y="8315994"/>
            <a:ext cx="6406996" cy="455295"/>
          </a:xfrm>
          <a:prstGeom prst="rect">
            <a:avLst/>
          </a:prstGeom>
        </p:spPr>
        <p:txBody>
          <a:bodyPr lIns="0" tIns="0" rIns="0" bIns="0" rtlCol="0" anchor="t">
            <a:spAutoFit/>
          </a:bodyPr>
          <a:lstStyle/>
          <a:p>
            <a:pPr algn="l">
              <a:lnSpc>
                <a:spcPts val="3780"/>
              </a:lnSpc>
              <a:spcBef>
                <a:spcPct val="0"/>
              </a:spcBef>
            </a:pPr>
            <a:r>
              <a:rPr lang="en-US" sz="2700">
                <a:solidFill>
                  <a:srgbClr val="000000"/>
                </a:solidFill>
                <a:latin typeface="Open Sauce"/>
                <a:ea typeface="Open Sauce"/>
                <a:cs typeface="Open Sauce"/>
                <a:sym typeface="Open Sauce"/>
              </a:rPr>
              <a:t>=&gt; Augmenter le nombre d’époques.</a:t>
            </a:r>
          </a:p>
        </p:txBody>
      </p:sp>
      <p:sp>
        <p:nvSpPr>
          <p:cNvPr id="8" name="TextBox 8"/>
          <p:cNvSpPr txBox="1"/>
          <p:nvPr/>
        </p:nvSpPr>
        <p:spPr>
          <a:xfrm>
            <a:off x="1392439" y="2350303"/>
            <a:ext cx="1303480" cy="349250"/>
          </a:xfrm>
          <a:prstGeom prst="rect">
            <a:avLst/>
          </a:prstGeom>
        </p:spPr>
        <p:txBody>
          <a:bodyPr lIns="0" tIns="0" rIns="0" bIns="0" rtlCol="0" anchor="t">
            <a:spAutoFit/>
          </a:bodyPr>
          <a:lstStyle/>
          <a:p>
            <a:pPr algn="just">
              <a:lnSpc>
                <a:spcPts val="2800"/>
              </a:lnSpc>
              <a:spcBef>
                <a:spcPct val="0"/>
              </a:spcBef>
            </a:pPr>
            <a:r>
              <a:rPr lang="en-US" sz="2000" b="1" i="1">
                <a:solidFill>
                  <a:srgbClr val="FFFFFF"/>
                </a:solidFill>
                <a:latin typeface="Open Sauce Bold Italics"/>
                <a:ea typeface="Open Sauce Bold Italics"/>
                <a:cs typeface="Open Sauce Bold Italics"/>
                <a:sym typeface="Open Sauce Bold Italics"/>
              </a:rPr>
              <a:t>Modèle A</a:t>
            </a:r>
          </a:p>
        </p:txBody>
      </p:sp>
      <p:sp>
        <p:nvSpPr>
          <p:cNvPr id="9" name="TextBox 9"/>
          <p:cNvSpPr txBox="1"/>
          <p:nvPr/>
        </p:nvSpPr>
        <p:spPr>
          <a:xfrm>
            <a:off x="1278257" y="4994474"/>
            <a:ext cx="2620346" cy="1054100"/>
          </a:xfrm>
          <a:prstGeom prst="rect">
            <a:avLst/>
          </a:prstGeom>
        </p:spPr>
        <p:txBody>
          <a:bodyPr lIns="0" tIns="0" rIns="0" bIns="0" rtlCol="0" anchor="t">
            <a:spAutoFit/>
          </a:bodyPr>
          <a:lstStyle/>
          <a:p>
            <a:pPr algn="ctr">
              <a:lnSpc>
                <a:spcPts val="2800"/>
              </a:lnSpc>
            </a:pPr>
            <a:r>
              <a:rPr lang="en-US" sz="2000">
                <a:solidFill>
                  <a:srgbClr val="000000"/>
                </a:solidFill>
                <a:latin typeface="Open Sans"/>
                <a:ea typeface="Open Sans"/>
                <a:cs typeface="Open Sans"/>
                <a:sym typeface="Open Sans"/>
              </a:rPr>
              <a:t>Vérifier que l’erreur ne provient pas d’une erreur d’annotation</a:t>
            </a:r>
          </a:p>
        </p:txBody>
      </p:sp>
      <p:sp>
        <p:nvSpPr>
          <p:cNvPr id="10" name="AutoShape 10"/>
          <p:cNvSpPr/>
          <p:nvPr/>
        </p:nvSpPr>
        <p:spPr>
          <a:xfrm flipV="1">
            <a:off x="3898603" y="5237162"/>
            <a:ext cx="417138" cy="2659"/>
          </a:xfrm>
          <a:prstGeom prst="line">
            <a:avLst/>
          </a:prstGeom>
          <a:ln w="19050" cap="flat">
            <a:solidFill>
              <a:srgbClr val="000000"/>
            </a:solidFill>
            <a:prstDash val="solid"/>
            <a:headEnd type="none" w="sm" len="sm"/>
            <a:tailEnd type="triangle" w="lg" len="med"/>
          </a:ln>
        </p:spPr>
        <p:txBody>
          <a:bodyPr/>
          <a:lstStyle/>
          <a:p>
            <a:endParaRPr lang="fr-FR"/>
          </a:p>
        </p:txBody>
      </p:sp>
      <p:sp>
        <p:nvSpPr>
          <p:cNvPr id="11" name="TextBox 11"/>
          <p:cNvSpPr txBox="1"/>
          <p:nvPr/>
        </p:nvSpPr>
        <p:spPr>
          <a:xfrm>
            <a:off x="1335407" y="2793741"/>
            <a:ext cx="2980334" cy="1369060"/>
          </a:xfrm>
          <a:prstGeom prst="rect">
            <a:avLst/>
          </a:prstGeom>
        </p:spPr>
        <p:txBody>
          <a:bodyPr lIns="0" tIns="0" rIns="0" bIns="0" rtlCol="0" anchor="t">
            <a:spAutoFit/>
          </a:bodyPr>
          <a:lstStyle/>
          <a:p>
            <a:pPr algn="l">
              <a:lnSpc>
                <a:spcPts val="2240"/>
              </a:lnSpc>
            </a:pPr>
            <a:r>
              <a:rPr lang="en-US" sz="1600">
                <a:solidFill>
                  <a:srgbClr val="000000"/>
                </a:solidFill>
                <a:latin typeface="Open Sans"/>
                <a:ea typeface="Open Sans"/>
                <a:cs typeface="Open Sans"/>
                <a:sym typeface="Open Sans"/>
              </a:rPr>
              <a:t>CamembertaV2base</a:t>
            </a:r>
          </a:p>
          <a:p>
            <a:pPr algn="l">
              <a:lnSpc>
                <a:spcPts val="2240"/>
              </a:lnSpc>
            </a:pPr>
            <a:r>
              <a:rPr lang="en-US" sz="1600">
                <a:solidFill>
                  <a:srgbClr val="000000"/>
                </a:solidFill>
                <a:latin typeface="Open Sans"/>
                <a:ea typeface="Open Sans"/>
                <a:cs typeface="Open Sans"/>
                <a:sym typeface="Open Sans"/>
              </a:rPr>
              <a:t>1024 tokens</a:t>
            </a:r>
          </a:p>
          <a:p>
            <a:pPr algn="l">
              <a:lnSpc>
                <a:spcPts val="2240"/>
              </a:lnSpc>
            </a:pPr>
            <a:r>
              <a:rPr lang="en-US" sz="1600">
                <a:solidFill>
                  <a:srgbClr val="000000"/>
                </a:solidFill>
                <a:latin typeface="Open Sans"/>
                <a:ea typeface="Open Sans"/>
                <a:cs typeface="Open Sans"/>
                <a:sym typeface="Open Sans"/>
              </a:rPr>
              <a:t>8 batch size</a:t>
            </a:r>
          </a:p>
          <a:p>
            <a:pPr algn="l">
              <a:lnSpc>
                <a:spcPts val="2240"/>
              </a:lnSpc>
            </a:pPr>
            <a:r>
              <a:rPr lang="en-US" sz="1600">
                <a:solidFill>
                  <a:srgbClr val="000000"/>
                </a:solidFill>
                <a:latin typeface="Open Sans"/>
                <a:ea typeface="Open Sans"/>
                <a:cs typeface="Open Sans"/>
                <a:sym typeface="Open Sans"/>
              </a:rPr>
              <a:t>2 gradient acc</a:t>
            </a:r>
          </a:p>
          <a:p>
            <a:pPr algn="l">
              <a:lnSpc>
                <a:spcPts val="2240"/>
              </a:lnSpc>
            </a:pPr>
            <a:r>
              <a:rPr lang="en-US" sz="1600">
                <a:solidFill>
                  <a:srgbClr val="000000"/>
                </a:solidFill>
                <a:latin typeface="Open Sans"/>
                <a:ea typeface="Open Sans"/>
                <a:cs typeface="Open Sans"/>
                <a:sym typeface="Open Sans"/>
              </a:rPr>
              <a:t>4 époques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3"/>
            <a:stretch>
              <a:fillRect/>
            </a:stretch>
          </a:blipFill>
        </p:spPr>
        <p:txBody>
          <a:bodyPr/>
          <a:lstStyle/>
          <a:p>
            <a:endParaRPr lang="fr-FR"/>
          </a:p>
        </p:txBody>
      </p:sp>
      <p:sp>
        <p:nvSpPr>
          <p:cNvPr id="3" name="Freeform 3"/>
          <p:cNvSpPr/>
          <p:nvPr/>
        </p:nvSpPr>
        <p:spPr>
          <a:xfrm>
            <a:off x="4430102" y="2242483"/>
            <a:ext cx="10911842" cy="3580448"/>
          </a:xfrm>
          <a:custGeom>
            <a:avLst/>
            <a:gdLst/>
            <a:ahLst/>
            <a:cxnLst/>
            <a:rect l="l" t="t" r="r" b="b"/>
            <a:pathLst>
              <a:path w="10911842" h="3580448">
                <a:moveTo>
                  <a:pt x="0" y="0"/>
                </a:moveTo>
                <a:lnTo>
                  <a:pt x="10911842" y="0"/>
                </a:lnTo>
                <a:lnTo>
                  <a:pt x="10911842" y="3580449"/>
                </a:lnTo>
                <a:lnTo>
                  <a:pt x="0" y="3580449"/>
                </a:lnTo>
                <a:lnTo>
                  <a:pt x="0" y="0"/>
                </a:lnTo>
                <a:close/>
              </a:path>
            </a:pathLst>
          </a:custGeom>
          <a:blipFill>
            <a:blip r:embed="rId4"/>
            <a:stretch>
              <a:fillRect/>
            </a:stretch>
          </a:blipFill>
        </p:spPr>
        <p:txBody>
          <a:bodyPr/>
          <a:lstStyle/>
          <a:p>
            <a:endParaRPr lang="fr-FR"/>
          </a:p>
        </p:txBody>
      </p:sp>
      <p:sp>
        <p:nvSpPr>
          <p:cNvPr id="4" name="Freeform 4"/>
          <p:cNvSpPr/>
          <p:nvPr/>
        </p:nvSpPr>
        <p:spPr>
          <a:xfrm>
            <a:off x="8565595" y="5545337"/>
            <a:ext cx="8234151" cy="4204563"/>
          </a:xfrm>
          <a:custGeom>
            <a:avLst/>
            <a:gdLst/>
            <a:ahLst/>
            <a:cxnLst/>
            <a:rect l="l" t="t" r="r" b="b"/>
            <a:pathLst>
              <a:path w="8234151" h="4204563">
                <a:moveTo>
                  <a:pt x="0" y="0"/>
                </a:moveTo>
                <a:lnTo>
                  <a:pt x="8234151" y="0"/>
                </a:lnTo>
                <a:lnTo>
                  <a:pt x="8234151" y="4204563"/>
                </a:lnTo>
                <a:lnTo>
                  <a:pt x="0" y="4204563"/>
                </a:lnTo>
                <a:lnTo>
                  <a:pt x="0" y="0"/>
                </a:lnTo>
                <a:close/>
              </a:path>
            </a:pathLst>
          </a:custGeom>
          <a:blipFill>
            <a:blip r:embed="rId5"/>
            <a:stretch>
              <a:fillRect/>
            </a:stretch>
          </a:blipFill>
        </p:spPr>
        <p:txBody>
          <a:bodyPr/>
          <a:lstStyle/>
          <a:p>
            <a:endParaRPr lang="fr-FR"/>
          </a:p>
        </p:txBody>
      </p:sp>
      <p:sp>
        <p:nvSpPr>
          <p:cNvPr id="5" name="TextBox 5"/>
          <p:cNvSpPr txBox="1"/>
          <p:nvPr/>
        </p:nvSpPr>
        <p:spPr>
          <a:xfrm>
            <a:off x="1929998" y="923925"/>
            <a:ext cx="14074546"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Étape 4 : entraîner des modèles</a:t>
            </a:r>
          </a:p>
        </p:txBody>
      </p:sp>
      <p:sp>
        <p:nvSpPr>
          <p:cNvPr id="6" name="TextBox 6"/>
          <p:cNvSpPr txBox="1"/>
          <p:nvPr/>
        </p:nvSpPr>
        <p:spPr>
          <a:xfrm>
            <a:off x="1392439" y="2350303"/>
            <a:ext cx="1303480" cy="349250"/>
          </a:xfrm>
          <a:prstGeom prst="rect">
            <a:avLst/>
          </a:prstGeom>
        </p:spPr>
        <p:txBody>
          <a:bodyPr lIns="0" tIns="0" rIns="0" bIns="0" rtlCol="0" anchor="t">
            <a:spAutoFit/>
          </a:bodyPr>
          <a:lstStyle/>
          <a:p>
            <a:pPr algn="just">
              <a:lnSpc>
                <a:spcPts val="2800"/>
              </a:lnSpc>
              <a:spcBef>
                <a:spcPct val="0"/>
              </a:spcBef>
            </a:pPr>
            <a:r>
              <a:rPr lang="en-US" sz="2000" b="1" i="1">
                <a:solidFill>
                  <a:srgbClr val="FFFFFF"/>
                </a:solidFill>
                <a:latin typeface="Open Sauce Bold Italics"/>
                <a:ea typeface="Open Sauce Bold Italics"/>
                <a:cs typeface="Open Sauce Bold Italics"/>
                <a:sym typeface="Open Sauce Bold Italics"/>
              </a:rPr>
              <a:t>Modèle B</a:t>
            </a:r>
          </a:p>
        </p:txBody>
      </p:sp>
      <p:sp>
        <p:nvSpPr>
          <p:cNvPr id="7" name="TextBox 7"/>
          <p:cNvSpPr txBox="1"/>
          <p:nvPr/>
        </p:nvSpPr>
        <p:spPr>
          <a:xfrm>
            <a:off x="1335407" y="2793741"/>
            <a:ext cx="3094695" cy="1369060"/>
          </a:xfrm>
          <a:prstGeom prst="rect">
            <a:avLst/>
          </a:prstGeom>
        </p:spPr>
        <p:txBody>
          <a:bodyPr lIns="0" tIns="0" rIns="0" bIns="0" rtlCol="0" anchor="t">
            <a:spAutoFit/>
          </a:bodyPr>
          <a:lstStyle/>
          <a:p>
            <a:pPr algn="l">
              <a:lnSpc>
                <a:spcPts val="2240"/>
              </a:lnSpc>
            </a:pPr>
            <a:r>
              <a:rPr lang="en-US" sz="1600">
                <a:solidFill>
                  <a:srgbClr val="000000"/>
                </a:solidFill>
                <a:latin typeface="Open Sans"/>
                <a:ea typeface="Open Sans"/>
                <a:cs typeface="Open Sans"/>
                <a:sym typeface="Open Sans"/>
              </a:rPr>
              <a:t>CamembertaV2base</a:t>
            </a:r>
          </a:p>
          <a:p>
            <a:pPr algn="l">
              <a:lnSpc>
                <a:spcPts val="2240"/>
              </a:lnSpc>
            </a:pPr>
            <a:r>
              <a:rPr lang="en-US" sz="1600">
                <a:solidFill>
                  <a:srgbClr val="000000"/>
                </a:solidFill>
                <a:latin typeface="Open Sans"/>
                <a:ea typeface="Open Sans"/>
                <a:cs typeface="Open Sans"/>
                <a:sym typeface="Open Sans"/>
              </a:rPr>
              <a:t>1024 tokens</a:t>
            </a:r>
          </a:p>
          <a:p>
            <a:pPr algn="l">
              <a:lnSpc>
                <a:spcPts val="2240"/>
              </a:lnSpc>
            </a:pPr>
            <a:r>
              <a:rPr lang="en-US" sz="1600">
                <a:solidFill>
                  <a:srgbClr val="000000"/>
                </a:solidFill>
                <a:latin typeface="Open Sans"/>
                <a:ea typeface="Open Sans"/>
                <a:cs typeface="Open Sans"/>
                <a:sym typeface="Open Sans"/>
              </a:rPr>
              <a:t>8 batch size</a:t>
            </a:r>
          </a:p>
          <a:p>
            <a:pPr algn="l">
              <a:lnSpc>
                <a:spcPts val="2240"/>
              </a:lnSpc>
            </a:pPr>
            <a:r>
              <a:rPr lang="en-US" sz="1600">
                <a:solidFill>
                  <a:srgbClr val="000000"/>
                </a:solidFill>
                <a:latin typeface="Open Sans"/>
                <a:ea typeface="Open Sans"/>
                <a:cs typeface="Open Sans"/>
                <a:sym typeface="Open Sans"/>
              </a:rPr>
              <a:t>2 gradient acc</a:t>
            </a:r>
          </a:p>
          <a:p>
            <a:pPr algn="l">
              <a:lnSpc>
                <a:spcPts val="2240"/>
              </a:lnSpc>
            </a:pPr>
            <a:r>
              <a:rPr lang="en-US" sz="1600">
                <a:solidFill>
                  <a:srgbClr val="000000"/>
                </a:solidFill>
                <a:latin typeface="Open Sans"/>
                <a:ea typeface="Open Sans"/>
                <a:cs typeface="Open Sans"/>
                <a:sym typeface="Open Sans"/>
              </a:rPr>
              <a:t>6 époques</a:t>
            </a:r>
          </a:p>
        </p:txBody>
      </p:sp>
      <p:sp>
        <p:nvSpPr>
          <p:cNvPr id="8" name="TextBox 8"/>
          <p:cNvSpPr txBox="1"/>
          <p:nvPr/>
        </p:nvSpPr>
        <p:spPr>
          <a:xfrm>
            <a:off x="1392439" y="7039339"/>
            <a:ext cx="6406996" cy="455295"/>
          </a:xfrm>
          <a:prstGeom prst="rect">
            <a:avLst/>
          </a:prstGeom>
        </p:spPr>
        <p:txBody>
          <a:bodyPr lIns="0" tIns="0" rIns="0" bIns="0" rtlCol="0" anchor="t">
            <a:spAutoFit/>
          </a:bodyPr>
          <a:lstStyle/>
          <a:p>
            <a:pPr algn="just">
              <a:lnSpc>
                <a:spcPts val="3780"/>
              </a:lnSpc>
              <a:spcBef>
                <a:spcPct val="0"/>
              </a:spcBef>
            </a:pPr>
            <a:r>
              <a:rPr lang="en-US" sz="2700">
                <a:solidFill>
                  <a:srgbClr val="000000"/>
                </a:solidFill>
                <a:latin typeface="Open Sauce"/>
                <a:ea typeface="Open Sauce"/>
                <a:cs typeface="Open Sauce"/>
                <a:sym typeface="Open Sauce"/>
              </a:rPr>
              <a:t>Il a effectivement davantage appris.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3"/>
            <a:stretch>
              <a:fillRect/>
            </a:stretch>
          </a:blipFill>
        </p:spPr>
        <p:txBody>
          <a:bodyPr/>
          <a:lstStyle/>
          <a:p>
            <a:endParaRPr lang="fr-FR"/>
          </a:p>
        </p:txBody>
      </p:sp>
      <p:sp>
        <p:nvSpPr>
          <p:cNvPr id="3" name="Freeform 3"/>
          <p:cNvSpPr/>
          <p:nvPr/>
        </p:nvSpPr>
        <p:spPr>
          <a:xfrm>
            <a:off x="12417825" y="6211555"/>
            <a:ext cx="4842124" cy="2517904"/>
          </a:xfrm>
          <a:custGeom>
            <a:avLst/>
            <a:gdLst/>
            <a:ahLst/>
            <a:cxnLst/>
            <a:rect l="l" t="t" r="r" b="b"/>
            <a:pathLst>
              <a:path w="4842124" h="2517904">
                <a:moveTo>
                  <a:pt x="0" y="0"/>
                </a:moveTo>
                <a:lnTo>
                  <a:pt x="4842124" y="0"/>
                </a:lnTo>
                <a:lnTo>
                  <a:pt x="4842124" y="2517905"/>
                </a:lnTo>
                <a:lnTo>
                  <a:pt x="0" y="2517905"/>
                </a:lnTo>
                <a:lnTo>
                  <a:pt x="0" y="0"/>
                </a:lnTo>
                <a:close/>
              </a:path>
            </a:pathLst>
          </a:custGeom>
          <a:blipFill>
            <a:blip r:embed="rId4"/>
            <a:stretch>
              <a:fillRect/>
            </a:stretch>
          </a:blipFill>
        </p:spPr>
        <p:txBody>
          <a:bodyPr/>
          <a:lstStyle/>
          <a:p>
            <a:endParaRPr lang="fr-FR"/>
          </a:p>
        </p:txBody>
      </p:sp>
      <p:sp>
        <p:nvSpPr>
          <p:cNvPr id="4" name="Freeform 4"/>
          <p:cNvSpPr/>
          <p:nvPr/>
        </p:nvSpPr>
        <p:spPr>
          <a:xfrm>
            <a:off x="6488266" y="6150620"/>
            <a:ext cx="4959308" cy="2578840"/>
          </a:xfrm>
          <a:custGeom>
            <a:avLst/>
            <a:gdLst/>
            <a:ahLst/>
            <a:cxnLst/>
            <a:rect l="l" t="t" r="r" b="b"/>
            <a:pathLst>
              <a:path w="4959308" h="2578840">
                <a:moveTo>
                  <a:pt x="0" y="0"/>
                </a:moveTo>
                <a:lnTo>
                  <a:pt x="4959307" y="0"/>
                </a:lnTo>
                <a:lnTo>
                  <a:pt x="4959307" y="2578840"/>
                </a:lnTo>
                <a:lnTo>
                  <a:pt x="0" y="2578840"/>
                </a:lnTo>
                <a:lnTo>
                  <a:pt x="0" y="0"/>
                </a:lnTo>
                <a:close/>
              </a:path>
            </a:pathLst>
          </a:custGeom>
          <a:blipFill>
            <a:blip r:embed="rId5"/>
            <a:stretch>
              <a:fillRect/>
            </a:stretch>
          </a:blipFill>
        </p:spPr>
        <p:txBody>
          <a:bodyPr/>
          <a:lstStyle/>
          <a:p>
            <a:endParaRPr lang="fr-FR"/>
          </a:p>
        </p:txBody>
      </p:sp>
      <p:sp>
        <p:nvSpPr>
          <p:cNvPr id="5" name="Freeform 5"/>
          <p:cNvSpPr/>
          <p:nvPr/>
        </p:nvSpPr>
        <p:spPr>
          <a:xfrm>
            <a:off x="674592" y="6150620"/>
            <a:ext cx="4842124" cy="2517904"/>
          </a:xfrm>
          <a:custGeom>
            <a:avLst/>
            <a:gdLst/>
            <a:ahLst/>
            <a:cxnLst/>
            <a:rect l="l" t="t" r="r" b="b"/>
            <a:pathLst>
              <a:path w="4842124" h="2517904">
                <a:moveTo>
                  <a:pt x="0" y="0"/>
                </a:moveTo>
                <a:lnTo>
                  <a:pt x="4842124" y="0"/>
                </a:lnTo>
                <a:lnTo>
                  <a:pt x="4842124" y="2517904"/>
                </a:lnTo>
                <a:lnTo>
                  <a:pt x="0" y="2517904"/>
                </a:lnTo>
                <a:lnTo>
                  <a:pt x="0" y="0"/>
                </a:lnTo>
                <a:close/>
              </a:path>
            </a:pathLst>
          </a:custGeom>
          <a:blipFill>
            <a:blip r:embed="rId6"/>
            <a:stretch>
              <a:fillRect/>
            </a:stretch>
          </a:blipFill>
        </p:spPr>
        <p:txBody>
          <a:bodyPr/>
          <a:lstStyle/>
          <a:p>
            <a:endParaRPr lang="fr-FR"/>
          </a:p>
        </p:txBody>
      </p:sp>
      <p:sp>
        <p:nvSpPr>
          <p:cNvPr id="6" name="TextBox 6"/>
          <p:cNvSpPr txBox="1"/>
          <p:nvPr/>
        </p:nvSpPr>
        <p:spPr>
          <a:xfrm>
            <a:off x="1929998" y="923925"/>
            <a:ext cx="14074546"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Étape 4 : entraîner des modèles</a:t>
            </a:r>
          </a:p>
        </p:txBody>
      </p:sp>
      <p:sp>
        <p:nvSpPr>
          <p:cNvPr id="7" name="TextBox 7"/>
          <p:cNvSpPr txBox="1"/>
          <p:nvPr/>
        </p:nvSpPr>
        <p:spPr>
          <a:xfrm>
            <a:off x="1392439" y="2331616"/>
            <a:ext cx="7169690" cy="455295"/>
          </a:xfrm>
          <a:prstGeom prst="rect">
            <a:avLst/>
          </a:prstGeom>
        </p:spPr>
        <p:txBody>
          <a:bodyPr lIns="0" tIns="0" rIns="0" bIns="0" rtlCol="0" anchor="t">
            <a:spAutoFit/>
          </a:bodyPr>
          <a:lstStyle/>
          <a:p>
            <a:pPr algn="just">
              <a:lnSpc>
                <a:spcPts val="3780"/>
              </a:lnSpc>
              <a:spcBef>
                <a:spcPct val="0"/>
              </a:spcBef>
            </a:pPr>
            <a:r>
              <a:rPr lang="en-US" sz="2700">
                <a:solidFill>
                  <a:srgbClr val="000000"/>
                </a:solidFill>
                <a:latin typeface="Open Sauce"/>
                <a:ea typeface="Open Sauce"/>
                <a:cs typeface="Open Sauce"/>
                <a:sym typeface="Open Sauce"/>
              </a:rPr>
              <a:t>On peut essayer quelques autres modèles.</a:t>
            </a:r>
          </a:p>
        </p:txBody>
      </p:sp>
      <p:sp>
        <p:nvSpPr>
          <p:cNvPr id="8" name="TextBox 8"/>
          <p:cNvSpPr txBox="1"/>
          <p:nvPr/>
        </p:nvSpPr>
        <p:spPr>
          <a:xfrm>
            <a:off x="2313866" y="3666037"/>
            <a:ext cx="1303480" cy="349250"/>
          </a:xfrm>
          <a:prstGeom prst="rect">
            <a:avLst/>
          </a:prstGeom>
        </p:spPr>
        <p:txBody>
          <a:bodyPr lIns="0" tIns="0" rIns="0" bIns="0" rtlCol="0" anchor="t">
            <a:spAutoFit/>
          </a:bodyPr>
          <a:lstStyle/>
          <a:p>
            <a:pPr algn="just">
              <a:lnSpc>
                <a:spcPts val="2800"/>
              </a:lnSpc>
              <a:spcBef>
                <a:spcPct val="0"/>
              </a:spcBef>
            </a:pPr>
            <a:r>
              <a:rPr lang="en-US" sz="2000" b="1" i="1">
                <a:solidFill>
                  <a:srgbClr val="FFFFFF"/>
                </a:solidFill>
                <a:latin typeface="Open Sauce Bold Italics"/>
                <a:ea typeface="Open Sauce Bold Italics"/>
                <a:cs typeface="Open Sauce Bold Italics"/>
                <a:sym typeface="Open Sauce Bold Italics"/>
              </a:rPr>
              <a:t>Modèle C</a:t>
            </a:r>
          </a:p>
        </p:txBody>
      </p:sp>
      <p:sp>
        <p:nvSpPr>
          <p:cNvPr id="9" name="TextBox 9"/>
          <p:cNvSpPr txBox="1"/>
          <p:nvPr/>
        </p:nvSpPr>
        <p:spPr>
          <a:xfrm>
            <a:off x="2256835" y="4109475"/>
            <a:ext cx="3256369" cy="1369060"/>
          </a:xfrm>
          <a:prstGeom prst="rect">
            <a:avLst/>
          </a:prstGeom>
        </p:spPr>
        <p:txBody>
          <a:bodyPr lIns="0" tIns="0" rIns="0" bIns="0" rtlCol="0" anchor="t">
            <a:spAutoFit/>
          </a:bodyPr>
          <a:lstStyle/>
          <a:p>
            <a:pPr algn="l">
              <a:lnSpc>
                <a:spcPts val="2240"/>
              </a:lnSpc>
            </a:pPr>
            <a:r>
              <a:rPr lang="en-US" sz="1600">
                <a:solidFill>
                  <a:srgbClr val="000000"/>
                </a:solidFill>
                <a:latin typeface="Open Sans"/>
                <a:ea typeface="Open Sans"/>
                <a:cs typeface="Open Sans"/>
                <a:sym typeface="Open Sans"/>
              </a:rPr>
              <a:t>CamembertaV2base</a:t>
            </a:r>
          </a:p>
          <a:p>
            <a:pPr algn="l">
              <a:lnSpc>
                <a:spcPts val="2240"/>
              </a:lnSpc>
            </a:pPr>
            <a:r>
              <a:rPr lang="en-US" sz="1600">
                <a:solidFill>
                  <a:srgbClr val="000000"/>
                </a:solidFill>
                <a:latin typeface="Open Sans"/>
                <a:ea typeface="Open Sans"/>
                <a:cs typeface="Open Sans"/>
                <a:sym typeface="Open Sans"/>
              </a:rPr>
              <a:t>1024 tokens</a:t>
            </a:r>
          </a:p>
          <a:p>
            <a:pPr algn="l">
              <a:lnSpc>
                <a:spcPts val="2240"/>
              </a:lnSpc>
            </a:pPr>
            <a:r>
              <a:rPr lang="en-US" sz="1600">
                <a:solidFill>
                  <a:srgbClr val="000000"/>
                </a:solidFill>
                <a:latin typeface="Open Sans"/>
                <a:ea typeface="Open Sans"/>
                <a:cs typeface="Open Sans"/>
                <a:sym typeface="Open Sans"/>
              </a:rPr>
              <a:t>8 batch size</a:t>
            </a:r>
          </a:p>
          <a:p>
            <a:pPr algn="l">
              <a:lnSpc>
                <a:spcPts val="2240"/>
              </a:lnSpc>
            </a:pPr>
            <a:r>
              <a:rPr lang="en-US" sz="1600">
                <a:solidFill>
                  <a:srgbClr val="000000"/>
                </a:solidFill>
                <a:latin typeface="Open Sans"/>
                <a:ea typeface="Open Sans"/>
                <a:cs typeface="Open Sans"/>
                <a:sym typeface="Open Sans"/>
              </a:rPr>
              <a:t>1 gradient acc</a:t>
            </a:r>
          </a:p>
          <a:p>
            <a:pPr algn="l">
              <a:lnSpc>
                <a:spcPts val="2240"/>
              </a:lnSpc>
            </a:pPr>
            <a:r>
              <a:rPr lang="en-US" sz="1600">
                <a:solidFill>
                  <a:srgbClr val="000000"/>
                </a:solidFill>
                <a:latin typeface="Open Sans"/>
                <a:ea typeface="Open Sans"/>
                <a:cs typeface="Open Sans"/>
                <a:sym typeface="Open Sans"/>
              </a:rPr>
              <a:t>5 époques</a:t>
            </a:r>
          </a:p>
        </p:txBody>
      </p:sp>
      <p:sp>
        <p:nvSpPr>
          <p:cNvPr id="10" name="TextBox 10"/>
          <p:cNvSpPr txBox="1"/>
          <p:nvPr/>
        </p:nvSpPr>
        <p:spPr>
          <a:xfrm>
            <a:off x="8158351" y="3666037"/>
            <a:ext cx="1303480" cy="349250"/>
          </a:xfrm>
          <a:prstGeom prst="rect">
            <a:avLst/>
          </a:prstGeom>
        </p:spPr>
        <p:txBody>
          <a:bodyPr lIns="0" tIns="0" rIns="0" bIns="0" rtlCol="0" anchor="t">
            <a:spAutoFit/>
          </a:bodyPr>
          <a:lstStyle/>
          <a:p>
            <a:pPr algn="just">
              <a:lnSpc>
                <a:spcPts val="2800"/>
              </a:lnSpc>
              <a:spcBef>
                <a:spcPct val="0"/>
              </a:spcBef>
            </a:pPr>
            <a:r>
              <a:rPr lang="en-US" sz="2000" b="1" i="1">
                <a:solidFill>
                  <a:srgbClr val="FFFFFF"/>
                </a:solidFill>
                <a:latin typeface="Open Sauce Bold Italics"/>
                <a:ea typeface="Open Sauce Bold Italics"/>
                <a:cs typeface="Open Sauce Bold Italics"/>
                <a:sym typeface="Open Sauce Bold Italics"/>
              </a:rPr>
              <a:t>Modèle D</a:t>
            </a:r>
          </a:p>
        </p:txBody>
      </p:sp>
      <p:sp>
        <p:nvSpPr>
          <p:cNvPr id="11" name="TextBox 11"/>
          <p:cNvSpPr txBox="1"/>
          <p:nvPr/>
        </p:nvSpPr>
        <p:spPr>
          <a:xfrm>
            <a:off x="8101320" y="4109475"/>
            <a:ext cx="2620346" cy="1369060"/>
          </a:xfrm>
          <a:prstGeom prst="rect">
            <a:avLst/>
          </a:prstGeom>
        </p:spPr>
        <p:txBody>
          <a:bodyPr lIns="0" tIns="0" rIns="0" bIns="0" rtlCol="0" anchor="t">
            <a:spAutoFit/>
          </a:bodyPr>
          <a:lstStyle/>
          <a:p>
            <a:pPr algn="l">
              <a:lnSpc>
                <a:spcPts val="2240"/>
              </a:lnSpc>
            </a:pPr>
            <a:r>
              <a:rPr lang="en-US" sz="1600">
                <a:solidFill>
                  <a:srgbClr val="000000"/>
                </a:solidFill>
                <a:latin typeface="Open Sans"/>
                <a:ea typeface="Open Sans"/>
                <a:cs typeface="Open Sans"/>
                <a:sym typeface="Open Sans"/>
              </a:rPr>
              <a:t>ModernCamemBERTbase</a:t>
            </a:r>
          </a:p>
          <a:p>
            <a:pPr algn="l">
              <a:lnSpc>
                <a:spcPts val="2240"/>
              </a:lnSpc>
            </a:pPr>
            <a:r>
              <a:rPr lang="en-US" sz="1600">
                <a:solidFill>
                  <a:srgbClr val="000000"/>
                </a:solidFill>
                <a:latin typeface="Open Sans"/>
                <a:ea typeface="Open Sans"/>
                <a:cs typeface="Open Sans"/>
                <a:sym typeface="Open Sans"/>
              </a:rPr>
              <a:t>1024 tokens</a:t>
            </a:r>
          </a:p>
          <a:p>
            <a:pPr algn="l">
              <a:lnSpc>
                <a:spcPts val="2240"/>
              </a:lnSpc>
            </a:pPr>
            <a:r>
              <a:rPr lang="en-US" sz="1600">
                <a:solidFill>
                  <a:srgbClr val="000000"/>
                </a:solidFill>
                <a:latin typeface="Open Sans"/>
                <a:ea typeface="Open Sans"/>
                <a:cs typeface="Open Sans"/>
                <a:sym typeface="Open Sans"/>
              </a:rPr>
              <a:t>8 batch size</a:t>
            </a:r>
          </a:p>
          <a:p>
            <a:pPr algn="l">
              <a:lnSpc>
                <a:spcPts val="2240"/>
              </a:lnSpc>
            </a:pPr>
            <a:r>
              <a:rPr lang="en-US" sz="1600">
                <a:solidFill>
                  <a:srgbClr val="000000"/>
                </a:solidFill>
                <a:latin typeface="Open Sans"/>
                <a:ea typeface="Open Sans"/>
                <a:cs typeface="Open Sans"/>
                <a:sym typeface="Open Sans"/>
              </a:rPr>
              <a:t>2 gradient acc</a:t>
            </a:r>
          </a:p>
          <a:p>
            <a:pPr algn="l">
              <a:lnSpc>
                <a:spcPts val="2240"/>
              </a:lnSpc>
            </a:pPr>
            <a:r>
              <a:rPr lang="en-US" sz="1600">
                <a:solidFill>
                  <a:srgbClr val="000000"/>
                </a:solidFill>
                <a:latin typeface="Open Sans"/>
                <a:ea typeface="Open Sans"/>
                <a:cs typeface="Open Sans"/>
                <a:sym typeface="Open Sans"/>
              </a:rPr>
              <a:t>8 époques</a:t>
            </a:r>
          </a:p>
        </p:txBody>
      </p:sp>
      <p:sp>
        <p:nvSpPr>
          <p:cNvPr id="12" name="TextBox 12"/>
          <p:cNvSpPr txBox="1"/>
          <p:nvPr/>
        </p:nvSpPr>
        <p:spPr>
          <a:xfrm>
            <a:off x="13984065" y="3666037"/>
            <a:ext cx="1303480" cy="349250"/>
          </a:xfrm>
          <a:prstGeom prst="rect">
            <a:avLst/>
          </a:prstGeom>
        </p:spPr>
        <p:txBody>
          <a:bodyPr lIns="0" tIns="0" rIns="0" bIns="0" rtlCol="0" anchor="t">
            <a:spAutoFit/>
          </a:bodyPr>
          <a:lstStyle/>
          <a:p>
            <a:pPr algn="just">
              <a:lnSpc>
                <a:spcPts val="2800"/>
              </a:lnSpc>
              <a:spcBef>
                <a:spcPct val="0"/>
              </a:spcBef>
            </a:pPr>
            <a:r>
              <a:rPr lang="en-US" sz="2000" b="1" i="1">
                <a:solidFill>
                  <a:srgbClr val="FFFFFF"/>
                </a:solidFill>
                <a:latin typeface="Open Sauce Bold Italics"/>
                <a:ea typeface="Open Sauce Bold Italics"/>
                <a:cs typeface="Open Sauce Bold Italics"/>
                <a:sym typeface="Open Sauce Bold Italics"/>
              </a:rPr>
              <a:t>Modèle E</a:t>
            </a:r>
          </a:p>
        </p:txBody>
      </p:sp>
      <p:sp>
        <p:nvSpPr>
          <p:cNvPr id="13" name="TextBox 13"/>
          <p:cNvSpPr txBox="1"/>
          <p:nvPr/>
        </p:nvSpPr>
        <p:spPr>
          <a:xfrm>
            <a:off x="13927033" y="4109475"/>
            <a:ext cx="2620346" cy="1369060"/>
          </a:xfrm>
          <a:prstGeom prst="rect">
            <a:avLst/>
          </a:prstGeom>
        </p:spPr>
        <p:txBody>
          <a:bodyPr lIns="0" tIns="0" rIns="0" bIns="0" rtlCol="0" anchor="t">
            <a:spAutoFit/>
          </a:bodyPr>
          <a:lstStyle/>
          <a:p>
            <a:pPr algn="l">
              <a:lnSpc>
                <a:spcPts val="2240"/>
              </a:lnSpc>
            </a:pPr>
            <a:r>
              <a:rPr lang="en-US" sz="1600">
                <a:solidFill>
                  <a:srgbClr val="000000"/>
                </a:solidFill>
                <a:latin typeface="Open Sans"/>
                <a:ea typeface="Open Sans"/>
                <a:cs typeface="Open Sans"/>
                <a:sym typeface="Open Sans"/>
              </a:rPr>
              <a:t>ModernCamemBERTbase</a:t>
            </a:r>
          </a:p>
          <a:p>
            <a:pPr algn="l">
              <a:lnSpc>
                <a:spcPts val="2240"/>
              </a:lnSpc>
            </a:pPr>
            <a:r>
              <a:rPr lang="en-US" sz="1600">
                <a:solidFill>
                  <a:srgbClr val="000000"/>
                </a:solidFill>
                <a:latin typeface="Open Sans"/>
                <a:ea typeface="Open Sans"/>
                <a:cs typeface="Open Sans"/>
                <a:sym typeface="Open Sans"/>
              </a:rPr>
              <a:t>1024 tokens</a:t>
            </a:r>
          </a:p>
          <a:p>
            <a:pPr algn="l">
              <a:lnSpc>
                <a:spcPts val="2240"/>
              </a:lnSpc>
            </a:pPr>
            <a:r>
              <a:rPr lang="en-US" sz="1600">
                <a:solidFill>
                  <a:srgbClr val="000000"/>
                </a:solidFill>
                <a:latin typeface="Open Sans"/>
                <a:ea typeface="Open Sans"/>
                <a:cs typeface="Open Sans"/>
                <a:sym typeface="Open Sans"/>
              </a:rPr>
              <a:t>8 batch size</a:t>
            </a:r>
          </a:p>
          <a:p>
            <a:pPr algn="l">
              <a:lnSpc>
                <a:spcPts val="2240"/>
              </a:lnSpc>
            </a:pPr>
            <a:r>
              <a:rPr lang="en-US" sz="1600">
                <a:solidFill>
                  <a:srgbClr val="000000"/>
                </a:solidFill>
                <a:latin typeface="Open Sans"/>
                <a:ea typeface="Open Sans"/>
                <a:cs typeface="Open Sans"/>
                <a:sym typeface="Open Sans"/>
              </a:rPr>
              <a:t>1 gradient acc</a:t>
            </a:r>
          </a:p>
          <a:p>
            <a:pPr algn="l">
              <a:lnSpc>
                <a:spcPts val="2240"/>
              </a:lnSpc>
            </a:pPr>
            <a:r>
              <a:rPr lang="en-US" sz="1600">
                <a:solidFill>
                  <a:srgbClr val="000000"/>
                </a:solidFill>
                <a:latin typeface="Open Sans"/>
                <a:ea typeface="Open Sans"/>
                <a:cs typeface="Open Sans"/>
                <a:sym typeface="Open Sans"/>
              </a:rPr>
              <a:t>8 époques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3"/>
            <a:stretch>
              <a:fillRect/>
            </a:stretch>
          </a:blipFill>
        </p:spPr>
        <p:txBody>
          <a:bodyPr/>
          <a:lstStyle/>
          <a:p>
            <a:endParaRPr lang="fr-FR"/>
          </a:p>
        </p:txBody>
      </p:sp>
      <p:sp>
        <p:nvSpPr>
          <p:cNvPr id="3" name="Freeform 3"/>
          <p:cNvSpPr/>
          <p:nvPr/>
        </p:nvSpPr>
        <p:spPr>
          <a:xfrm>
            <a:off x="2952149" y="3272842"/>
            <a:ext cx="11692702" cy="6145976"/>
          </a:xfrm>
          <a:custGeom>
            <a:avLst/>
            <a:gdLst/>
            <a:ahLst/>
            <a:cxnLst/>
            <a:rect l="l" t="t" r="r" b="b"/>
            <a:pathLst>
              <a:path w="11692702" h="6145976">
                <a:moveTo>
                  <a:pt x="0" y="0"/>
                </a:moveTo>
                <a:lnTo>
                  <a:pt x="11692702" y="0"/>
                </a:lnTo>
                <a:lnTo>
                  <a:pt x="11692702" y="6145977"/>
                </a:lnTo>
                <a:lnTo>
                  <a:pt x="0" y="6145977"/>
                </a:lnTo>
                <a:lnTo>
                  <a:pt x="0" y="0"/>
                </a:lnTo>
                <a:close/>
              </a:path>
            </a:pathLst>
          </a:custGeom>
          <a:blipFill>
            <a:blip r:embed="rId4"/>
            <a:stretch>
              <a:fillRect/>
            </a:stretch>
          </a:blipFill>
        </p:spPr>
        <p:txBody>
          <a:bodyPr/>
          <a:lstStyle/>
          <a:p>
            <a:endParaRPr lang="fr-FR"/>
          </a:p>
        </p:txBody>
      </p:sp>
      <p:sp>
        <p:nvSpPr>
          <p:cNvPr id="4" name="TextBox 4"/>
          <p:cNvSpPr txBox="1"/>
          <p:nvPr/>
        </p:nvSpPr>
        <p:spPr>
          <a:xfrm>
            <a:off x="1929998" y="923925"/>
            <a:ext cx="14074546"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Étape 5 : sélectionner un modèle</a:t>
            </a:r>
          </a:p>
        </p:txBody>
      </p:sp>
      <p:sp>
        <p:nvSpPr>
          <p:cNvPr id="5" name="TextBox 5"/>
          <p:cNvSpPr txBox="1"/>
          <p:nvPr/>
        </p:nvSpPr>
        <p:spPr>
          <a:xfrm>
            <a:off x="1028700" y="2234617"/>
            <a:ext cx="15539600" cy="5238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Comparer les scores sur le set de validation.</a:t>
            </a:r>
          </a:p>
        </p:txBody>
      </p:sp>
      <p:sp>
        <p:nvSpPr>
          <p:cNvPr id="6" name="Freeform 6"/>
          <p:cNvSpPr/>
          <p:nvPr/>
        </p:nvSpPr>
        <p:spPr>
          <a:xfrm>
            <a:off x="7111773" y="6345831"/>
            <a:ext cx="430125" cy="534317"/>
          </a:xfrm>
          <a:custGeom>
            <a:avLst/>
            <a:gdLst/>
            <a:ahLst/>
            <a:cxnLst/>
            <a:rect l="l" t="t" r="r" b="b"/>
            <a:pathLst>
              <a:path w="430125" h="534317">
                <a:moveTo>
                  <a:pt x="0" y="0"/>
                </a:moveTo>
                <a:lnTo>
                  <a:pt x="430126" y="0"/>
                </a:lnTo>
                <a:lnTo>
                  <a:pt x="430126" y="534317"/>
                </a:lnTo>
                <a:lnTo>
                  <a:pt x="0" y="534317"/>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fr-F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Freeform 2"/>
          <p:cNvSpPr/>
          <p:nvPr/>
        </p:nvSpPr>
        <p:spPr>
          <a:xfrm>
            <a:off x="1028700" y="102870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3"/>
            <a:stretch>
              <a:fillRect/>
            </a:stretch>
          </a:blipFill>
        </p:spPr>
        <p:txBody>
          <a:bodyPr/>
          <a:lstStyle/>
          <a:p>
            <a:endParaRPr lang="fr-FR"/>
          </a:p>
        </p:txBody>
      </p:sp>
      <p:sp>
        <p:nvSpPr>
          <p:cNvPr id="3" name="Freeform 3"/>
          <p:cNvSpPr/>
          <p:nvPr/>
        </p:nvSpPr>
        <p:spPr>
          <a:xfrm>
            <a:off x="5161233" y="6802934"/>
            <a:ext cx="6100055" cy="2380098"/>
          </a:xfrm>
          <a:custGeom>
            <a:avLst/>
            <a:gdLst/>
            <a:ahLst/>
            <a:cxnLst/>
            <a:rect l="l" t="t" r="r" b="b"/>
            <a:pathLst>
              <a:path w="6100055" h="2380098">
                <a:moveTo>
                  <a:pt x="0" y="0"/>
                </a:moveTo>
                <a:lnTo>
                  <a:pt x="6100056" y="0"/>
                </a:lnTo>
                <a:lnTo>
                  <a:pt x="6100056" y="2380097"/>
                </a:lnTo>
                <a:lnTo>
                  <a:pt x="0" y="2380097"/>
                </a:lnTo>
                <a:lnTo>
                  <a:pt x="0" y="0"/>
                </a:lnTo>
                <a:close/>
              </a:path>
            </a:pathLst>
          </a:custGeom>
          <a:blipFill>
            <a:blip r:embed="rId4"/>
            <a:stretch>
              <a:fillRect l="-204304" t="-61085" b="-94824"/>
            </a:stretch>
          </a:blipFill>
        </p:spPr>
        <p:txBody>
          <a:bodyPr/>
          <a:lstStyle/>
          <a:p>
            <a:endParaRPr lang="fr-FR"/>
          </a:p>
        </p:txBody>
      </p:sp>
      <p:grpSp>
        <p:nvGrpSpPr>
          <p:cNvPr id="4" name="Group 4"/>
          <p:cNvGrpSpPr/>
          <p:nvPr/>
        </p:nvGrpSpPr>
        <p:grpSpPr>
          <a:xfrm rot="6396356">
            <a:off x="11143419" y="6603086"/>
            <a:ext cx="401263" cy="829113"/>
            <a:chOff x="0" y="0"/>
            <a:chExt cx="535018" cy="1105484"/>
          </a:xfrm>
        </p:grpSpPr>
        <p:sp>
          <p:nvSpPr>
            <p:cNvPr id="5" name="Freeform 5"/>
            <p:cNvSpPr/>
            <p:nvPr/>
          </p:nvSpPr>
          <p:spPr>
            <a:xfrm>
              <a:off x="135771" y="11149"/>
              <a:ext cx="387109" cy="1020352"/>
            </a:xfrm>
            <a:custGeom>
              <a:avLst/>
              <a:gdLst/>
              <a:ahLst/>
              <a:cxnLst/>
              <a:rect l="l" t="t" r="r" b="b"/>
              <a:pathLst>
                <a:path w="387109" h="1020352">
                  <a:moveTo>
                    <a:pt x="98543" y="0"/>
                  </a:moveTo>
                  <a:quadBezTo>
                    <a:pt x="-195312" y="634086"/>
                    <a:pt x="387109" y="1020352"/>
                  </a:quadBezTo>
                </a:path>
              </a:pathLst>
            </a:custGeom>
            <a:ln w="26755" cap="flat">
              <a:solidFill>
                <a:srgbClr val="000000"/>
              </a:solidFill>
              <a:prstDash val="solid"/>
              <a:headEnd type="none" w="sm" len="sm"/>
              <a:tailEnd type="none" w="sm" len="sm"/>
            </a:ln>
          </p:spPr>
          <p:txBody>
            <a:bodyPr/>
            <a:lstStyle/>
            <a:p>
              <a:endParaRPr lang="fr-FR"/>
            </a:p>
          </p:txBody>
        </p:sp>
        <p:sp>
          <p:nvSpPr>
            <p:cNvPr id="6" name="AutoShape 6"/>
            <p:cNvSpPr/>
            <p:nvPr/>
          </p:nvSpPr>
          <p:spPr>
            <a:xfrm flipV="1">
              <a:off x="15330" y="9586"/>
              <a:ext cx="227349" cy="155269"/>
            </a:xfrm>
            <a:prstGeom prst="line">
              <a:avLst/>
            </a:prstGeom>
            <a:ln w="21404" cap="flat">
              <a:solidFill>
                <a:srgbClr val="000000"/>
              </a:solidFill>
              <a:prstDash val="solid"/>
              <a:headEnd type="none" w="sm" len="sm"/>
              <a:tailEnd type="none" w="sm" len="sm"/>
            </a:ln>
          </p:spPr>
          <p:txBody>
            <a:bodyPr/>
            <a:lstStyle/>
            <a:p>
              <a:endParaRPr lang="fr-FR"/>
            </a:p>
          </p:txBody>
        </p:sp>
        <p:sp>
          <p:nvSpPr>
            <p:cNvPr id="7" name="AutoShape 7"/>
            <p:cNvSpPr/>
            <p:nvPr/>
          </p:nvSpPr>
          <p:spPr>
            <a:xfrm flipH="1" flipV="1">
              <a:off x="227231" y="16094"/>
              <a:ext cx="79973" cy="250589"/>
            </a:xfrm>
            <a:prstGeom prst="line">
              <a:avLst/>
            </a:prstGeom>
            <a:ln w="21404" cap="flat">
              <a:solidFill>
                <a:srgbClr val="000000"/>
              </a:solidFill>
              <a:prstDash val="solid"/>
              <a:headEnd type="none" w="sm" len="sm"/>
              <a:tailEnd type="none" w="sm" len="sm"/>
            </a:ln>
          </p:spPr>
          <p:txBody>
            <a:bodyPr/>
            <a:lstStyle/>
            <a:p>
              <a:endParaRPr lang="fr-FR"/>
            </a:p>
          </p:txBody>
        </p:sp>
      </p:grpSp>
      <p:sp>
        <p:nvSpPr>
          <p:cNvPr id="8" name="Freeform 8"/>
          <p:cNvSpPr/>
          <p:nvPr/>
        </p:nvSpPr>
        <p:spPr>
          <a:xfrm>
            <a:off x="11801381" y="9183031"/>
            <a:ext cx="4559594" cy="529239"/>
          </a:xfrm>
          <a:custGeom>
            <a:avLst/>
            <a:gdLst/>
            <a:ahLst/>
            <a:cxnLst/>
            <a:rect l="l" t="t" r="r" b="b"/>
            <a:pathLst>
              <a:path w="4559594" h="529239">
                <a:moveTo>
                  <a:pt x="0" y="0"/>
                </a:moveTo>
                <a:lnTo>
                  <a:pt x="4559594" y="0"/>
                </a:lnTo>
                <a:lnTo>
                  <a:pt x="4559594" y="529239"/>
                </a:lnTo>
                <a:lnTo>
                  <a:pt x="0" y="529239"/>
                </a:lnTo>
                <a:lnTo>
                  <a:pt x="0" y="0"/>
                </a:lnTo>
                <a:close/>
              </a:path>
            </a:pathLst>
          </a:custGeom>
          <a:blipFill>
            <a:blip r:embed="rId5"/>
            <a:stretch>
              <a:fillRect l="-478" b="-478"/>
            </a:stretch>
          </a:blipFill>
        </p:spPr>
        <p:txBody>
          <a:bodyPr/>
          <a:lstStyle/>
          <a:p>
            <a:endParaRPr lang="fr-FR"/>
          </a:p>
        </p:txBody>
      </p:sp>
      <p:grpSp>
        <p:nvGrpSpPr>
          <p:cNvPr id="9" name="Group 9"/>
          <p:cNvGrpSpPr/>
          <p:nvPr/>
        </p:nvGrpSpPr>
        <p:grpSpPr>
          <a:xfrm rot="4158669">
            <a:off x="12563238" y="8778118"/>
            <a:ext cx="271269" cy="560511"/>
            <a:chOff x="0" y="0"/>
            <a:chExt cx="361692" cy="747348"/>
          </a:xfrm>
        </p:grpSpPr>
        <p:sp>
          <p:nvSpPr>
            <p:cNvPr id="10" name="Freeform 10"/>
            <p:cNvSpPr/>
            <p:nvPr/>
          </p:nvSpPr>
          <p:spPr>
            <a:xfrm>
              <a:off x="91786" y="7537"/>
              <a:ext cx="261700" cy="689796"/>
            </a:xfrm>
            <a:custGeom>
              <a:avLst/>
              <a:gdLst/>
              <a:ahLst/>
              <a:cxnLst/>
              <a:rect l="l" t="t" r="r" b="b"/>
              <a:pathLst>
                <a:path w="261700" h="689796">
                  <a:moveTo>
                    <a:pt x="66619" y="0"/>
                  </a:moveTo>
                  <a:quadBezTo>
                    <a:pt x="-132038" y="428666"/>
                    <a:pt x="261700" y="689796"/>
                  </a:quadBezTo>
                </a:path>
              </a:pathLst>
            </a:custGeom>
            <a:ln w="18088" cap="flat">
              <a:solidFill>
                <a:srgbClr val="000000"/>
              </a:solidFill>
              <a:prstDash val="solid"/>
              <a:headEnd type="none" w="sm" len="sm"/>
              <a:tailEnd type="none" w="sm" len="sm"/>
            </a:ln>
          </p:spPr>
          <p:txBody>
            <a:bodyPr/>
            <a:lstStyle/>
            <a:p>
              <a:endParaRPr lang="fr-FR"/>
            </a:p>
          </p:txBody>
        </p:sp>
        <p:sp>
          <p:nvSpPr>
            <p:cNvPr id="11" name="AutoShape 11"/>
            <p:cNvSpPr/>
            <p:nvPr/>
          </p:nvSpPr>
          <p:spPr>
            <a:xfrm flipV="1">
              <a:off x="10363" y="6480"/>
              <a:ext cx="153697" cy="104967"/>
            </a:xfrm>
            <a:prstGeom prst="line">
              <a:avLst/>
            </a:prstGeom>
            <a:ln w="14470" cap="flat">
              <a:solidFill>
                <a:srgbClr val="000000"/>
              </a:solidFill>
              <a:prstDash val="solid"/>
              <a:headEnd type="none" w="sm" len="sm"/>
              <a:tailEnd type="none" w="sm" len="sm"/>
            </a:ln>
          </p:spPr>
          <p:txBody>
            <a:bodyPr/>
            <a:lstStyle/>
            <a:p>
              <a:endParaRPr lang="fr-FR"/>
            </a:p>
          </p:txBody>
        </p:sp>
        <p:sp>
          <p:nvSpPr>
            <p:cNvPr id="12" name="AutoShape 12"/>
            <p:cNvSpPr/>
            <p:nvPr/>
          </p:nvSpPr>
          <p:spPr>
            <a:xfrm flipH="1" flipV="1">
              <a:off x="153616" y="10880"/>
              <a:ext cx="54065" cy="169408"/>
            </a:xfrm>
            <a:prstGeom prst="line">
              <a:avLst/>
            </a:prstGeom>
            <a:ln w="14470" cap="flat">
              <a:solidFill>
                <a:srgbClr val="000000"/>
              </a:solidFill>
              <a:prstDash val="solid"/>
              <a:headEnd type="none" w="sm" len="sm"/>
              <a:tailEnd type="none" w="sm" len="sm"/>
            </a:ln>
          </p:spPr>
          <p:txBody>
            <a:bodyPr/>
            <a:lstStyle/>
            <a:p>
              <a:endParaRPr lang="fr-FR"/>
            </a:p>
          </p:txBody>
        </p:sp>
      </p:grpSp>
      <p:sp>
        <p:nvSpPr>
          <p:cNvPr id="13" name="Freeform 13"/>
          <p:cNvSpPr/>
          <p:nvPr/>
        </p:nvSpPr>
        <p:spPr>
          <a:xfrm>
            <a:off x="7743656" y="3707596"/>
            <a:ext cx="4868343" cy="2094609"/>
          </a:xfrm>
          <a:custGeom>
            <a:avLst/>
            <a:gdLst/>
            <a:ahLst/>
            <a:cxnLst/>
            <a:rect l="l" t="t" r="r" b="b"/>
            <a:pathLst>
              <a:path w="4868343" h="2094609">
                <a:moveTo>
                  <a:pt x="0" y="0"/>
                </a:moveTo>
                <a:lnTo>
                  <a:pt x="4868343" y="0"/>
                </a:lnTo>
                <a:lnTo>
                  <a:pt x="4868343" y="2094609"/>
                </a:lnTo>
                <a:lnTo>
                  <a:pt x="0" y="2094609"/>
                </a:lnTo>
                <a:lnTo>
                  <a:pt x="0" y="0"/>
                </a:lnTo>
                <a:close/>
              </a:path>
            </a:pathLst>
          </a:custGeom>
          <a:blipFill>
            <a:blip r:embed="rId6"/>
            <a:stretch>
              <a:fillRect t="-48968"/>
            </a:stretch>
          </a:blipFill>
        </p:spPr>
        <p:txBody>
          <a:bodyPr/>
          <a:lstStyle/>
          <a:p>
            <a:endParaRPr lang="fr-FR"/>
          </a:p>
        </p:txBody>
      </p:sp>
      <p:sp>
        <p:nvSpPr>
          <p:cNvPr id="14" name="TextBox 14"/>
          <p:cNvSpPr txBox="1"/>
          <p:nvPr/>
        </p:nvSpPr>
        <p:spPr>
          <a:xfrm>
            <a:off x="1929998" y="923925"/>
            <a:ext cx="14074546"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Focus modèles : Que signifient les scores ?</a:t>
            </a:r>
          </a:p>
        </p:txBody>
      </p:sp>
      <p:sp>
        <p:nvSpPr>
          <p:cNvPr id="15" name="TextBox 15"/>
          <p:cNvSpPr txBox="1"/>
          <p:nvPr/>
        </p:nvSpPr>
        <p:spPr>
          <a:xfrm>
            <a:off x="13066124" y="8751669"/>
            <a:ext cx="4933240" cy="306705"/>
          </a:xfrm>
          <a:prstGeom prst="rect">
            <a:avLst/>
          </a:prstGeom>
        </p:spPr>
        <p:txBody>
          <a:bodyPr lIns="0" tIns="0" rIns="0" bIns="0" rtlCol="0" anchor="t">
            <a:spAutoFit/>
          </a:bodyPr>
          <a:lstStyle/>
          <a:p>
            <a:pPr algn="l">
              <a:lnSpc>
                <a:spcPts val="2520"/>
              </a:lnSpc>
              <a:spcBef>
                <a:spcPct val="0"/>
              </a:spcBef>
            </a:pPr>
            <a:r>
              <a:rPr lang="en-US" sz="1800">
                <a:solidFill>
                  <a:srgbClr val="000000"/>
                </a:solidFill>
                <a:latin typeface="Open Sauce"/>
                <a:ea typeface="Open Sauce"/>
                <a:cs typeface="Open Sauce"/>
                <a:sym typeface="Open Sauce"/>
              </a:rPr>
              <a:t>moyenne des F1 de chaque label</a:t>
            </a:r>
          </a:p>
        </p:txBody>
      </p:sp>
      <p:sp>
        <p:nvSpPr>
          <p:cNvPr id="16" name="TextBox 16"/>
          <p:cNvSpPr txBox="1"/>
          <p:nvPr/>
        </p:nvSpPr>
        <p:spPr>
          <a:xfrm>
            <a:off x="11901480" y="7070468"/>
            <a:ext cx="2605842" cy="621030"/>
          </a:xfrm>
          <a:prstGeom prst="rect">
            <a:avLst/>
          </a:prstGeom>
        </p:spPr>
        <p:txBody>
          <a:bodyPr lIns="0" tIns="0" rIns="0" bIns="0" rtlCol="0" anchor="t">
            <a:spAutoFit/>
          </a:bodyPr>
          <a:lstStyle/>
          <a:p>
            <a:pPr algn="l">
              <a:lnSpc>
                <a:spcPts val="2520"/>
              </a:lnSpc>
              <a:spcBef>
                <a:spcPct val="0"/>
              </a:spcBef>
            </a:pPr>
            <a:r>
              <a:rPr lang="en-US" sz="1800">
                <a:solidFill>
                  <a:srgbClr val="000000"/>
                </a:solidFill>
                <a:latin typeface="Open Sauce"/>
                <a:ea typeface="Open Sauce"/>
                <a:cs typeface="Open Sauce"/>
                <a:sym typeface="Open Sauce"/>
              </a:rPr>
              <a:t>moyenne harmonique de recall et precision</a:t>
            </a:r>
          </a:p>
        </p:txBody>
      </p:sp>
      <p:sp>
        <p:nvSpPr>
          <p:cNvPr id="17" name="TextBox 17"/>
          <p:cNvSpPr txBox="1"/>
          <p:nvPr/>
        </p:nvSpPr>
        <p:spPr>
          <a:xfrm>
            <a:off x="7923153" y="2704710"/>
            <a:ext cx="2150640" cy="867156"/>
          </a:xfrm>
          <a:prstGeom prst="rect">
            <a:avLst/>
          </a:prstGeom>
        </p:spPr>
        <p:txBody>
          <a:bodyPr lIns="0" tIns="0" rIns="0" bIns="0" rtlCol="0" anchor="t">
            <a:spAutoFit/>
          </a:bodyPr>
          <a:lstStyle/>
          <a:p>
            <a:pPr algn="ctr">
              <a:lnSpc>
                <a:spcPts val="2231"/>
              </a:lnSpc>
            </a:pPr>
            <a:r>
              <a:rPr lang="en-US" sz="1799">
                <a:solidFill>
                  <a:srgbClr val="000000"/>
                </a:solidFill>
                <a:latin typeface="Calibri (MS)"/>
                <a:ea typeface="Calibri (MS)"/>
                <a:cs typeface="Calibri (MS)"/>
                <a:sym typeface="Calibri (MS)"/>
              </a:rPr>
              <a:t>Combien d’éléments sélectionnés sont pertinents ?</a:t>
            </a:r>
          </a:p>
        </p:txBody>
      </p:sp>
      <p:sp>
        <p:nvSpPr>
          <p:cNvPr id="18" name="TextBox 18"/>
          <p:cNvSpPr txBox="1"/>
          <p:nvPr/>
        </p:nvSpPr>
        <p:spPr>
          <a:xfrm>
            <a:off x="10520137" y="2704710"/>
            <a:ext cx="1947809" cy="867156"/>
          </a:xfrm>
          <a:prstGeom prst="rect">
            <a:avLst/>
          </a:prstGeom>
        </p:spPr>
        <p:txBody>
          <a:bodyPr lIns="0" tIns="0" rIns="0" bIns="0" rtlCol="0" anchor="t">
            <a:spAutoFit/>
          </a:bodyPr>
          <a:lstStyle/>
          <a:p>
            <a:pPr algn="ctr">
              <a:lnSpc>
                <a:spcPts val="2231"/>
              </a:lnSpc>
            </a:pPr>
            <a:r>
              <a:rPr lang="en-US" sz="1799">
                <a:solidFill>
                  <a:srgbClr val="000000"/>
                </a:solidFill>
                <a:latin typeface="Calibri (MS)"/>
                <a:ea typeface="Calibri (MS)"/>
                <a:cs typeface="Calibri (MS)"/>
                <a:sym typeface="Calibri (MS)"/>
              </a:rPr>
              <a:t>Combien d’éléments pertinents sont sélectionnés ?</a:t>
            </a:r>
          </a:p>
        </p:txBody>
      </p:sp>
      <p:sp>
        <p:nvSpPr>
          <p:cNvPr id="19" name="Freeform 19"/>
          <p:cNvSpPr/>
          <p:nvPr/>
        </p:nvSpPr>
        <p:spPr>
          <a:xfrm>
            <a:off x="3963723" y="2296082"/>
            <a:ext cx="3346830" cy="4329961"/>
          </a:xfrm>
          <a:custGeom>
            <a:avLst/>
            <a:gdLst/>
            <a:ahLst/>
            <a:cxnLst/>
            <a:rect l="l" t="t" r="r" b="b"/>
            <a:pathLst>
              <a:path w="3346830" h="4329961">
                <a:moveTo>
                  <a:pt x="0" y="0"/>
                </a:moveTo>
                <a:lnTo>
                  <a:pt x="3346829" y="0"/>
                </a:lnTo>
                <a:lnTo>
                  <a:pt x="3346829" y="4329960"/>
                </a:lnTo>
                <a:lnTo>
                  <a:pt x="0" y="4329960"/>
                </a:lnTo>
                <a:lnTo>
                  <a:pt x="0" y="0"/>
                </a:lnTo>
                <a:close/>
              </a:path>
            </a:pathLst>
          </a:custGeom>
          <a:blipFill>
            <a:blip r:embed="rId7"/>
            <a:stretch>
              <a:fillRect/>
            </a:stretch>
          </a:blipFill>
        </p:spPr>
        <p:txBody>
          <a:bodyPr/>
          <a:lstStyle/>
          <a:p>
            <a:endParaRPr lang="fr-FR"/>
          </a:p>
        </p:txBody>
      </p:sp>
      <p:sp>
        <p:nvSpPr>
          <p:cNvPr id="20" name="TextBox 20"/>
          <p:cNvSpPr txBox="1"/>
          <p:nvPr/>
        </p:nvSpPr>
        <p:spPr>
          <a:xfrm>
            <a:off x="3810523" y="6519553"/>
            <a:ext cx="2150640" cy="193929"/>
          </a:xfrm>
          <a:prstGeom prst="rect">
            <a:avLst/>
          </a:prstGeom>
        </p:spPr>
        <p:txBody>
          <a:bodyPr lIns="0" tIns="0" rIns="0" bIns="0" rtlCol="0" anchor="t">
            <a:spAutoFit/>
          </a:bodyPr>
          <a:lstStyle/>
          <a:p>
            <a:pPr algn="ctr">
              <a:lnSpc>
                <a:spcPts val="1487"/>
              </a:lnSpc>
            </a:pPr>
            <a:r>
              <a:rPr lang="en-US" sz="1199">
                <a:solidFill>
                  <a:srgbClr val="000000"/>
                </a:solidFill>
                <a:latin typeface="Calibri (MS)"/>
                <a:ea typeface="Calibri (MS)"/>
                <a:cs typeface="Calibri (MS)"/>
                <a:sym typeface="Calibri (MS)"/>
              </a:rPr>
              <a:t>(= jugés positifs)</a:t>
            </a:r>
          </a:p>
        </p:txBody>
      </p:sp>
      <p:sp>
        <p:nvSpPr>
          <p:cNvPr id="21" name="TextBox 21"/>
          <p:cNvSpPr txBox="1"/>
          <p:nvPr/>
        </p:nvSpPr>
        <p:spPr>
          <a:xfrm>
            <a:off x="3810523" y="2163561"/>
            <a:ext cx="2150640" cy="193929"/>
          </a:xfrm>
          <a:prstGeom prst="rect">
            <a:avLst/>
          </a:prstGeom>
        </p:spPr>
        <p:txBody>
          <a:bodyPr lIns="0" tIns="0" rIns="0" bIns="0" rtlCol="0" anchor="t">
            <a:spAutoFit/>
          </a:bodyPr>
          <a:lstStyle/>
          <a:p>
            <a:pPr algn="ctr">
              <a:lnSpc>
                <a:spcPts val="1487"/>
              </a:lnSpc>
            </a:pPr>
            <a:r>
              <a:rPr lang="en-US" sz="1199">
                <a:solidFill>
                  <a:srgbClr val="000000"/>
                </a:solidFill>
                <a:latin typeface="Calibri (MS)"/>
                <a:ea typeface="Calibri (MS)"/>
                <a:cs typeface="Calibri (MS)"/>
                <a:sym typeface="Calibri (MS)"/>
              </a:rPr>
              <a:t>(= réellement positifs)</a:t>
            </a:r>
          </a:p>
        </p:txBody>
      </p:sp>
      <p:sp>
        <p:nvSpPr>
          <p:cNvPr id="22" name="TextBox 22"/>
          <p:cNvSpPr txBox="1"/>
          <p:nvPr/>
        </p:nvSpPr>
        <p:spPr>
          <a:xfrm>
            <a:off x="10395645" y="5578348"/>
            <a:ext cx="2196792" cy="689610"/>
          </a:xfrm>
          <a:prstGeom prst="rect">
            <a:avLst/>
          </a:prstGeom>
        </p:spPr>
        <p:txBody>
          <a:bodyPr lIns="0" tIns="0" rIns="0" bIns="0" rtlCol="0" anchor="t">
            <a:spAutoFit/>
          </a:bodyPr>
          <a:lstStyle/>
          <a:p>
            <a:pPr algn="ctr">
              <a:lnSpc>
                <a:spcPts val="1770"/>
              </a:lnSpc>
              <a:spcBef>
                <a:spcPct val="0"/>
              </a:spcBef>
            </a:pPr>
            <a:r>
              <a:rPr lang="en-US" sz="1500">
                <a:solidFill>
                  <a:srgbClr val="939596"/>
                </a:solidFill>
                <a:latin typeface="Calibri (MS)"/>
                <a:ea typeface="Calibri (MS)"/>
                <a:cs typeface="Calibri (MS)"/>
                <a:sym typeface="Calibri (MS)"/>
              </a:rPr>
              <a:t>proche de 1 = le modèle sélectionne presque tous les éléments pertinents. </a:t>
            </a:r>
          </a:p>
        </p:txBody>
      </p:sp>
      <p:sp>
        <p:nvSpPr>
          <p:cNvPr id="23" name="TextBox 23"/>
          <p:cNvSpPr txBox="1"/>
          <p:nvPr/>
        </p:nvSpPr>
        <p:spPr>
          <a:xfrm>
            <a:off x="7835079" y="5578348"/>
            <a:ext cx="2173403" cy="689610"/>
          </a:xfrm>
          <a:prstGeom prst="rect">
            <a:avLst/>
          </a:prstGeom>
        </p:spPr>
        <p:txBody>
          <a:bodyPr lIns="0" tIns="0" rIns="0" bIns="0" rtlCol="0" anchor="t">
            <a:spAutoFit/>
          </a:bodyPr>
          <a:lstStyle/>
          <a:p>
            <a:pPr algn="ctr">
              <a:lnSpc>
                <a:spcPts val="1770"/>
              </a:lnSpc>
              <a:spcBef>
                <a:spcPct val="0"/>
              </a:spcBef>
            </a:pPr>
            <a:r>
              <a:rPr lang="en-US" sz="1500">
                <a:solidFill>
                  <a:srgbClr val="939596"/>
                </a:solidFill>
                <a:latin typeface="Calibri (MS)"/>
                <a:ea typeface="Calibri (MS)"/>
                <a:cs typeface="Calibri (MS)"/>
                <a:sym typeface="Calibri (MS)"/>
              </a:rPr>
              <a:t>proche de 1 = le modèle ne sélectionne presque que des éléments pertinents.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3"/>
            <a:stretch>
              <a:fillRect/>
            </a:stretch>
          </a:blipFill>
        </p:spPr>
        <p:txBody>
          <a:bodyPr/>
          <a:lstStyle/>
          <a:p>
            <a:endParaRPr lang="fr-FR"/>
          </a:p>
        </p:txBody>
      </p:sp>
      <p:sp>
        <p:nvSpPr>
          <p:cNvPr id="3" name="Freeform 3"/>
          <p:cNvSpPr/>
          <p:nvPr/>
        </p:nvSpPr>
        <p:spPr>
          <a:xfrm>
            <a:off x="6459994" y="3271993"/>
            <a:ext cx="5014554" cy="1963370"/>
          </a:xfrm>
          <a:custGeom>
            <a:avLst/>
            <a:gdLst/>
            <a:ahLst/>
            <a:cxnLst/>
            <a:rect l="l" t="t" r="r" b="b"/>
            <a:pathLst>
              <a:path w="5014554" h="1963370">
                <a:moveTo>
                  <a:pt x="0" y="0"/>
                </a:moveTo>
                <a:lnTo>
                  <a:pt x="5014553" y="0"/>
                </a:lnTo>
                <a:lnTo>
                  <a:pt x="5014553" y="1963370"/>
                </a:lnTo>
                <a:lnTo>
                  <a:pt x="0" y="1963370"/>
                </a:lnTo>
                <a:lnTo>
                  <a:pt x="0" y="0"/>
                </a:lnTo>
                <a:close/>
              </a:path>
            </a:pathLst>
          </a:custGeom>
          <a:blipFill>
            <a:blip r:embed="rId4"/>
            <a:stretch>
              <a:fillRect/>
            </a:stretch>
          </a:blipFill>
        </p:spPr>
        <p:txBody>
          <a:bodyPr/>
          <a:lstStyle/>
          <a:p>
            <a:endParaRPr lang="fr-FR"/>
          </a:p>
        </p:txBody>
      </p:sp>
      <p:sp>
        <p:nvSpPr>
          <p:cNvPr id="4" name="Freeform 4"/>
          <p:cNvSpPr/>
          <p:nvPr/>
        </p:nvSpPr>
        <p:spPr>
          <a:xfrm>
            <a:off x="7966184" y="2674537"/>
            <a:ext cx="3508363" cy="427542"/>
          </a:xfrm>
          <a:custGeom>
            <a:avLst/>
            <a:gdLst/>
            <a:ahLst/>
            <a:cxnLst/>
            <a:rect l="l" t="t" r="r" b="b"/>
            <a:pathLst>
              <a:path w="3508363" h="427542">
                <a:moveTo>
                  <a:pt x="0" y="0"/>
                </a:moveTo>
                <a:lnTo>
                  <a:pt x="3508363" y="0"/>
                </a:lnTo>
                <a:lnTo>
                  <a:pt x="3508363" y="427542"/>
                </a:lnTo>
                <a:lnTo>
                  <a:pt x="0" y="427542"/>
                </a:lnTo>
                <a:lnTo>
                  <a:pt x="0" y="0"/>
                </a:lnTo>
                <a:close/>
              </a:path>
            </a:pathLst>
          </a:custGeom>
          <a:blipFill>
            <a:blip r:embed="rId5"/>
            <a:stretch>
              <a:fillRect/>
            </a:stretch>
          </a:blipFill>
        </p:spPr>
        <p:txBody>
          <a:bodyPr/>
          <a:lstStyle/>
          <a:p>
            <a:endParaRPr lang="fr-FR"/>
          </a:p>
        </p:txBody>
      </p:sp>
      <p:sp>
        <p:nvSpPr>
          <p:cNvPr id="5" name="Freeform 5"/>
          <p:cNvSpPr/>
          <p:nvPr/>
        </p:nvSpPr>
        <p:spPr>
          <a:xfrm>
            <a:off x="806503" y="3144452"/>
            <a:ext cx="4966242" cy="2219247"/>
          </a:xfrm>
          <a:custGeom>
            <a:avLst/>
            <a:gdLst/>
            <a:ahLst/>
            <a:cxnLst/>
            <a:rect l="l" t="t" r="r" b="b"/>
            <a:pathLst>
              <a:path w="4966242" h="2219247">
                <a:moveTo>
                  <a:pt x="0" y="0"/>
                </a:moveTo>
                <a:lnTo>
                  <a:pt x="4966242" y="0"/>
                </a:lnTo>
                <a:lnTo>
                  <a:pt x="4966242" y="2219247"/>
                </a:lnTo>
                <a:lnTo>
                  <a:pt x="0" y="2219247"/>
                </a:lnTo>
                <a:lnTo>
                  <a:pt x="0" y="0"/>
                </a:lnTo>
                <a:close/>
              </a:path>
            </a:pathLst>
          </a:custGeom>
          <a:blipFill>
            <a:blip r:embed="rId6"/>
            <a:stretch>
              <a:fillRect/>
            </a:stretch>
          </a:blipFill>
        </p:spPr>
        <p:txBody>
          <a:bodyPr/>
          <a:lstStyle/>
          <a:p>
            <a:endParaRPr lang="fr-FR"/>
          </a:p>
        </p:txBody>
      </p:sp>
      <p:sp>
        <p:nvSpPr>
          <p:cNvPr id="6" name="Freeform 6"/>
          <p:cNvSpPr/>
          <p:nvPr/>
        </p:nvSpPr>
        <p:spPr>
          <a:xfrm>
            <a:off x="2181602" y="2674537"/>
            <a:ext cx="3805199" cy="427940"/>
          </a:xfrm>
          <a:custGeom>
            <a:avLst/>
            <a:gdLst/>
            <a:ahLst/>
            <a:cxnLst/>
            <a:rect l="l" t="t" r="r" b="b"/>
            <a:pathLst>
              <a:path w="3805199" h="427940">
                <a:moveTo>
                  <a:pt x="0" y="0"/>
                </a:moveTo>
                <a:lnTo>
                  <a:pt x="3805199" y="0"/>
                </a:lnTo>
                <a:lnTo>
                  <a:pt x="3805199" y="427940"/>
                </a:lnTo>
                <a:lnTo>
                  <a:pt x="0" y="427940"/>
                </a:lnTo>
                <a:lnTo>
                  <a:pt x="0" y="0"/>
                </a:lnTo>
                <a:close/>
              </a:path>
            </a:pathLst>
          </a:custGeom>
          <a:blipFill>
            <a:blip r:embed="rId7"/>
            <a:stretch>
              <a:fillRect/>
            </a:stretch>
          </a:blipFill>
        </p:spPr>
        <p:txBody>
          <a:bodyPr/>
          <a:lstStyle/>
          <a:p>
            <a:endParaRPr lang="fr-FR"/>
          </a:p>
        </p:txBody>
      </p:sp>
      <p:sp>
        <p:nvSpPr>
          <p:cNvPr id="7" name="Freeform 7"/>
          <p:cNvSpPr/>
          <p:nvPr/>
        </p:nvSpPr>
        <p:spPr>
          <a:xfrm>
            <a:off x="11962676" y="2985261"/>
            <a:ext cx="5296624" cy="2156276"/>
          </a:xfrm>
          <a:custGeom>
            <a:avLst/>
            <a:gdLst/>
            <a:ahLst/>
            <a:cxnLst/>
            <a:rect l="l" t="t" r="r" b="b"/>
            <a:pathLst>
              <a:path w="5296624" h="2156276">
                <a:moveTo>
                  <a:pt x="0" y="0"/>
                </a:moveTo>
                <a:lnTo>
                  <a:pt x="5296624" y="0"/>
                </a:lnTo>
                <a:lnTo>
                  <a:pt x="5296624" y="2156276"/>
                </a:lnTo>
                <a:lnTo>
                  <a:pt x="0" y="2156276"/>
                </a:lnTo>
                <a:lnTo>
                  <a:pt x="0" y="0"/>
                </a:lnTo>
                <a:close/>
              </a:path>
            </a:pathLst>
          </a:custGeom>
          <a:blipFill>
            <a:blip r:embed="rId8"/>
            <a:stretch>
              <a:fillRect/>
            </a:stretch>
          </a:blipFill>
        </p:spPr>
        <p:txBody>
          <a:bodyPr/>
          <a:lstStyle/>
          <a:p>
            <a:endParaRPr lang="fr-FR"/>
          </a:p>
        </p:txBody>
      </p:sp>
      <p:sp>
        <p:nvSpPr>
          <p:cNvPr id="8" name="Freeform 8"/>
          <p:cNvSpPr/>
          <p:nvPr/>
        </p:nvSpPr>
        <p:spPr>
          <a:xfrm>
            <a:off x="13327275" y="2674537"/>
            <a:ext cx="3932025" cy="442203"/>
          </a:xfrm>
          <a:custGeom>
            <a:avLst/>
            <a:gdLst/>
            <a:ahLst/>
            <a:cxnLst/>
            <a:rect l="l" t="t" r="r" b="b"/>
            <a:pathLst>
              <a:path w="3932025" h="442203">
                <a:moveTo>
                  <a:pt x="0" y="0"/>
                </a:moveTo>
                <a:lnTo>
                  <a:pt x="3932025" y="0"/>
                </a:lnTo>
                <a:lnTo>
                  <a:pt x="3932025" y="442203"/>
                </a:lnTo>
                <a:lnTo>
                  <a:pt x="0" y="442203"/>
                </a:lnTo>
                <a:lnTo>
                  <a:pt x="0" y="0"/>
                </a:lnTo>
                <a:close/>
              </a:path>
            </a:pathLst>
          </a:custGeom>
          <a:blipFill>
            <a:blip r:embed="rId9"/>
            <a:stretch>
              <a:fillRect/>
            </a:stretch>
          </a:blipFill>
        </p:spPr>
        <p:txBody>
          <a:bodyPr/>
          <a:lstStyle/>
          <a:p>
            <a:endParaRPr lang="fr-FR"/>
          </a:p>
        </p:txBody>
      </p:sp>
      <p:sp>
        <p:nvSpPr>
          <p:cNvPr id="9" name="Freeform 9"/>
          <p:cNvSpPr/>
          <p:nvPr/>
        </p:nvSpPr>
        <p:spPr>
          <a:xfrm>
            <a:off x="9891474" y="6394002"/>
            <a:ext cx="5274505" cy="2147271"/>
          </a:xfrm>
          <a:custGeom>
            <a:avLst/>
            <a:gdLst/>
            <a:ahLst/>
            <a:cxnLst/>
            <a:rect l="l" t="t" r="r" b="b"/>
            <a:pathLst>
              <a:path w="5274505" h="2147271">
                <a:moveTo>
                  <a:pt x="0" y="0"/>
                </a:moveTo>
                <a:lnTo>
                  <a:pt x="5274505" y="0"/>
                </a:lnTo>
                <a:lnTo>
                  <a:pt x="5274505" y="2147271"/>
                </a:lnTo>
                <a:lnTo>
                  <a:pt x="0" y="2147271"/>
                </a:lnTo>
                <a:lnTo>
                  <a:pt x="0" y="0"/>
                </a:lnTo>
                <a:close/>
              </a:path>
            </a:pathLst>
          </a:custGeom>
          <a:blipFill>
            <a:blip r:embed="rId10"/>
            <a:stretch>
              <a:fillRect/>
            </a:stretch>
          </a:blipFill>
        </p:spPr>
        <p:txBody>
          <a:bodyPr/>
          <a:lstStyle/>
          <a:p>
            <a:endParaRPr lang="fr-FR"/>
          </a:p>
        </p:txBody>
      </p:sp>
      <p:sp>
        <p:nvSpPr>
          <p:cNvPr id="10" name="Freeform 10"/>
          <p:cNvSpPr/>
          <p:nvPr/>
        </p:nvSpPr>
        <p:spPr>
          <a:xfrm>
            <a:off x="11141840" y="6029576"/>
            <a:ext cx="4151448" cy="466880"/>
          </a:xfrm>
          <a:custGeom>
            <a:avLst/>
            <a:gdLst/>
            <a:ahLst/>
            <a:cxnLst/>
            <a:rect l="l" t="t" r="r" b="b"/>
            <a:pathLst>
              <a:path w="4151448" h="466880">
                <a:moveTo>
                  <a:pt x="0" y="0"/>
                </a:moveTo>
                <a:lnTo>
                  <a:pt x="4151448" y="0"/>
                </a:lnTo>
                <a:lnTo>
                  <a:pt x="4151448" y="466880"/>
                </a:lnTo>
                <a:lnTo>
                  <a:pt x="0" y="466880"/>
                </a:lnTo>
                <a:lnTo>
                  <a:pt x="0" y="0"/>
                </a:lnTo>
                <a:close/>
              </a:path>
            </a:pathLst>
          </a:custGeom>
          <a:blipFill>
            <a:blip r:embed="rId11"/>
            <a:stretch>
              <a:fillRect/>
            </a:stretch>
          </a:blipFill>
        </p:spPr>
        <p:txBody>
          <a:bodyPr/>
          <a:lstStyle/>
          <a:p>
            <a:endParaRPr lang="fr-FR"/>
          </a:p>
        </p:txBody>
      </p:sp>
      <p:sp>
        <p:nvSpPr>
          <p:cNvPr id="11" name="TextBox 11"/>
          <p:cNvSpPr txBox="1"/>
          <p:nvPr/>
        </p:nvSpPr>
        <p:spPr>
          <a:xfrm>
            <a:off x="1929998" y="923925"/>
            <a:ext cx="14074546"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Étape 5 : sélectionner un modèle</a:t>
            </a:r>
          </a:p>
        </p:txBody>
      </p:sp>
      <p:sp>
        <p:nvSpPr>
          <p:cNvPr id="12" name="TextBox 12"/>
          <p:cNvSpPr txBox="1"/>
          <p:nvPr/>
        </p:nvSpPr>
        <p:spPr>
          <a:xfrm>
            <a:off x="6630339" y="2740810"/>
            <a:ext cx="1110183" cy="275946"/>
          </a:xfrm>
          <a:prstGeom prst="rect">
            <a:avLst/>
          </a:prstGeom>
        </p:spPr>
        <p:txBody>
          <a:bodyPr lIns="0" tIns="0" rIns="0" bIns="0" rtlCol="0" anchor="t">
            <a:spAutoFit/>
          </a:bodyPr>
          <a:lstStyle/>
          <a:p>
            <a:pPr algn="just">
              <a:lnSpc>
                <a:spcPts val="2384"/>
              </a:lnSpc>
              <a:spcBef>
                <a:spcPct val="0"/>
              </a:spcBef>
            </a:pPr>
            <a:r>
              <a:rPr lang="en-US" sz="1703" b="1" i="1">
                <a:solidFill>
                  <a:srgbClr val="FFFFFF"/>
                </a:solidFill>
                <a:latin typeface="Open Sauce Bold Italics"/>
                <a:ea typeface="Open Sauce Bold Italics"/>
                <a:cs typeface="Open Sauce Bold Italics"/>
                <a:sym typeface="Open Sauce Bold Italics"/>
              </a:rPr>
              <a:t>Modèle B</a:t>
            </a:r>
          </a:p>
        </p:txBody>
      </p:sp>
      <p:sp>
        <p:nvSpPr>
          <p:cNvPr id="13" name="TextBox 13"/>
          <p:cNvSpPr txBox="1"/>
          <p:nvPr/>
        </p:nvSpPr>
        <p:spPr>
          <a:xfrm>
            <a:off x="3638962" y="6069994"/>
            <a:ext cx="1132116" cy="290546"/>
          </a:xfrm>
          <a:prstGeom prst="rect">
            <a:avLst/>
          </a:prstGeom>
        </p:spPr>
        <p:txBody>
          <a:bodyPr lIns="0" tIns="0" rIns="0" bIns="0" rtlCol="0" anchor="t">
            <a:spAutoFit/>
          </a:bodyPr>
          <a:lstStyle/>
          <a:p>
            <a:pPr algn="just">
              <a:lnSpc>
                <a:spcPts val="2431"/>
              </a:lnSpc>
              <a:spcBef>
                <a:spcPct val="0"/>
              </a:spcBef>
            </a:pPr>
            <a:r>
              <a:rPr lang="en-US" sz="1737" b="1" i="1">
                <a:solidFill>
                  <a:srgbClr val="FFFFFF"/>
                </a:solidFill>
                <a:latin typeface="Open Sauce Bold Italics"/>
                <a:ea typeface="Open Sauce Bold Italics"/>
                <a:cs typeface="Open Sauce Bold Italics"/>
                <a:sym typeface="Open Sauce Bold Italics"/>
              </a:rPr>
              <a:t>Modèle D</a:t>
            </a:r>
          </a:p>
        </p:txBody>
      </p:sp>
      <p:sp>
        <p:nvSpPr>
          <p:cNvPr id="14" name="TextBox 14"/>
          <p:cNvSpPr txBox="1"/>
          <p:nvPr/>
        </p:nvSpPr>
        <p:spPr>
          <a:xfrm>
            <a:off x="12112686" y="2731921"/>
            <a:ext cx="1085719" cy="289335"/>
          </a:xfrm>
          <a:prstGeom prst="rect">
            <a:avLst/>
          </a:prstGeom>
        </p:spPr>
        <p:txBody>
          <a:bodyPr lIns="0" tIns="0" rIns="0" bIns="0" rtlCol="0" anchor="t">
            <a:spAutoFit/>
          </a:bodyPr>
          <a:lstStyle/>
          <a:p>
            <a:pPr algn="just">
              <a:lnSpc>
                <a:spcPts val="2332"/>
              </a:lnSpc>
              <a:spcBef>
                <a:spcPct val="0"/>
              </a:spcBef>
            </a:pPr>
            <a:r>
              <a:rPr lang="en-US" sz="1665" b="1" i="1">
                <a:solidFill>
                  <a:srgbClr val="FFFFFF"/>
                </a:solidFill>
                <a:latin typeface="Open Sauce Bold Italics"/>
                <a:ea typeface="Open Sauce Bold Italics"/>
                <a:cs typeface="Open Sauce Bold Italics"/>
                <a:sym typeface="Open Sauce Bold Italics"/>
              </a:rPr>
              <a:t>Modèle C</a:t>
            </a:r>
          </a:p>
        </p:txBody>
      </p:sp>
      <p:sp>
        <p:nvSpPr>
          <p:cNvPr id="15" name="TextBox 15"/>
          <p:cNvSpPr txBox="1"/>
          <p:nvPr/>
        </p:nvSpPr>
        <p:spPr>
          <a:xfrm>
            <a:off x="1047513" y="2741208"/>
            <a:ext cx="1110183" cy="275946"/>
          </a:xfrm>
          <a:prstGeom prst="rect">
            <a:avLst/>
          </a:prstGeom>
        </p:spPr>
        <p:txBody>
          <a:bodyPr lIns="0" tIns="0" rIns="0" bIns="0" rtlCol="0" anchor="t">
            <a:spAutoFit/>
          </a:bodyPr>
          <a:lstStyle/>
          <a:p>
            <a:pPr algn="just">
              <a:lnSpc>
                <a:spcPts val="2384"/>
              </a:lnSpc>
              <a:spcBef>
                <a:spcPct val="0"/>
              </a:spcBef>
            </a:pPr>
            <a:r>
              <a:rPr lang="en-US" sz="1703" b="1" i="1">
                <a:solidFill>
                  <a:srgbClr val="FFFFFF"/>
                </a:solidFill>
                <a:latin typeface="Open Sauce Bold Italics"/>
                <a:ea typeface="Open Sauce Bold Italics"/>
                <a:cs typeface="Open Sauce Bold Italics"/>
                <a:sym typeface="Open Sauce Bold Italics"/>
              </a:rPr>
              <a:t>Modèle A</a:t>
            </a:r>
          </a:p>
        </p:txBody>
      </p:sp>
      <p:sp>
        <p:nvSpPr>
          <p:cNvPr id="16" name="TextBox 16"/>
          <p:cNvSpPr txBox="1"/>
          <p:nvPr/>
        </p:nvSpPr>
        <p:spPr>
          <a:xfrm>
            <a:off x="9948254" y="6103456"/>
            <a:ext cx="1132116" cy="290546"/>
          </a:xfrm>
          <a:prstGeom prst="rect">
            <a:avLst/>
          </a:prstGeom>
        </p:spPr>
        <p:txBody>
          <a:bodyPr lIns="0" tIns="0" rIns="0" bIns="0" rtlCol="0" anchor="t">
            <a:spAutoFit/>
          </a:bodyPr>
          <a:lstStyle/>
          <a:p>
            <a:pPr algn="just">
              <a:lnSpc>
                <a:spcPts val="2431"/>
              </a:lnSpc>
              <a:spcBef>
                <a:spcPct val="0"/>
              </a:spcBef>
            </a:pPr>
            <a:r>
              <a:rPr lang="en-US" sz="1737" b="1" i="1">
                <a:solidFill>
                  <a:srgbClr val="FFFFFF"/>
                </a:solidFill>
                <a:latin typeface="Open Sauce Bold Italics"/>
                <a:ea typeface="Open Sauce Bold Italics"/>
                <a:cs typeface="Open Sauce Bold Italics"/>
                <a:sym typeface="Open Sauce Bold Italics"/>
              </a:rPr>
              <a:t>Modèle E</a:t>
            </a:r>
          </a:p>
        </p:txBody>
      </p:sp>
      <p:sp>
        <p:nvSpPr>
          <p:cNvPr id="17" name="Freeform 17"/>
          <p:cNvSpPr/>
          <p:nvPr/>
        </p:nvSpPr>
        <p:spPr>
          <a:xfrm>
            <a:off x="3638962" y="6467633"/>
            <a:ext cx="5274505" cy="2147271"/>
          </a:xfrm>
          <a:custGeom>
            <a:avLst/>
            <a:gdLst/>
            <a:ahLst/>
            <a:cxnLst/>
            <a:rect l="l" t="t" r="r" b="b"/>
            <a:pathLst>
              <a:path w="5274505" h="2147271">
                <a:moveTo>
                  <a:pt x="0" y="0"/>
                </a:moveTo>
                <a:lnTo>
                  <a:pt x="5274505" y="0"/>
                </a:lnTo>
                <a:lnTo>
                  <a:pt x="5274505" y="2147271"/>
                </a:lnTo>
                <a:lnTo>
                  <a:pt x="0" y="2147271"/>
                </a:lnTo>
                <a:lnTo>
                  <a:pt x="0" y="0"/>
                </a:lnTo>
                <a:close/>
              </a:path>
            </a:pathLst>
          </a:custGeom>
          <a:blipFill>
            <a:blip r:embed="rId10"/>
            <a:stretch>
              <a:fillRect/>
            </a:stretch>
          </a:blipFill>
        </p:spPr>
        <p:txBody>
          <a:bodyPr/>
          <a:lstStyle/>
          <a:p>
            <a:endParaRPr lang="fr-FR"/>
          </a:p>
        </p:txBody>
      </p:sp>
      <p:sp>
        <p:nvSpPr>
          <p:cNvPr id="18" name="Freeform 18"/>
          <p:cNvSpPr/>
          <p:nvPr/>
        </p:nvSpPr>
        <p:spPr>
          <a:xfrm>
            <a:off x="4815823" y="6029576"/>
            <a:ext cx="4151448" cy="466880"/>
          </a:xfrm>
          <a:custGeom>
            <a:avLst/>
            <a:gdLst/>
            <a:ahLst/>
            <a:cxnLst/>
            <a:rect l="l" t="t" r="r" b="b"/>
            <a:pathLst>
              <a:path w="4151448" h="466880">
                <a:moveTo>
                  <a:pt x="0" y="0"/>
                </a:moveTo>
                <a:lnTo>
                  <a:pt x="4151448" y="0"/>
                </a:lnTo>
                <a:lnTo>
                  <a:pt x="4151448" y="466880"/>
                </a:lnTo>
                <a:lnTo>
                  <a:pt x="0" y="466880"/>
                </a:lnTo>
                <a:lnTo>
                  <a:pt x="0" y="0"/>
                </a:lnTo>
                <a:close/>
              </a:path>
            </a:pathLst>
          </a:custGeom>
          <a:blipFill>
            <a:blip r:embed="rId11"/>
            <a:stretch>
              <a:fillRect/>
            </a:stretch>
          </a:blipFill>
        </p:spPr>
        <p:txBody>
          <a:bodyPr/>
          <a:lstStyle/>
          <a:p>
            <a:endParaRPr lang="fr-F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3"/>
            <a:stretch>
              <a:fillRect/>
            </a:stretch>
          </a:blipFill>
        </p:spPr>
        <p:txBody>
          <a:bodyPr/>
          <a:lstStyle/>
          <a:p>
            <a:endParaRPr lang="fr-FR"/>
          </a:p>
        </p:txBody>
      </p:sp>
      <p:sp>
        <p:nvSpPr>
          <p:cNvPr id="3" name="Freeform 3"/>
          <p:cNvSpPr/>
          <p:nvPr/>
        </p:nvSpPr>
        <p:spPr>
          <a:xfrm>
            <a:off x="6459994" y="3271993"/>
            <a:ext cx="5014554" cy="1963370"/>
          </a:xfrm>
          <a:custGeom>
            <a:avLst/>
            <a:gdLst/>
            <a:ahLst/>
            <a:cxnLst/>
            <a:rect l="l" t="t" r="r" b="b"/>
            <a:pathLst>
              <a:path w="5014554" h="1963370">
                <a:moveTo>
                  <a:pt x="0" y="0"/>
                </a:moveTo>
                <a:lnTo>
                  <a:pt x="5014553" y="0"/>
                </a:lnTo>
                <a:lnTo>
                  <a:pt x="5014553" y="1963370"/>
                </a:lnTo>
                <a:lnTo>
                  <a:pt x="0" y="1963370"/>
                </a:lnTo>
                <a:lnTo>
                  <a:pt x="0" y="0"/>
                </a:lnTo>
                <a:close/>
              </a:path>
            </a:pathLst>
          </a:custGeom>
          <a:blipFill>
            <a:blip r:embed="rId4"/>
            <a:stretch>
              <a:fillRect/>
            </a:stretch>
          </a:blipFill>
        </p:spPr>
        <p:txBody>
          <a:bodyPr/>
          <a:lstStyle/>
          <a:p>
            <a:endParaRPr lang="fr-FR"/>
          </a:p>
        </p:txBody>
      </p:sp>
      <p:sp>
        <p:nvSpPr>
          <p:cNvPr id="4" name="Freeform 4"/>
          <p:cNvSpPr/>
          <p:nvPr/>
        </p:nvSpPr>
        <p:spPr>
          <a:xfrm>
            <a:off x="7966184" y="2674537"/>
            <a:ext cx="3508363" cy="427542"/>
          </a:xfrm>
          <a:custGeom>
            <a:avLst/>
            <a:gdLst/>
            <a:ahLst/>
            <a:cxnLst/>
            <a:rect l="l" t="t" r="r" b="b"/>
            <a:pathLst>
              <a:path w="3508363" h="427542">
                <a:moveTo>
                  <a:pt x="0" y="0"/>
                </a:moveTo>
                <a:lnTo>
                  <a:pt x="3508363" y="0"/>
                </a:lnTo>
                <a:lnTo>
                  <a:pt x="3508363" y="427542"/>
                </a:lnTo>
                <a:lnTo>
                  <a:pt x="0" y="427542"/>
                </a:lnTo>
                <a:lnTo>
                  <a:pt x="0" y="0"/>
                </a:lnTo>
                <a:close/>
              </a:path>
            </a:pathLst>
          </a:custGeom>
          <a:blipFill>
            <a:blip r:embed="rId5"/>
            <a:stretch>
              <a:fillRect/>
            </a:stretch>
          </a:blipFill>
        </p:spPr>
        <p:txBody>
          <a:bodyPr/>
          <a:lstStyle/>
          <a:p>
            <a:endParaRPr lang="fr-FR"/>
          </a:p>
        </p:txBody>
      </p:sp>
      <p:sp>
        <p:nvSpPr>
          <p:cNvPr id="5" name="Freeform 5"/>
          <p:cNvSpPr/>
          <p:nvPr/>
        </p:nvSpPr>
        <p:spPr>
          <a:xfrm>
            <a:off x="806503" y="3144452"/>
            <a:ext cx="4966242" cy="2219247"/>
          </a:xfrm>
          <a:custGeom>
            <a:avLst/>
            <a:gdLst/>
            <a:ahLst/>
            <a:cxnLst/>
            <a:rect l="l" t="t" r="r" b="b"/>
            <a:pathLst>
              <a:path w="4966242" h="2219247">
                <a:moveTo>
                  <a:pt x="0" y="0"/>
                </a:moveTo>
                <a:lnTo>
                  <a:pt x="4966242" y="0"/>
                </a:lnTo>
                <a:lnTo>
                  <a:pt x="4966242" y="2219247"/>
                </a:lnTo>
                <a:lnTo>
                  <a:pt x="0" y="2219247"/>
                </a:lnTo>
                <a:lnTo>
                  <a:pt x="0" y="0"/>
                </a:lnTo>
                <a:close/>
              </a:path>
            </a:pathLst>
          </a:custGeom>
          <a:blipFill>
            <a:blip r:embed="rId6"/>
            <a:stretch>
              <a:fillRect/>
            </a:stretch>
          </a:blipFill>
        </p:spPr>
        <p:txBody>
          <a:bodyPr/>
          <a:lstStyle/>
          <a:p>
            <a:endParaRPr lang="fr-FR"/>
          </a:p>
        </p:txBody>
      </p:sp>
      <p:sp>
        <p:nvSpPr>
          <p:cNvPr id="6" name="Freeform 6"/>
          <p:cNvSpPr/>
          <p:nvPr/>
        </p:nvSpPr>
        <p:spPr>
          <a:xfrm>
            <a:off x="2181602" y="2674537"/>
            <a:ext cx="3805199" cy="427940"/>
          </a:xfrm>
          <a:custGeom>
            <a:avLst/>
            <a:gdLst/>
            <a:ahLst/>
            <a:cxnLst/>
            <a:rect l="l" t="t" r="r" b="b"/>
            <a:pathLst>
              <a:path w="3805199" h="427940">
                <a:moveTo>
                  <a:pt x="0" y="0"/>
                </a:moveTo>
                <a:lnTo>
                  <a:pt x="3805199" y="0"/>
                </a:lnTo>
                <a:lnTo>
                  <a:pt x="3805199" y="427940"/>
                </a:lnTo>
                <a:lnTo>
                  <a:pt x="0" y="427940"/>
                </a:lnTo>
                <a:lnTo>
                  <a:pt x="0" y="0"/>
                </a:lnTo>
                <a:close/>
              </a:path>
            </a:pathLst>
          </a:custGeom>
          <a:blipFill>
            <a:blip r:embed="rId7"/>
            <a:stretch>
              <a:fillRect/>
            </a:stretch>
          </a:blipFill>
        </p:spPr>
        <p:txBody>
          <a:bodyPr/>
          <a:lstStyle/>
          <a:p>
            <a:endParaRPr lang="fr-FR"/>
          </a:p>
        </p:txBody>
      </p:sp>
      <p:sp>
        <p:nvSpPr>
          <p:cNvPr id="7" name="Freeform 7"/>
          <p:cNvSpPr/>
          <p:nvPr/>
        </p:nvSpPr>
        <p:spPr>
          <a:xfrm>
            <a:off x="11962676" y="2985261"/>
            <a:ext cx="5296624" cy="2156276"/>
          </a:xfrm>
          <a:custGeom>
            <a:avLst/>
            <a:gdLst/>
            <a:ahLst/>
            <a:cxnLst/>
            <a:rect l="l" t="t" r="r" b="b"/>
            <a:pathLst>
              <a:path w="5296624" h="2156276">
                <a:moveTo>
                  <a:pt x="0" y="0"/>
                </a:moveTo>
                <a:lnTo>
                  <a:pt x="5296624" y="0"/>
                </a:lnTo>
                <a:lnTo>
                  <a:pt x="5296624" y="2156276"/>
                </a:lnTo>
                <a:lnTo>
                  <a:pt x="0" y="2156276"/>
                </a:lnTo>
                <a:lnTo>
                  <a:pt x="0" y="0"/>
                </a:lnTo>
                <a:close/>
              </a:path>
            </a:pathLst>
          </a:custGeom>
          <a:blipFill>
            <a:blip r:embed="rId8"/>
            <a:stretch>
              <a:fillRect/>
            </a:stretch>
          </a:blipFill>
        </p:spPr>
        <p:txBody>
          <a:bodyPr/>
          <a:lstStyle/>
          <a:p>
            <a:endParaRPr lang="fr-FR"/>
          </a:p>
        </p:txBody>
      </p:sp>
      <p:sp>
        <p:nvSpPr>
          <p:cNvPr id="8" name="Freeform 8"/>
          <p:cNvSpPr/>
          <p:nvPr/>
        </p:nvSpPr>
        <p:spPr>
          <a:xfrm>
            <a:off x="13327275" y="2674537"/>
            <a:ext cx="3932025" cy="442203"/>
          </a:xfrm>
          <a:custGeom>
            <a:avLst/>
            <a:gdLst/>
            <a:ahLst/>
            <a:cxnLst/>
            <a:rect l="l" t="t" r="r" b="b"/>
            <a:pathLst>
              <a:path w="3932025" h="442203">
                <a:moveTo>
                  <a:pt x="0" y="0"/>
                </a:moveTo>
                <a:lnTo>
                  <a:pt x="3932025" y="0"/>
                </a:lnTo>
                <a:lnTo>
                  <a:pt x="3932025" y="442203"/>
                </a:lnTo>
                <a:lnTo>
                  <a:pt x="0" y="442203"/>
                </a:lnTo>
                <a:lnTo>
                  <a:pt x="0" y="0"/>
                </a:lnTo>
                <a:close/>
              </a:path>
            </a:pathLst>
          </a:custGeom>
          <a:blipFill>
            <a:blip r:embed="rId9"/>
            <a:stretch>
              <a:fillRect/>
            </a:stretch>
          </a:blipFill>
        </p:spPr>
        <p:txBody>
          <a:bodyPr/>
          <a:lstStyle/>
          <a:p>
            <a:endParaRPr lang="fr-FR"/>
          </a:p>
        </p:txBody>
      </p:sp>
      <p:sp>
        <p:nvSpPr>
          <p:cNvPr id="9" name="Freeform 9"/>
          <p:cNvSpPr/>
          <p:nvPr/>
        </p:nvSpPr>
        <p:spPr>
          <a:xfrm>
            <a:off x="9891474" y="6394002"/>
            <a:ext cx="5274505" cy="2147271"/>
          </a:xfrm>
          <a:custGeom>
            <a:avLst/>
            <a:gdLst/>
            <a:ahLst/>
            <a:cxnLst/>
            <a:rect l="l" t="t" r="r" b="b"/>
            <a:pathLst>
              <a:path w="5274505" h="2147271">
                <a:moveTo>
                  <a:pt x="0" y="0"/>
                </a:moveTo>
                <a:lnTo>
                  <a:pt x="5274505" y="0"/>
                </a:lnTo>
                <a:lnTo>
                  <a:pt x="5274505" y="2147271"/>
                </a:lnTo>
                <a:lnTo>
                  <a:pt x="0" y="2147271"/>
                </a:lnTo>
                <a:lnTo>
                  <a:pt x="0" y="0"/>
                </a:lnTo>
                <a:close/>
              </a:path>
            </a:pathLst>
          </a:custGeom>
          <a:blipFill>
            <a:blip r:embed="rId10"/>
            <a:stretch>
              <a:fillRect/>
            </a:stretch>
          </a:blipFill>
        </p:spPr>
        <p:txBody>
          <a:bodyPr/>
          <a:lstStyle/>
          <a:p>
            <a:endParaRPr lang="fr-FR"/>
          </a:p>
        </p:txBody>
      </p:sp>
      <p:sp>
        <p:nvSpPr>
          <p:cNvPr id="10" name="Freeform 10"/>
          <p:cNvSpPr/>
          <p:nvPr/>
        </p:nvSpPr>
        <p:spPr>
          <a:xfrm>
            <a:off x="11141840" y="6029576"/>
            <a:ext cx="4151448" cy="466880"/>
          </a:xfrm>
          <a:custGeom>
            <a:avLst/>
            <a:gdLst/>
            <a:ahLst/>
            <a:cxnLst/>
            <a:rect l="l" t="t" r="r" b="b"/>
            <a:pathLst>
              <a:path w="4151448" h="466880">
                <a:moveTo>
                  <a:pt x="0" y="0"/>
                </a:moveTo>
                <a:lnTo>
                  <a:pt x="4151448" y="0"/>
                </a:lnTo>
                <a:lnTo>
                  <a:pt x="4151448" y="466880"/>
                </a:lnTo>
                <a:lnTo>
                  <a:pt x="0" y="466880"/>
                </a:lnTo>
                <a:lnTo>
                  <a:pt x="0" y="0"/>
                </a:lnTo>
                <a:close/>
              </a:path>
            </a:pathLst>
          </a:custGeom>
          <a:blipFill>
            <a:blip r:embed="rId11"/>
            <a:stretch>
              <a:fillRect/>
            </a:stretch>
          </a:blipFill>
        </p:spPr>
        <p:txBody>
          <a:bodyPr/>
          <a:lstStyle/>
          <a:p>
            <a:endParaRPr lang="fr-FR"/>
          </a:p>
        </p:txBody>
      </p:sp>
      <p:grpSp>
        <p:nvGrpSpPr>
          <p:cNvPr id="11" name="Group 11"/>
          <p:cNvGrpSpPr/>
          <p:nvPr/>
        </p:nvGrpSpPr>
        <p:grpSpPr>
          <a:xfrm>
            <a:off x="6199436" y="2365501"/>
            <a:ext cx="5629891" cy="3086100"/>
            <a:chOff x="0" y="0"/>
            <a:chExt cx="1482770" cy="812800"/>
          </a:xfrm>
        </p:grpSpPr>
        <p:sp>
          <p:nvSpPr>
            <p:cNvPr id="12" name="Freeform 12"/>
            <p:cNvSpPr/>
            <p:nvPr/>
          </p:nvSpPr>
          <p:spPr>
            <a:xfrm>
              <a:off x="0" y="0"/>
              <a:ext cx="1482770" cy="812800"/>
            </a:xfrm>
            <a:custGeom>
              <a:avLst/>
              <a:gdLst/>
              <a:ahLst/>
              <a:cxnLst/>
              <a:rect l="l" t="t" r="r" b="b"/>
              <a:pathLst>
                <a:path w="1482770" h="812800">
                  <a:moveTo>
                    <a:pt x="70132" y="0"/>
                  </a:moveTo>
                  <a:lnTo>
                    <a:pt x="1412637" y="0"/>
                  </a:lnTo>
                  <a:cubicBezTo>
                    <a:pt x="1451370" y="0"/>
                    <a:pt x="1482770" y="31399"/>
                    <a:pt x="1482770" y="70132"/>
                  </a:cubicBezTo>
                  <a:lnTo>
                    <a:pt x="1482770" y="742668"/>
                  </a:lnTo>
                  <a:cubicBezTo>
                    <a:pt x="1482770" y="761268"/>
                    <a:pt x="1475381" y="779106"/>
                    <a:pt x="1462228" y="792259"/>
                  </a:cubicBezTo>
                  <a:cubicBezTo>
                    <a:pt x="1449076" y="805411"/>
                    <a:pt x="1431237" y="812800"/>
                    <a:pt x="1412637" y="812800"/>
                  </a:cubicBezTo>
                  <a:lnTo>
                    <a:pt x="70132" y="812800"/>
                  </a:lnTo>
                  <a:cubicBezTo>
                    <a:pt x="31399" y="812800"/>
                    <a:pt x="0" y="781401"/>
                    <a:pt x="0" y="742668"/>
                  </a:cubicBezTo>
                  <a:lnTo>
                    <a:pt x="0" y="70132"/>
                  </a:lnTo>
                  <a:cubicBezTo>
                    <a:pt x="0" y="31399"/>
                    <a:pt x="31399" y="0"/>
                    <a:pt x="70132" y="0"/>
                  </a:cubicBezTo>
                  <a:close/>
                </a:path>
              </a:pathLst>
            </a:custGeom>
            <a:ln w="76200" cap="rnd">
              <a:solidFill>
                <a:srgbClr val="000000"/>
              </a:solidFill>
              <a:prstDash val="solid"/>
              <a:round/>
            </a:ln>
          </p:spPr>
          <p:txBody>
            <a:bodyPr/>
            <a:lstStyle/>
            <a:p>
              <a:endParaRPr lang="fr-FR"/>
            </a:p>
          </p:txBody>
        </p:sp>
        <p:sp>
          <p:nvSpPr>
            <p:cNvPr id="13" name="TextBox 13"/>
            <p:cNvSpPr txBox="1"/>
            <p:nvPr/>
          </p:nvSpPr>
          <p:spPr>
            <a:xfrm>
              <a:off x="0" y="-19050"/>
              <a:ext cx="1482770" cy="831850"/>
            </a:xfrm>
            <a:prstGeom prst="rect">
              <a:avLst/>
            </a:prstGeom>
          </p:spPr>
          <p:txBody>
            <a:bodyPr lIns="50800" tIns="50800" rIns="50800" bIns="50800" rtlCol="0" anchor="ctr"/>
            <a:lstStyle/>
            <a:p>
              <a:pPr algn="ctr">
                <a:lnSpc>
                  <a:spcPts val="2384"/>
                </a:lnSpc>
              </a:pPr>
              <a:endParaRPr/>
            </a:p>
          </p:txBody>
        </p:sp>
      </p:grpSp>
      <p:sp>
        <p:nvSpPr>
          <p:cNvPr id="14" name="TextBox 14"/>
          <p:cNvSpPr txBox="1"/>
          <p:nvPr/>
        </p:nvSpPr>
        <p:spPr>
          <a:xfrm>
            <a:off x="1929998" y="923925"/>
            <a:ext cx="14074546"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Étape 5 : sélectionner un modèle</a:t>
            </a:r>
          </a:p>
        </p:txBody>
      </p:sp>
      <p:sp>
        <p:nvSpPr>
          <p:cNvPr id="15" name="TextBox 15"/>
          <p:cNvSpPr txBox="1"/>
          <p:nvPr/>
        </p:nvSpPr>
        <p:spPr>
          <a:xfrm>
            <a:off x="6630339" y="2740810"/>
            <a:ext cx="1110183" cy="275946"/>
          </a:xfrm>
          <a:prstGeom prst="rect">
            <a:avLst/>
          </a:prstGeom>
        </p:spPr>
        <p:txBody>
          <a:bodyPr lIns="0" tIns="0" rIns="0" bIns="0" rtlCol="0" anchor="t">
            <a:spAutoFit/>
          </a:bodyPr>
          <a:lstStyle/>
          <a:p>
            <a:pPr algn="just">
              <a:lnSpc>
                <a:spcPts val="2384"/>
              </a:lnSpc>
              <a:spcBef>
                <a:spcPct val="0"/>
              </a:spcBef>
            </a:pPr>
            <a:r>
              <a:rPr lang="en-US" sz="1703" b="1" i="1">
                <a:solidFill>
                  <a:srgbClr val="FFFFFF"/>
                </a:solidFill>
                <a:latin typeface="Open Sauce Bold Italics"/>
                <a:ea typeface="Open Sauce Bold Italics"/>
                <a:cs typeface="Open Sauce Bold Italics"/>
                <a:sym typeface="Open Sauce Bold Italics"/>
              </a:rPr>
              <a:t>Modèle B</a:t>
            </a:r>
          </a:p>
        </p:txBody>
      </p:sp>
      <p:sp>
        <p:nvSpPr>
          <p:cNvPr id="16" name="TextBox 16"/>
          <p:cNvSpPr txBox="1"/>
          <p:nvPr/>
        </p:nvSpPr>
        <p:spPr>
          <a:xfrm>
            <a:off x="3638962" y="6069994"/>
            <a:ext cx="1132116" cy="290546"/>
          </a:xfrm>
          <a:prstGeom prst="rect">
            <a:avLst/>
          </a:prstGeom>
        </p:spPr>
        <p:txBody>
          <a:bodyPr lIns="0" tIns="0" rIns="0" bIns="0" rtlCol="0" anchor="t">
            <a:spAutoFit/>
          </a:bodyPr>
          <a:lstStyle/>
          <a:p>
            <a:pPr algn="just">
              <a:lnSpc>
                <a:spcPts val="2431"/>
              </a:lnSpc>
              <a:spcBef>
                <a:spcPct val="0"/>
              </a:spcBef>
            </a:pPr>
            <a:r>
              <a:rPr lang="en-US" sz="1737" b="1" i="1">
                <a:solidFill>
                  <a:srgbClr val="FFFFFF"/>
                </a:solidFill>
                <a:latin typeface="Open Sauce Bold Italics"/>
                <a:ea typeface="Open Sauce Bold Italics"/>
                <a:cs typeface="Open Sauce Bold Italics"/>
                <a:sym typeface="Open Sauce Bold Italics"/>
              </a:rPr>
              <a:t>Modèle D</a:t>
            </a:r>
          </a:p>
        </p:txBody>
      </p:sp>
      <p:sp>
        <p:nvSpPr>
          <p:cNvPr id="17" name="TextBox 17"/>
          <p:cNvSpPr txBox="1"/>
          <p:nvPr/>
        </p:nvSpPr>
        <p:spPr>
          <a:xfrm>
            <a:off x="12112686" y="2731921"/>
            <a:ext cx="1085719" cy="289335"/>
          </a:xfrm>
          <a:prstGeom prst="rect">
            <a:avLst/>
          </a:prstGeom>
        </p:spPr>
        <p:txBody>
          <a:bodyPr lIns="0" tIns="0" rIns="0" bIns="0" rtlCol="0" anchor="t">
            <a:spAutoFit/>
          </a:bodyPr>
          <a:lstStyle/>
          <a:p>
            <a:pPr algn="just">
              <a:lnSpc>
                <a:spcPts val="2332"/>
              </a:lnSpc>
              <a:spcBef>
                <a:spcPct val="0"/>
              </a:spcBef>
            </a:pPr>
            <a:r>
              <a:rPr lang="en-US" sz="1665" b="1" i="1">
                <a:solidFill>
                  <a:srgbClr val="FFFFFF"/>
                </a:solidFill>
                <a:latin typeface="Open Sauce Bold Italics"/>
                <a:ea typeface="Open Sauce Bold Italics"/>
                <a:cs typeface="Open Sauce Bold Italics"/>
                <a:sym typeface="Open Sauce Bold Italics"/>
              </a:rPr>
              <a:t>Modèle C</a:t>
            </a:r>
          </a:p>
        </p:txBody>
      </p:sp>
      <p:sp>
        <p:nvSpPr>
          <p:cNvPr id="18" name="TextBox 18"/>
          <p:cNvSpPr txBox="1"/>
          <p:nvPr/>
        </p:nvSpPr>
        <p:spPr>
          <a:xfrm>
            <a:off x="1047513" y="2741208"/>
            <a:ext cx="1110183" cy="275946"/>
          </a:xfrm>
          <a:prstGeom prst="rect">
            <a:avLst/>
          </a:prstGeom>
        </p:spPr>
        <p:txBody>
          <a:bodyPr lIns="0" tIns="0" rIns="0" bIns="0" rtlCol="0" anchor="t">
            <a:spAutoFit/>
          </a:bodyPr>
          <a:lstStyle/>
          <a:p>
            <a:pPr algn="just">
              <a:lnSpc>
                <a:spcPts val="2384"/>
              </a:lnSpc>
              <a:spcBef>
                <a:spcPct val="0"/>
              </a:spcBef>
            </a:pPr>
            <a:r>
              <a:rPr lang="en-US" sz="1703" b="1" i="1">
                <a:solidFill>
                  <a:srgbClr val="FFFFFF"/>
                </a:solidFill>
                <a:latin typeface="Open Sauce Bold Italics"/>
                <a:ea typeface="Open Sauce Bold Italics"/>
                <a:cs typeface="Open Sauce Bold Italics"/>
                <a:sym typeface="Open Sauce Bold Italics"/>
              </a:rPr>
              <a:t>Modèle A</a:t>
            </a:r>
          </a:p>
        </p:txBody>
      </p:sp>
      <p:sp>
        <p:nvSpPr>
          <p:cNvPr id="19" name="TextBox 19"/>
          <p:cNvSpPr txBox="1"/>
          <p:nvPr/>
        </p:nvSpPr>
        <p:spPr>
          <a:xfrm>
            <a:off x="9948254" y="6103456"/>
            <a:ext cx="1132116" cy="290546"/>
          </a:xfrm>
          <a:prstGeom prst="rect">
            <a:avLst/>
          </a:prstGeom>
        </p:spPr>
        <p:txBody>
          <a:bodyPr lIns="0" tIns="0" rIns="0" bIns="0" rtlCol="0" anchor="t">
            <a:spAutoFit/>
          </a:bodyPr>
          <a:lstStyle/>
          <a:p>
            <a:pPr algn="just">
              <a:lnSpc>
                <a:spcPts val="2431"/>
              </a:lnSpc>
              <a:spcBef>
                <a:spcPct val="0"/>
              </a:spcBef>
            </a:pPr>
            <a:r>
              <a:rPr lang="en-US" sz="1737" b="1" i="1">
                <a:solidFill>
                  <a:srgbClr val="FFFFFF"/>
                </a:solidFill>
                <a:latin typeface="Open Sauce Bold Italics"/>
                <a:ea typeface="Open Sauce Bold Italics"/>
                <a:cs typeface="Open Sauce Bold Italics"/>
                <a:sym typeface="Open Sauce Bold Italics"/>
              </a:rPr>
              <a:t>Modèle E</a:t>
            </a:r>
          </a:p>
        </p:txBody>
      </p:sp>
      <p:sp>
        <p:nvSpPr>
          <p:cNvPr id="20" name="Freeform 20"/>
          <p:cNvSpPr/>
          <p:nvPr/>
        </p:nvSpPr>
        <p:spPr>
          <a:xfrm>
            <a:off x="3638962" y="6467633"/>
            <a:ext cx="5274505" cy="2147271"/>
          </a:xfrm>
          <a:custGeom>
            <a:avLst/>
            <a:gdLst/>
            <a:ahLst/>
            <a:cxnLst/>
            <a:rect l="l" t="t" r="r" b="b"/>
            <a:pathLst>
              <a:path w="5274505" h="2147271">
                <a:moveTo>
                  <a:pt x="0" y="0"/>
                </a:moveTo>
                <a:lnTo>
                  <a:pt x="5274505" y="0"/>
                </a:lnTo>
                <a:lnTo>
                  <a:pt x="5274505" y="2147271"/>
                </a:lnTo>
                <a:lnTo>
                  <a:pt x="0" y="2147271"/>
                </a:lnTo>
                <a:lnTo>
                  <a:pt x="0" y="0"/>
                </a:lnTo>
                <a:close/>
              </a:path>
            </a:pathLst>
          </a:custGeom>
          <a:blipFill>
            <a:blip r:embed="rId10"/>
            <a:stretch>
              <a:fillRect/>
            </a:stretch>
          </a:blipFill>
        </p:spPr>
        <p:txBody>
          <a:bodyPr/>
          <a:lstStyle/>
          <a:p>
            <a:endParaRPr lang="fr-FR"/>
          </a:p>
        </p:txBody>
      </p:sp>
      <p:sp>
        <p:nvSpPr>
          <p:cNvPr id="21" name="Freeform 21"/>
          <p:cNvSpPr/>
          <p:nvPr/>
        </p:nvSpPr>
        <p:spPr>
          <a:xfrm>
            <a:off x="4815823" y="6029576"/>
            <a:ext cx="4151448" cy="466880"/>
          </a:xfrm>
          <a:custGeom>
            <a:avLst/>
            <a:gdLst/>
            <a:ahLst/>
            <a:cxnLst/>
            <a:rect l="l" t="t" r="r" b="b"/>
            <a:pathLst>
              <a:path w="4151448" h="466880">
                <a:moveTo>
                  <a:pt x="0" y="0"/>
                </a:moveTo>
                <a:lnTo>
                  <a:pt x="4151448" y="0"/>
                </a:lnTo>
                <a:lnTo>
                  <a:pt x="4151448" y="466880"/>
                </a:lnTo>
                <a:lnTo>
                  <a:pt x="0" y="466880"/>
                </a:lnTo>
                <a:lnTo>
                  <a:pt x="0" y="0"/>
                </a:lnTo>
                <a:close/>
              </a:path>
            </a:pathLst>
          </a:custGeom>
          <a:blipFill>
            <a:blip r:embed="rId11"/>
            <a:stretch>
              <a:fillRect/>
            </a:stretch>
          </a:blipFill>
        </p:spPr>
        <p:txBody>
          <a:bodyPr/>
          <a:lstStyle/>
          <a:p>
            <a:endParaRPr lang="fr-F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3"/>
            <a:stretch>
              <a:fillRect/>
            </a:stretch>
          </a:blipFill>
        </p:spPr>
        <p:txBody>
          <a:bodyPr/>
          <a:lstStyle/>
          <a:p>
            <a:endParaRPr lang="fr-FR"/>
          </a:p>
        </p:txBody>
      </p:sp>
      <p:grpSp>
        <p:nvGrpSpPr>
          <p:cNvPr id="3" name="Group 3"/>
          <p:cNvGrpSpPr/>
          <p:nvPr/>
        </p:nvGrpSpPr>
        <p:grpSpPr>
          <a:xfrm>
            <a:off x="2425155" y="2204503"/>
            <a:ext cx="13084230" cy="7231067"/>
            <a:chOff x="0" y="0"/>
            <a:chExt cx="17445640" cy="9641422"/>
          </a:xfrm>
        </p:grpSpPr>
        <p:sp>
          <p:nvSpPr>
            <p:cNvPr id="4" name="Freeform 4"/>
            <p:cNvSpPr/>
            <p:nvPr/>
          </p:nvSpPr>
          <p:spPr>
            <a:xfrm>
              <a:off x="0" y="0"/>
              <a:ext cx="9764867" cy="9641422"/>
            </a:xfrm>
            <a:custGeom>
              <a:avLst/>
              <a:gdLst/>
              <a:ahLst/>
              <a:cxnLst/>
              <a:rect l="l" t="t" r="r" b="b"/>
              <a:pathLst>
                <a:path w="9764867" h="9641422">
                  <a:moveTo>
                    <a:pt x="0" y="0"/>
                  </a:moveTo>
                  <a:lnTo>
                    <a:pt x="9764867" y="0"/>
                  </a:lnTo>
                  <a:lnTo>
                    <a:pt x="9764867" y="9641422"/>
                  </a:lnTo>
                  <a:lnTo>
                    <a:pt x="0" y="9641422"/>
                  </a:lnTo>
                  <a:lnTo>
                    <a:pt x="0" y="0"/>
                  </a:lnTo>
                  <a:close/>
                </a:path>
              </a:pathLst>
            </a:custGeom>
            <a:blipFill>
              <a:blip r:embed="rId4"/>
              <a:stretch>
                <a:fillRect r="-111930" b="-9736"/>
              </a:stretch>
            </a:blipFill>
          </p:spPr>
          <p:txBody>
            <a:bodyPr/>
            <a:lstStyle/>
            <a:p>
              <a:endParaRPr lang="fr-FR"/>
            </a:p>
          </p:txBody>
        </p:sp>
        <p:sp>
          <p:nvSpPr>
            <p:cNvPr id="5" name="Freeform 5"/>
            <p:cNvSpPr/>
            <p:nvPr/>
          </p:nvSpPr>
          <p:spPr>
            <a:xfrm>
              <a:off x="5633618" y="5087218"/>
              <a:ext cx="615666" cy="764803"/>
            </a:xfrm>
            <a:custGeom>
              <a:avLst/>
              <a:gdLst/>
              <a:ahLst/>
              <a:cxnLst/>
              <a:rect l="l" t="t" r="r" b="b"/>
              <a:pathLst>
                <a:path w="615666" h="764803">
                  <a:moveTo>
                    <a:pt x="0" y="0"/>
                  </a:moveTo>
                  <a:lnTo>
                    <a:pt x="615666" y="0"/>
                  </a:lnTo>
                  <a:lnTo>
                    <a:pt x="615666" y="764803"/>
                  </a:lnTo>
                  <a:lnTo>
                    <a:pt x="0" y="764803"/>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fr-FR"/>
            </a:p>
          </p:txBody>
        </p:sp>
        <p:sp>
          <p:nvSpPr>
            <p:cNvPr id="6" name="Freeform 6"/>
            <p:cNvSpPr/>
            <p:nvPr/>
          </p:nvSpPr>
          <p:spPr>
            <a:xfrm>
              <a:off x="7680773" y="0"/>
              <a:ext cx="9764867" cy="9641422"/>
            </a:xfrm>
            <a:custGeom>
              <a:avLst/>
              <a:gdLst/>
              <a:ahLst/>
              <a:cxnLst/>
              <a:rect l="l" t="t" r="r" b="b"/>
              <a:pathLst>
                <a:path w="9764867" h="9641422">
                  <a:moveTo>
                    <a:pt x="0" y="0"/>
                  </a:moveTo>
                  <a:lnTo>
                    <a:pt x="9764867" y="0"/>
                  </a:lnTo>
                  <a:lnTo>
                    <a:pt x="9764867" y="9641422"/>
                  </a:lnTo>
                  <a:lnTo>
                    <a:pt x="0" y="9641422"/>
                  </a:lnTo>
                  <a:lnTo>
                    <a:pt x="0" y="0"/>
                  </a:lnTo>
                  <a:close/>
                </a:path>
              </a:pathLst>
            </a:custGeom>
            <a:blipFill>
              <a:blip r:embed="rId4"/>
              <a:stretch>
                <a:fillRect l="-111930" b="-9736"/>
              </a:stretch>
            </a:blipFill>
          </p:spPr>
          <p:txBody>
            <a:bodyPr/>
            <a:lstStyle/>
            <a:p>
              <a:endParaRPr lang="fr-FR"/>
            </a:p>
          </p:txBody>
        </p:sp>
        <p:sp>
          <p:nvSpPr>
            <p:cNvPr id="7" name="Freeform 7"/>
            <p:cNvSpPr/>
            <p:nvPr/>
          </p:nvSpPr>
          <p:spPr>
            <a:xfrm>
              <a:off x="0" y="802133"/>
              <a:ext cx="17445640" cy="8570171"/>
            </a:xfrm>
            <a:custGeom>
              <a:avLst/>
              <a:gdLst/>
              <a:ahLst/>
              <a:cxnLst/>
              <a:rect l="l" t="t" r="r" b="b"/>
              <a:pathLst>
                <a:path w="17445640" h="8570171">
                  <a:moveTo>
                    <a:pt x="0" y="0"/>
                  </a:moveTo>
                  <a:lnTo>
                    <a:pt x="17445640" y="0"/>
                  </a:lnTo>
                  <a:lnTo>
                    <a:pt x="17445640" y="8570170"/>
                  </a:lnTo>
                  <a:lnTo>
                    <a:pt x="0" y="8570170"/>
                  </a:lnTo>
                  <a:lnTo>
                    <a:pt x="0" y="0"/>
                  </a:lnTo>
                  <a:close/>
                </a:path>
              </a:pathLst>
            </a:custGeom>
            <a:blipFill>
              <a:blip r:embed="rId7"/>
              <a:stretch>
                <a:fillRect/>
              </a:stretch>
            </a:blipFill>
          </p:spPr>
          <p:txBody>
            <a:bodyPr/>
            <a:lstStyle/>
            <a:p>
              <a:endParaRPr lang="fr-FR"/>
            </a:p>
          </p:txBody>
        </p:sp>
      </p:grpSp>
      <p:sp>
        <p:nvSpPr>
          <p:cNvPr id="8" name="TextBox 8"/>
          <p:cNvSpPr txBox="1"/>
          <p:nvPr/>
        </p:nvSpPr>
        <p:spPr>
          <a:xfrm>
            <a:off x="1929998" y="923925"/>
            <a:ext cx="14074546"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Étape 6 : évaluer le modèle</a:t>
            </a:r>
          </a:p>
        </p:txBody>
      </p:sp>
      <p:sp>
        <p:nvSpPr>
          <p:cNvPr id="9" name="Freeform 9"/>
          <p:cNvSpPr/>
          <p:nvPr/>
        </p:nvSpPr>
        <p:spPr>
          <a:xfrm>
            <a:off x="6343424" y="6046664"/>
            <a:ext cx="430125" cy="534317"/>
          </a:xfrm>
          <a:custGeom>
            <a:avLst/>
            <a:gdLst/>
            <a:ahLst/>
            <a:cxnLst/>
            <a:rect l="l" t="t" r="r" b="b"/>
            <a:pathLst>
              <a:path w="430125" h="534317">
                <a:moveTo>
                  <a:pt x="0" y="0"/>
                </a:moveTo>
                <a:lnTo>
                  <a:pt x="430125" y="0"/>
                </a:lnTo>
                <a:lnTo>
                  <a:pt x="430125" y="534317"/>
                </a:lnTo>
                <a:lnTo>
                  <a:pt x="0" y="534317"/>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fr-F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727478" cy="746878"/>
          </a:xfrm>
          <a:custGeom>
            <a:avLst/>
            <a:gdLst/>
            <a:ahLst/>
            <a:cxnLst/>
            <a:rect l="l" t="t" r="r" b="b"/>
            <a:pathLst>
              <a:path w="727478" h="746878">
                <a:moveTo>
                  <a:pt x="0" y="0"/>
                </a:moveTo>
                <a:lnTo>
                  <a:pt x="727478" y="0"/>
                </a:lnTo>
                <a:lnTo>
                  <a:pt x="727478" y="746878"/>
                </a:lnTo>
                <a:lnTo>
                  <a:pt x="0" y="746878"/>
                </a:lnTo>
                <a:lnTo>
                  <a:pt x="0" y="0"/>
                </a:lnTo>
                <a:close/>
              </a:path>
            </a:pathLst>
          </a:custGeom>
          <a:blipFill>
            <a:blip r:embed="rId3"/>
            <a:stretch>
              <a:fillRect/>
            </a:stretch>
          </a:blipFill>
        </p:spPr>
        <p:txBody>
          <a:bodyPr/>
          <a:lstStyle/>
          <a:p>
            <a:endParaRPr lang="fr-FR"/>
          </a:p>
        </p:txBody>
      </p:sp>
      <p:sp>
        <p:nvSpPr>
          <p:cNvPr id="3" name="Freeform 3"/>
          <p:cNvSpPr/>
          <p:nvPr/>
        </p:nvSpPr>
        <p:spPr>
          <a:xfrm>
            <a:off x="2425155" y="2288319"/>
            <a:ext cx="13579388" cy="6857591"/>
          </a:xfrm>
          <a:custGeom>
            <a:avLst/>
            <a:gdLst/>
            <a:ahLst/>
            <a:cxnLst/>
            <a:rect l="l" t="t" r="r" b="b"/>
            <a:pathLst>
              <a:path w="13579388" h="6857591">
                <a:moveTo>
                  <a:pt x="0" y="0"/>
                </a:moveTo>
                <a:lnTo>
                  <a:pt x="13579388" y="0"/>
                </a:lnTo>
                <a:lnTo>
                  <a:pt x="13579388" y="6857591"/>
                </a:lnTo>
                <a:lnTo>
                  <a:pt x="0" y="6857591"/>
                </a:lnTo>
                <a:lnTo>
                  <a:pt x="0" y="0"/>
                </a:lnTo>
                <a:close/>
              </a:path>
            </a:pathLst>
          </a:custGeom>
          <a:blipFill>
            <a:blip r:embed="rId4"/>
            <a:stretch>
              <a:fillRect/>
            </a:stretch>
          </a:blipFill>
        </p:spPr>
        <p:txBody>
          <a:bodyPr/>
          <a:lstStyle/>
          <a:p>
            <a:endParaRPr lang="fr-FR"/>
          </a:p>
        </p:txBody>
      </p:sp>
      <p:sp>
        <p:nvSpPr>
          <p:cNvPr id="4" name="TextBox 4"/>
          <p:cNvSpPr txBox="1"/>
          <p:nvPr/>
        </p:nvSpPr>
        <p:spPr>
          <a:xfrm>
            <a:off x="1929998" y="923925"/>
            <a:ext cx="14074546"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Étape 7 : étendre les prédictions</a:t>
            </a:r>
          </a:p>
        </p:txBody>
      </p:sp>
      <p:sp>
        <p:nvSpPr>
          <p:cNvPr id="5" name="Freeform 5"/>
          <p:cNvSpPr/>
          <p:nvPr/>
        </p:nvSpPr>
        <p:spPr>
          <a:xfrm>
            <a:off x="9704779" y="6127660"/>
            <a:ext cx="430125" cy="534317"/>
          </a:xfrm>
          <a:custGeom>
            <a:avLst/>
            <a:gdLst/>
            <a:ahLst/>
            <a:cxnLst/>
            <a:rect l="l" t="t" r="r" b="b"/>
            <a:pathLst>
              <a:path w="430125" h="534317">
                <a:moveTo>
                  <a:pt x="0" y="0"/>
                </a:moveTo>
                <a:lnTo>
                  <a:pt x="430126" y="0"/>
                </a:lnTo>
                <a:lnTo>
                  <a:pt x="430126" y="534318"/>
                </a:lnTo>
                <a:lnTo>
                  <a:pt x="0" y="534318"/>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fr-F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8710786" y="1237550"/>
            <a:ext cx="8705918" cy="6501888"/>
          </a:xfrm>
          <a:custGeom>
            <a:avLst/>
            <a:gdLst/>
            <a:ahLst/>
            <a:cxnLst/>
            <a:rect l="l" t="t" r="r" b="b"/>
            <a:pathLst>
              <a:path w="8705918" h="6501888">
                <a:moveTo>
                  <a:pt x="0" y="0"/>
                </a:moveTo>
                <a:lnTo>
                  <a:pt x="8705918" y="0"/>
                </a:lnTo>
                <a:lnTo>
                  <a:pt x="8705918" y="6501888"/>
                </a:lnTo>
                <a:lnTo>
                  <a:pt x="0" y="6501888"/>
                </a:lnTo>
                <a:lnTo>
                  <a:pt x="0" y="0"/>
                </a:lnTo>
                <a:close/>
              </a:path>
            </a:pathLst>
          </a:custGeom>
          <a:blipFill>
            <a:blip r:embed="rId3"/>
            <a:stretch>
              <a:fillRect/>
            </a:stretch>
          </a:blipFill>
        </p:spPr>
        <p:txBody>
          <a:bodyPr/>
          <a:lstStyle/>
          <a:p>
            <a:endParaRPr lang="fr-FR"/>
          </a:p>
        </p:txBody>
      </p:sp>
      <p:sp>
        <p:nvSpPr>
          <p:cNvPr id="3" name="Freeform 3"/>
          <p:cNvSpPr/>
          <p:nvPr/>
        </p:nvSpPr>
        <p:spPr>
          <a:xfrm>
            <a:off x="1289513" y="4633798"/>
            <a:ext cx="5985100" cy="4218102"/>
          </a:xfrm>
          <a:custGeom>
            <a:avLst/>
            <a:gdLst/>
            <a:ahLst/>
            <a:cxnLst/>
            <a:rect l="l" t="t" r="r" b="b"/>
            <a:pathLst>
              <a:path w="5985100" h="4218102">
                <a:moveTo>
                  <a:pt x="0" y="0"/>
                </a:moveTo>
                <a:lnTo>
                  <a:pt x="5985100" y="0"/>
                </a:lnTo>
                <a:lnTo>
                  <a:pt x="5985100" y="4218102"/>
                </a:lnTo>
                <a:lnTo>
                  <a:pt x="0" y="4218102"/>
                </a:lnTo>
                <a:lnTo>
                  <a:pt x="0" y="0"/>
                </a:lnTo>
                <a:close/>
              </a:path>
            </a:pathLst>
          </a:custGeom>
          <a:blipFill>
            <a:blip r:embed="rId4"/>
            <a:stretch>
              <a:fillRect t="-15895"/>
            </a:stretch>
          </a:blipFill>
        </p:spPr>
        <p:txBody>
          <a:bodyPr/>
          <a:lstStyle/>
          <a:p>
            <a:endParaRPr lang="fr-FR"/>
          </a:p>
        </p:txBody>
      </p:sp>
      <p:sp>
        <p:nvSpPr>
          <p:cNvPr id="4" name="TextBox 4"/>
          <p:cNvSpPr txBox="1"/>
          <p:nvPr/>
        </p:nvSpPr>
        <p:spPr>
          <a:xfrm>
            <a:off x="1028700" y="923925"/>
            <a:ext cx="8882565"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Résultats</a:t>
            </a:r>
          </a:p>
        </p:txBody>
      </p:sp>
      <p:sp>
        <p:nvSpPr>
          <p:cNvPr id="5" name="TextBox 5"/>
          <p:cNvSpPr txBox="1"/>
          <p:nvPr/>
        </p:nvSpPr>
        <p:spPr>
          <a:xfrm>
            <a:off x="1289513" y="2497549"/>
            <a:ext cx="5693746" cy="860425"/>
          </a:xfrm>
          <a:prstGeom prst="rect">
            <a:avLst/>
          </a:prstGeom>
        </p:spPr>
        <p:txBody>
          <a:bodyPr lIns="0" tIns="0" rIns="0" bIns="0" rtlCol="0" anchor="t">
            <a:spAutoFit/>
          </a:bodyPr>
          <a:lstStyle/>
          <a:p>
            <a:pPr algn="l">
              <a:lnSpc>
                <a:spcPts val="3499"/>
              </a:lnSpc>
            </a:pPr>
            <a:r>
              <a:rPr lang="en-US" sz="2499">
                <a:solidFill>
                  <a:srgbClr val="000000"/>
                </a:solidFill>
                <a:latin typeface="Open Sauce"/>
                <a:ea typeface="Open Sauce"/>
                <a:cs typeface="Open Sauce"/>
                <a:sym typeface="Open Sauce"/>
              </a:rPr>
              <a:t>(RQ1) : Pratique minoritaire mais non marginale. </a:t>
            </a:r>
          </a:p>
        </p:txBody>
      </p:sp>
      <p:sp>
        <p:nvSpPr>
          <p:cNvPr id="6" name="TextBox 6"/>
          <p:cNvSpPr txBox="1"/>
          <p:nvPr/>
        </p:nvSpPr>
        <p:spPr>
          <a:xfrm>
            <a:off x="8835615" y="8397875"/>
            <a:ext cx="8882565" cy="860425"/>
          </a:xfrm>
          <a:prstGeom prst="rect">
            <a:avLst/>
          </a:prstGeom>
        </p:spPr>
        <p:txBody>
          <a:bodyPr lIns="0" tIns="0" rIns="0" bIns="0" rtlCol="0" anchor="t">
            <a:spAutoFit/>
          </a:bodyPr>
          <a:lstStyle/>
          <a:p>
            <a:pPr algn="l">
              <a:lnSpc>
                <a:spcPts val="3499"/>
              </a:lnSpc>
            </a:pPr>
            <a:r>
              <a:rPr lang="en-US" sz="2499">
                <a:solidFill>
                  <a:srgbClr val="000000"/>
                </a:solidFill>
                <a:latin typeface="Open Sauce"/>
                <a:ea typeface="Open Sauce"/>
                <a:cs typeface="Open Sauce"/>
                <a:sym typeface="Open Sauce"/>
              </a:rPr>
              <a:t>(RQ3) : Les amendements “source” ne sont pas davantage adoptés que les “non-source”.</a:t>
            </a:r>
          </a:p>
        </p:txBody>
      </p:sp>
      <p:sp>
        <p:nvSpPr>
          <p:cNvPr id="7" name="TextBox 7"/>
          <p:cNvSpPr txBox="1"/>
          <p:nvPr/>
        </p:nvSpPr>
        <p:spPr>
          <a:xfrm>
            <a:off x="9144000" y="7701338"/>
            <a:ext cx="8900691" cy="217170"/>
          </a:xfrm>
          <a:prstGeom prst="rect">
            <a:avLst/>
          </a:prstGeom>
        </p:spPr>
        <p:txBody>
          <a:bodyPr lIns="0" tIns="0" rIns="0" bIns="0" rtlCol="0" anchor="t">
            <a:spAutoFit/>
          </a:bodyPr>
          <a:lstStyle/>
          <a:p>
            <a:pPr algn="l">
              <a:lnSpc>
                <a:spcPts val="1679"/>
              </a:lnSpc>
            </a:pPr>
            <a:r>
              <a:rPr lang="en-US" sz="1199">
                <a:solidFill>
                  <a:srgbClr val="000000"/>
                </a:solidFill>
                <a:latin typeface="Times New Roman"/>
                <a:ea typeface="Times New Roman"/>
                <a:cs typeface="Times New Roman"/>
                <a:sym typeface="Times New Roman"/>
              </a:rPr>
              <a:t>*à l’exclusion des amendements dont l’exposé sommaire est null ou d’une longueur &gt;1024 tokens.</a:t>
            </a:r>
          </a:p>
        </p:txBody>
      </p:sp>
      <p:sp>
        <p:nvSpPr>
          <p:cNvPr id="8" name="TextBox 8"/>
          <p:cNvSpPr txBox="1"/>
          <p:nvPr/>
        </p:nvSpPr>
        <p:spPr>
          <a:xfrm>
            <a:off x="2005034" y="4190617"/>
            <a:ext cx="4554057" cy="443180"/>
          </a:xfrm>
          <a:prstGeom prst="rect">
            <a:avLst/>
          </a:prstGeom>
        </p:spPr>
        <p:txBody>
          <a:bodyPr lIns="0" tIns="0" rIns="0" bIns="0" rtlCol="0" anchor="t">
            <a:spAutoFit/>
          </a:bodyPr>
          <a:lstStyle/>
          <a:p>
            <a:pPr algn="ctr">
              <a:lnSpc>
                <a:spcPts val="1706"/>
              </a:lnSpc>
            </a:pPr>
            <a:r>
              <a:rPr lang="en-US" sz="1580">
                <a:solidFill>
                  <a:srgbClr val="000000"/>
                </a:solidFill>
                <a:latin typeface="Times New Roman"/>
                <a:ea typeface="Times New Roman"/>
                <a:cs typeface="Times New Roman"/>
                <a:sym typeface="Times New Roman"/>
              </a:rPr>
              <a:t>Répartition des amendements de la XVIIème législature* selon leur sourcing (en %)</a:t>
            </a:r>
          </a:p>
        </p:txBody>
      </p:sp>
      <p:sp>
        <p:nvSpPr>
          <p:cNvPr id="9" name="TextBox 9"/>
          <p:cNvSpPr txBox="1"/>
          <p:nvPr/>
        </p:nvSpPr>
        <p:spPr>
          <a:xfrm>
            <a:off x="1289513" y="8634730"/>
            <a:ext cx="8900691" cy="217170"/>
          </a:xfrm>
          <a:prstGeom prst="rect">
            <a:avLst/>
          </a:prstGeom>
        </p:spPr>
        <p:txBody>
          <a:bodyPr lIns="0" tIns="0" rIns="0" bIns="0" rtlCol="0" anchor="t">
            <a:spAutoFit/>
          </a:bodyPr>
          <a:lstStyle/>
          <a:p>
            <a:pPr algn="l">
              <a:lnSpc>
                <a:spcPts val="1679"/>
              </a:lnSpc>
            </a:pPr>
            <a:r>
              <a:rPr lang="en-US" sz="1199">
                <a:solidFill>
                  <a:srgbClr val="000000"/>
                </a:solidFill>
                <a:latin typeface="Times New Roman"/>
                <a:ea typeface="Times New Roman"/>
                <a:cs typeface="Times New Roman"/>
                <a:sym typeface="Times New Roman"/>
              </a:rPr>
              <a:t>*à l’exclusion des amendements dont l’exposé sommaire est null ou d’une longueur &gt;1024 tokens.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82466" y="4763146"/>
            <a:ext cx="5345860" cy="4246467"/>
          </a:xfrm>
          <a:custGeom>
            <a:avLst/>
            <a:gdLst/>
            <a:ahLst/>
            <a:cxnLst/>
            <a:rect l="l" t="t" r="r" b="b"/>
            <a:pathLst>
              <a:path w="5345860" h="4246467">
                <a:moveTo>
                  <a:pt x="0" y="0"/>
                </a:moveTo>
                <a:lnTo>
                  <a:pt x="5345860" y="0"/>
                </a:lnTo>
                <a:lnTo>
                  <a:pt x="5345860" y="4246467"/>
                </a:lnTo>
                <a:lnTo>
                  <a:pt x="0" y="4246467"/>
                </a:lnTo>
                <a:lnTo>
                  <a:pt x="0" y="0"/>
                </a:lnTo>
                <a:close/>
              </a:path>
            </a:pathLst>
          </a:custGeom>
          <a:blipFill>
            <a:blip r:embed="rId3"/>
            <a:stretch>
              <a:fillRect/>
            </a:stretch>
          </a:blipFill>
        </p:spPr>
        <p:txBody>
          <a:bodyPr/>
          <a:lstStyle/>
          <a:p>
            <a:endParaRPr lang="fr-FR"/>
          </a:p>
        </p:txBody>
      </p:sp>
      <p:sp>
        <p:nvSpPr>
          <p:cNvPr id="3" name="Freeform 3"/>
          <p:cNvSpPr/>
          <p:nvPr/>
        </p:nvSpPr>
        <p:spPr>
          <a:xfrm>
            <a:off x="1028700" y="2059389"/>
            <a:ext cx="8882565" cy="7167614"/>
          </a:xfrm>
          <a:custGeom>
            <a:avLst/>
            <a:gdLst/>
            <a:ahLst/>
            <a:cxnLst/>
            <a:rect l="l" t="t" r="r" b="b"/>
            <a:pathLst>
              <a:path w="8882565" h="7167614">
                <a:moveTo>
                  <a:pt x="0" y="0"/>
                </a:moveTo>
                <a:lnTo>
                  <a:pt x="8882565" y="0"/>
                </a:lnTo>
                <a:lnTo>
                  <a:pt x="8882565" y="7167615"/>
                </a:lnTo>
                <a:lnTo>
                  <a:pt x="0" y="7167615"/>
                </a:lnTo>
                <a:lnTo>
                  <a:pt x="0" y="0"/>
                </a:lnTo>
                <a:close/>
              </a:path>
            </a:pathLst>
          </a:custGeom>
          <a:blipFill>
            <a:blip r:embed="rId4"/>
            <a:stretch>
              <a:fillRect/>
            </a:stretch>
          </a:blipFill>
        </p:spPr>
        <p:txBody>
          <a:bodyPr/>
          <a:lstStyle/>
          <a:p>
            <a:endParaRPr lang="fr-FR"/>
          </a:p>
        </p:txBody>
      </p:sp>
      <p:sp>
        <p:nvSpPr>
          <p:cNvPr id="4" name="TextBox 4"/>
          <p:cNvSpPr txBox="1"/>
          <p:nvPr/>
        </p:nvSpPr>
        <p:spPr>
          <a:xfrm>
            <a:off x="1028700" y="923925"/>
            <a:ext cx="8882565"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Résultats</a:t>
            </a:r>
          </a:p>
        </p:txBody>
      </p:sp>
      <p:sp>
        <p:nvSpPr>
          <p:cNvPr id="5" name="TextBox 5"/>
          <p:cNvSpPr txBox="1"/>
          <p:nvPr/>
        </p:nvSpPr>
        <p:spPr>
          <a:xfrm>
            <a:off x="9144000" y="1824439"/>
            <a:ext cx="8882565" cy="422275"/>
          </a:xfrm>
          <a:prstGeom prst="rect">
            <a:avLst/>
          </a:prstGeom>
        </p:spPr>
        <p:txBody>
          <a:bodyPr lIns="0" tIns="0" rIns="0" bIns="0" rtlCol="0" anchor="t">
            <a:spAutoFit/>
          </a:bodyPr>
          <a:lstStyle/>
          <a:p>
            <a:pPr algn="l">
              <a:lnSpc>
                <a:spcPts val="3499"/>
              </a:lnSpc>
            </a:pPr>
            <a:r>
              <a:rPr lang="en-US" sz="2499">
                <a:solidFill>
                  <a:srgbClr val="000000"/>
                </a:solidFill>
                <a:latin typeface="Open Sauce"/>
                <a:ea typeface="Open Sauce"/>
                <a:cs typeface="Open Sauce"/>
                <a:sym typeface="Open Sauce"/>
              </a:rPr>
              <a:t>(RQ2) : Différence substantielle entre groupes politiques.</a:t>
            </a:r>
          </a:p>
        </p:txBody>
      </p:sp>
      <p:sp>
        <p:nvSpPr>
          <p:cNvPr id="6" name="TextBox 6"/>
          <p:cNvSpPr txBox="1"/>
          <p:nvPr/>
        </p:nvSpPr>
        <p:spPr>
          <a:xfrm>
            <a:off x="1590590" y="9220200"/>
            <a:ext cx="8900691" cy="217170"/>
          </a:xfrm>
          <a:prstGeom prst="rect">
            <a:avLst/>
          </a:prstGeom>
        </p:spPr>
        <p:txBody>
          <a:bodyPr lIns="0" tIns="0" rIns="0" bIns="0" rtlCol="0" anchor="t">
            <a:spAutoFit/>
          </a:bodyPr>
          <a:lstStyle/>
          <a:p>
            <a:pPr algn="l">
              <a:lnSpc>
                <a:spcPts val="1679"/>
              </a:lnSpc>
            </a:pPr>
            <a:r>
              <a:rPr lang="en-US" sz="1199">
                <a:solidFill>
                  <a:srgbClr val="000000"/>
                </a:solidFill>
                <a:latin typeface="Times New Roman"/>
                <a:ea typeface="Times New Roman"/>
                <a:cs typeface="Times New Roman"/>
                <a:sym typeface="Times New Roman"/>
              </a:rPr>
              <a:t>*à l’exclusion des amendements dont l’exposé sommaire est null ou d’une longueur &gt;1024 tokens.</a:t>
            </a:r>
          </a:p>
        </p:txBody>
      </p:sp>
      <p:sp>
        <p:nvSpPr>
          <p:cNvPr id="7" name="TextBox 7"/>
          <p:cNvSpPr txBox="1"/>
          <p:nvPr/>
        </p:nvSpPr>
        <p:spPr>
          <a:xfrm>
            <a:off x="9314274" y="4362568"/>
            <a:ext cx="3815954" cy="1736725"/>
          </a:xfrm>
          <a:prstGeom prst="rect">
            <a:avLst/>
          </a:prstGeom>
        </p:spPr>
        <p:txBody>
          <a:bodyPr lIns="0" tIns="0" rIns="0" bIns="0" rtlCol="0" anchor="t">
            <a:spAutoFit/>
          </a:bodyPr>
          <a:lstStyle/>
          <a:p>
            <a:pPr marL="539749" lvl="1" indent="-269875" algn="l">
              <a:lnSpc>
                <a:spcPts val="3499"/>
              </a:lnSpc>
              <a:buFont typeface="Arial"/>
              <a:buChar char="•"/>
            </a:pPr>
            <a:r>
              <a:rPr lang="en-US" sz="2499">
                <a:solidFill>
                  <a:srgbClr val="000000"/>
                </a:solidFill>
                <a:latin typeface="Open Sauce"/>
                <a:ea typeface="Open Sauce"/>
                <a:cs typeface="Open Sauce"/>
                <a:sym typeface="Open Sauce"/>
              </a:rPr>
              <a:t>À mettre au regard du volume des amendements déposés </a:t>
            </a:r>
          </a:p>
        </p:txBody>
      </p:sp>
      <p:sp>
        <p:nvSpPr>
          <p:cNvPr id="8" name="TextBox 8"/>
          <p:cNvSpPr txBox="1"/>
          <p:nvPr/>
        </p:nvSpPr>
        <p:spPr>
          <a:xfrm>
            <a:off x="9314274" y="2769177"/>
            <a:ext cx="7131983" cy="860425"/>
          </a:xfrm>
          <a:prstGeom prst="rect">
            <a:avLst/>
          </a:prstGeom>
        </p:spPr>
        <p:txBody>
          <a:bodyPr lIns="0" tIns="0" rIns="0" bIns="0" rtlCol="0" anchor="t">
            <a:spAutoFit/>
          </a:bodyPr>
          <a:lstStyle/>
          <a:p>
            <a:pPr marL="539749" lvl="1" indent="-269875" algn="l">
              <a:lnSpc>
                <a:spcPts val="3499"/>
              </a:lnSpc>
              <a:buFont typeface="Arial"/>
              <a:buChar char="•"/>
            </a:pPr>
            <a:r>
              <a:rPr lang="en-US" sz="2499">
                <a:solidFill>
                  <a:srgbClr val="000000"/>
                </a:solidFill>
                <a:latin typeface="Open Sauce"/>
                <a:ea typeface="Open Sauce"/>
                <a:cs typeface="Open Sauce"/>
                <a:sym typeface="Open Sauce"/>
              </a:rPr>
              <a:t>Les NI et LIOT sont-ils plus soumis à influence ou plus transparents ?</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28700" y="923925"/>
            <a:ext cx="8882565"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Intérêt, limites</a:t>
            </a:r>
          </a:p>
        </p:txBody>
      </p:sp>
      <p:sp>
        <p:nvSpPr>
          <p:cNvPr id="3" name="TextBox 3"/>
          <p:cNvSpPr txBox="1"/>
          <p:nvPr/>
        </p:nvSpPr>
        <p:spPr>
          <a:xfrm>
            <a:off x="1028700" y="2214441"/>
            <a:ext cx="16518261" cy="523875"/>
          </a:xfrm>
          <a:prstGeom prst="rect">
            <a:avLst/>
          </a:prstGeom>
        </p:spPr>
        <p:txBody>
          <a:bodyPr lIns="0" tIns="0" rIns="0" bIns="0" rtlCol="0" anchor="t">
            <a:spAutoFit/>
          </a:bodyPr>
          <a:lstStyle/>
          <a:p>
            <a:pPr algn="ctr">
              <a:lnSpc>
                <a:spcPts val="4200"/>
              </a:lnSpc>
            </a:pPr>
            <a:r>
              <a:rPr lang="en-US" sz="3000" b="1">
                <a:solidFill>
                  <a:srgbClr val="E98E2D"/>
                </a:solidFill>
                <a:latin typeface="Open Sauce Bold"/>
                <a:ea typeface="Open Sauce Bold"/>
                <a:cs typeface="Open Sauce Bold"/>
                <a:sym typeface="Open Sauce Bold"/>
              </a:rPr>
              <a:t>Est-ce qu’un decoder (Claude, ChatGPT) aurait pu le faire ?</a:t>
            </a:r>
          </a:p>
        </p:txBody>
      </p:sp>
      <p:sp>
        <p:nvSpPr>
          <p:cNvPr id="4" name="TextBox 4"/>
          <p:cNvSpPr txBox="1"/>
          <p:nvPr/>
        </p:nvSpPr>
        <p:spPr>
          <a:xfrm>
            <a:off x="1028700" y="3306362"/>
            <a:ext cx="14815226" cy="5238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Si le codebook est déjà optimal, oui.</a:t>
            </a:r>
          </a:p>
        </p:txBody>
      </p:sp>
      <p:sp>
        <p:nvSpPr>
          <p:cNvPr id="5" name="TextBox 5"/>
          <p:cNvSpPr txBox="1"/>
          <p:nvPr/>
        </p:nvSpPr>
        <p:spPr>
          <a:xfrm>
            <a:off x="1920485" y="4287437"/>
            <a:ext cx="14815226" cy="26574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MAIS mettre en perspective la nature de notre cas : </a:t>
            </a:r>
          </a:p>
          <a:p>
            <a:pPr marL="647700" lvl="1" indent="-323850" algn="l">
              <a:lnSpc>
                <a:spcPts val="4200"/>
              </a:lnSpc>
              <a:buFont typeface="Arial"/>
              <a:buChar char="•"/>
            </a:pPr>
            <a:r>
              <a:rPr lang="en-US" sz="3000">
                <a:solidFill>
                  <a:srgbClr val="000000"/>
                </a:solidFill>
                <a:latin typeface="Open Sauce"/>
                <a:ea typeface="Open Sauce"/>
                <a:cs typeface="Open Sauce"/>
                <a:sym typeface="Open Sauce"/>
              </a:rPr>
              <a:t>Codebook amélioré :</a:t>
            </a:r>
            <a:r>
              <a:rPr lang="en-US" sz="3000" b="1">
                <a:solidFill>
                  <a:srgbClr val="000000"/>
                </a:solidFill>
                <a:latin typeface="Open Sauce Bold"/>
                <a:ea typeface="Open Sauce Bold"/>
                <a:cs typeface="Open Sauce Bold"/>
                <a:sym typeface="Open Sauce Bold"/>
              </a:rPr>
              <a:t> Augmentation </a:t>
            </a:r>
            <a:r>
              <a:rPr lang="en-US" sz="3000">
                <a:solidFill>
                  <a:srgbClr val="000000"/>
                </a:solidFill>
                <a:latin typeface="Open Sauce"/>
                <a:ea typeface="Open Sauce"/>
                <a:cs typeface="Open Sauce"/>
                <a:sym typeface="Open Sauce"/>
              </a:rPr>
              <a:t>de la chercheuse ou du chercheur</a:t>
            </a:r>
          </a:p>
          <a:p>
            <a:pPr marL="647700" lvl="1" indent="-323850" algn="l">
              <a:lnSpc>
                <a:spcPts val="4200"/>
              </a:lnSpc>
              <a:buFont typeface="Arial"/>
              <a:buChar char="•"/>
            </a:pPr>
            <a:r>
              <a:rPr lang="en-US" sz="3000" b="1">
                <a:solidFill>
                  <a:srgbClr val="000000"/>
                </a:solidFill>
                <a:latin typeface="Open Sauce Bold"/>
                <a:ea typeface="Open Sauce Bold"/>
                <a:cs typeface="Open Sauce Bold"/>
                <a:sym typeface="Open Sauce Bold"/>
              </a:rPr>
              <a:t>Simplicité de la tâche</a:t>
            </a:r>
            <a:r>
              <a:rPr lang="en-US" sz="3000">
                <a:solidFill>
                  <a:srgbClr val="000000"/>
                </a:solidFill>
                <a:latin typeface="Open Sauce"/>
                <a:ea typeface="Open Sauce"/>
                <a:cs typeface="Open Sauce"/>
                <a:sym typeface="Open Sauce"/>
              </a:rPr>
              <a:t> (peu d’appréciation subjective)</a:t>
            </a:r>
          </a:p>
          <a:p>
            <a:pPr marL="647700" lvl="1" indent="-323850" algn="l">
              <a:lnSpc>
                <a:spcPts val="4200"/>
              </a:lnSpc>
              <a:buFont typeface="Arial"/>
              <a:buChar char="•"/>
            </a:pPr>
            <a:r>
              <a:rPr lang="en-US" sz="3000" b="1">
                <a:solidFill>
                  <a:srgbClr val="000000"/>
                </a:solidFill>
                <a:latin typeface="Open Sauce Bold"/>
                <a:ea typeface="Open Sauce Bold"/>
                <a:cs typeface="Open Sauce Bold"/>
                <a:sym typeface="Open Sauce Bold"/>
              </a:rPr>
              <a:t>Absence de sensibilité des données </a:t>
            </a:r>
          </a:p>
          <a:p>
            <a:pPr marL="647700" lvl="1" indent="-323850" algn="l">
              <a:lnSpc>
                <a:spcPts val="4200"/>
              </a:lnSpc>
              <a:buFont typeface="Arial"/>
              <a:buChar char="•"/>
            </a:pPr>
            <a:r>
              <a:rPr lang="en-US" sz="3000" b="1">
                <a:solidFill>
                  <a:srgbClr val="000000"/>
                </a:solidFill>
                <a:latin typeface="Open Sauce Bold"/>
                <a:ea typeface="Open Sauce Bold"/>
                <a:cs typeface="Open Sauce Bold"/>
                <a:sym typeface="Open Sauce Bold"/>
              </a:rPr>
              <a:t>Coût temporel limité </a:t>
            </a:r>
            <a:r>
              <a:rPr lang="en-US" sz="3000">
                <a:solidFill>
                  <a:srgbClr val="000000"/>
                </a:solidFill>
                <a:latin typeface="Open Sauce"/>
                <a:ea typeface="Open Sauce"/>
                <a:cs typeface="Open Sauce"/>
                <a:sym typeface="Open Sauce"/>
              </a:rPr>
              <a:t>(peu d’annotations)</a:t>
            </a:r>
          </a:p>
        </p:txBody>
      </p:sp>
      <p:sp>
        <p:nvSpPr>
          <p:cNvPr id="6" name="TextBox 6"/>
          <p:cNvSpPr txBox="1"/>
          <p:nvPr/>
        </p:nvSpPr>
        <p:spPr>
          <a:xfrm>
            <a:off x="1920485" y="7402112"/>
            <a:ext cx="14815226" cy="15906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À cela s’ajoutent : </a:t>
            </a:r>
          </a:p>
          <a:p>
            <a:pPr marL="647700" lvl="1" indent="-323850" algn="l">
              <a:lnSpc>
                <a:spcPts val="4200"/>
              </a:lnSpc>
              <a:buFont typeface="Arial"/>
              <a:buChar char="•"/>
            </a:pPr>
            <a:r>
              <a:rPr lang="en-US" sz="3000" b="1">
                <a:solidFill>
                  <a:srgbClr val="000000"/>
                </a:solidFill>
                <a:latin typeface="Open Sauce Bold"/>
                <a:ea typeface="Open Sauce Bold"/>
                <a:cs typeface="Open Sauce Bold"/>
                <a:sym typeface="Open Sauce Bold"/>
              </a:rPr>
              <a:t>Coûts économique, environnemental </a:t>
            </a:r>
          </a:p>
          <a:p>
            <a:pPr marL="647700" lvl="1" indent="-323850" algn="l">
              <a:lnSpc>
                <a:spcPts val="4200"/>
              </a:lnSpc>
              <a:buFont typeface="Arial"/>
              <a:buChar char="•"/>
            </a:pPr>
            <a:r>
              <a:rPr lang="en-US" sz="3000" b="1">
                <a:solidFill>
                  <a:srgbClr val="000000"/>
                </a:solidFill>
                <a:latin typeface="Open Sauce Bold"/>
                <a:ea typeface="Open Sauce Bold"/>
                <a:cs typeface="Open Sauce Bold"/>
                <a:sym typeface="Open Sauce Bold"/>
              </a:rPr>
              <a:t>Réplicabilité </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28700" y="923925"/>
            <a:ext cx="8882565" cy="863600"/>
          </a:xfrm>
          <a:prstGeom prst="rect">
            <a:avLst/>
          </a:prstGeom>
        </p:spPr>
        <p:txBody>
          <a:bodyPr lIns="0" tIns="0" rIns="0" bIns="0" rtlCol="0" anchor="t">
            <a:spAutoFit/>
          </a:bodyPr>
          <a:lstStyle/>
          <a:p>
            <a:pPr algn="l">
              <a:lnSpc>
                <a:spcPts val="7000"/>
              </a:lnSpc>
            </a:pPr>
            <a:r>
              <a:rPr lang="en-US" sz="5000" b="1">
                <a:solidFill>
                  <a:srgbClr val="000000"/>
                </a:solidFill>
                <a:latin typeface="Open Sauce Bold"/>
                <a:ea typeface="Open Sauce Bold"/>
                <a:cs typeface="Open Sauce Bold"/>
                <a:sym typeface="Open Sauce Bold"/>
              </a:rPr>
              <a:t>Intérêt, limites</a:t>
            </a:r>
          </a:p>
        </p:txBody>
      </p:sp>
      <p:sp>
        <p:nvSpPr>
          <p:cNvPr id="3" name="TextBox 3"/>
          <p:cNvSpPr txBox="1"/>
          <p:nvPr/>
        </p:nvSpPr>
        <p:spPr>
          <a:xfrm>
            <a:off x="1028700" y="2613981"/>
            <a:ext cx="14815226" cy="523875"/>
          </a:xfrm>
          <a:prstGeom prst="rect">
            <a:avLst/>
          </a:prstGeom>
        </p:spPr>
        <p:txBody>
          <a:bodyPr lIns="0" tIns="0" rIns="0" bIns="0" rtlCol="0" anchor="t">
            <a:spAutoFit/>
          </a:bodyPr>
          <a:lstStyle/>
          <a:p>
            <a:pPr algn="l">
              <a:lnSpc>
                <a:spcPts val="4200"/>
              </a:lnSpc>
            </a:pPr>
            <a:r>
              <a:rPr lang="en-US" sz="3000">
                <a:solidFill>
                  <a:srgbClr val="000000"/>
                </a:solidFill>
                <a:latin typeface="Open Sauce"/>
                <a:ea typeface="Open Sauce"/>
                <a:cs typeface="Open Sauce"/>
                <a:sym typeface="Open Sauce"/>
              </a:rPr>
              <a:t>Ce qu’on aurait pu ajouter ou faire différemment :</a:t>
            </a:r>
          </a:p>
        </p:txBody>
      </p:sp>
      <p:sp>
        <p:nvSpPr>
          <p:cNvPr id="4" name="TextBox 4"/>
          <p:cNvSpPr txBox="1"/>
          <p:nvPr/>
        </p:nvSpPr>
        <p:spPr>
          <a:xfrm>
            <a:off x="1028700" y="3754828"/>
            <a:ext cx="16246703" cy="523875"/>
          </a:xfrm>
          <a:prstGeom prst="rect">
            <a:avLst/>
          </a:prstGeom>
        </p:spPr>
        <p:txBody>
          <a:bodyPr lIns="0" tIns="0" rIns="0" bIns="0" rtlCol="0" anchor="t">
            <a:spAutoFit/>
          </a:bodyPr>
          <a:lstStyle/>
          <a:p>
            <a:pPr marL="647700" lvl="1" indent="-323850" algn="l">
              <a:lnSpc>
                <a:spcPts val="4200"/>
              </a:lnSpc>
              <a:buFont typeface="Arial"/>
              <a:buChar char="•"/>
            </a:pPr>
            <a:r>
              <a:rPr lang="en-US" sz="3000" b="1">
                <a:solidFill>
                  <a:srgbClr val="000000"/>
                </a:solidFill>
                <a:latin typeface="Open Sauce Bold"/>
                <a:ea typeface="Open Sauce Bold"/>
                <a:cs typeface="Open Sauce Bold"/>
                <a:sym typeface="Open Sauce Bold"/>
              </a:rPr>
              <a:t>Exploration</a:t>
            </a:r>
            <a:r>
              <a:rPr lang="en-US" sz="3000">
                <a:solidFill>
                  <a:srgbClr val="000000"/>
                </a:solidFill>
                <a:latin typeface="Open Sauce"/>
                <a:ea typeface="Open Sauce"/>
                <a:cs typeface="Open Sauce"/>
                <a:sym typeface="Open Sauce"/>
              </a:rPr>
              <a:t> </a:t>
            </a:r>
            <a:r>
              <a:rPr lang="en-US" sz="3000" b="1">
                <a:solidFill>
                  <a:srgbClr val="000000"/>
                </a:solidFill>
                <a:latin typeface="Open Sauce Bold"/>
                <a:ea typeface="Open Sauce Bold"/>
                <a:cs typeface="Open Sauce Bold"/>
                <a:sym typeface="Open Sauce Bold"/>
              </a:rPr>
              <a:t>préalable</a:t>
            </a:r>
            <a:r>
              <a:rPr lang="en-US" sz="3000">
                <a:solidFill>
                  <a:srgbClr val="000000"/>
                </a:solidFill>
                <a:latin typeface="Open Sauce"/>
                <a:ea typeface="Open Sauce"/>
                <a:cs typeface="Open Sauce"/>
                <a:sym typeface="Open Sauce"/>
              </a:rPr>
              <a:t> des données via les outils intégrés dans ActiveTigger</a:t>
            </a:r>
          </a:p>
        </p:txBody>
      </p:sp>
      <p:sp>
        <p:nvSpPr>
          <p:cNvPr id="5" name="TextBox 5"/>
          <p:cNvSpPr txBox="1"/>
          <p:nvPr/>
        </p:nvSpPr>
        <p:spPr>
          <a:xfrm>
            <a:off x="1028700" y="4848225"/>
            <a:ext cx="16246703" cy="2657475"/>
          </a:xfrm>
          <a:prstGeom prst="rect">
            <a:avLst/>
          </a:prstGeom>
        </p:spPr>
        <p:txBody>
          <a:bodyPr lIns="0" tIns="0" rIns="0" bIns="0" rtlCol="0" anchor="t">
            <a:spAutoFit/>
          </a:bodyPr>
          <a:lstStyle/>
          <a:p>
            <a:pPr marL="647700" lvl="1" indent="-323850" algn="l">
              <a:lnSpc>
                <a:spcPts val="4200"/>
              </a:lnSpc>
              <a:buFont typeface="Arial"/>
              <a:buChar char="•"/>
            </a:pPr>
            <a:r>
              <a:rPr lang="en-US" sz="3000" b="1">
                <a:solidFill>
                  <a:srgbClr val="000000"/>
                </a:solidFill>
                <a:latin typeface="Open Sauce Bold"/>
                <a:ea typeface="Open Sauce Bold"/>
                <a:cs typeface="Open Sauce Bold"/>
                <a:sym typeface="Open Sauce Bold"/>
              </a:rPr>
              <a:t>Plus d’annotations</a:t>
            </a:r>
            <a:r>
              <a:rPr lang="en-US" sz="3000">
                <a:solidFill>
                  <a:srgbClr val="000000"/>
                </a:solidFill>
                <a:latin typeface="Open Sauce"/>
                <a:ea typeface="Open Sauce"/>
                <a:cs typeface="Open Sauce"/>
                <a:sym typeface="Open Sauce"/>
              </a:rPr>
              <a:t> :</a:t>
            </a:r>
          </a:p>
          <a:p>
            <a:pPr marL="1295400" lvl="2" indent="-431800" algn="l">
              <a:lnSpc>
                <a:spcPts val="4200"/>
              </a:lnSpc>
              <a:buFont typeface="Arial"/>
              <a:buChar char="⚬"/>
            </a:pPr>
            <a:r>
              <a:rPr lang="en-US" sz="3000">
                <a:solidFill>
                  <a:srgbClr val="000000"/>
                </a:solidFill>
                <a:latin typeface="Open Sauce"/>
                <a:ea typeface="Open Sauce"/>
                <a:cs typeface="Open Sauce"/>
                <a:sym typeface="Open Sauce"/>
              </a:rPr>
              <a:t>validation et test sets (meilleur F1)</a:t>
            </a:r>
          </a:p>
          <a:p>
            <a:pPr marL="1295400" lvl="2" indent="-431800" algn="l">
              <a:lnSpc>
                <a:spcPts val="4200"/>
              </a:lnSpc>
              <a:buFont typeface="Arial"/>
              <a:buChar char="⚬"/>
            </a:pPr>
            <a:r>
              <a:rPr lang="en-US" sz="3000">
                <a:solidFill>
                  <a:srgbClr val="000000"/>
                </a:solidFill>
                <a:latin typeface="Open Sauce"/>
                <a:ea typeface="Open Sauce"/>
                <a:cs typeface="Open Sauce"/>
                <a:sym typeface="Open Sauce"/>
              </a:rPr>
              <a:t>train set pour la catégorie “source” </a:t>
            </a:r>
          </a:p>
          <a:p>
            <a:pPr algn="l">
              <a:lnSpc>
                <a:spcPts val="4200"/>
              </a:lnSpc>
            </a:pPr>
            <a:endParaRPr lang="en-US" sz="3000">
              <a:solidFill>
                <a:srgbClr val="000000"/>
              </a:solidFill>
              <a:latin typeface="Open Sauce"/>
              <a:ea typeface="Open Sauce"/>
              <a:cs typeface="Open Sauce"/>
              <a:sym typeface="Open Sauce"/>
            </a:endParaRPr>
          </a:p>
          <a:p>
            <a:pPr marL="647700" lvl="1" indent="-323850" algn="l">
              <a:lnSpc>
                <a:spcPts val="4200"/>
              </a:lnSpc>
              <a:buFont typeface="Arial"/>
              <a:buChar char="•"/>
            </a:pPr>
            <a:r>
              <a:rPr lang="en-US" sz="3000" b="1">
                <a:solidFill>
                  <a:srgbClr val="000000"/>
                </a:solidFill>
                <a:latin typeface="Open Sauce Bold"/>
                <a:ea typeface="Open Sauce Bold"/>
                <a:cs typeface="Open Sauce Bold"/>
                <a:sym typeface="Open Sauce Bold"/>
              </a:rPr>
              <a:t>Annotation croisée</a:t>
            </a:r>
            <a:r>
              <a:rPr lang="en-US" sz="3000">
                <a:solidFill>
                  <a:srgbClr val="000000"/>
                </a:solidFill>
                <a:latin typeface="Open Sauce"/>
                <a:ea typeface="Open Sauce"/>
                <a:cs typeface="Open Sauce"/>
                <a:sym typeface="Open Sauce"/>
              </a:rPr>
              <a:t> d’une partie des données (interannotator agreement score)</a:t>
            </a:r>
          </a:p>
        </p:txBody>
      </p:sp>
      <p:sp>
        <p:nvSpPr>
          <p:cNvPr id="6" name="TextBox 6"/>
          <p:cNvSpPr txBox="1"/>
          <p:nvPr/>
        </p:nvSpPr>
        <p:spPr>
          <a:xfrm>
            <a:off x="1012597" y="8077200"/>
            <a:ext cx="16246703" cy="523875"/>
          </a:xfrm>
          <a:prstGeom prst="rect">
            <a:avLst/>
          </a:prstGeom>
        </p:spPr>
        <p:txBody>
          <a:bodyPr lIns="0" tIns="0" rIns="0" bIns="0" rtlCol="0" anchor="t">
            <a:spAutoFit/>
          </a:bodyPr>
          <a:lstStyle/>
          <a:p>
            <a:pPr marL="647700" lvl="1" indent="-323850" algn="l">
              <a:lnSpc>
                <a:spcPts val="4200"/>
              </a:lnSpc>
              <a:buFont typeface="Arial"/>
              <a:buChar char="•"/>
            </a:pPr>
            <a:r>
              <a:rPr lang="en-US" sz="3000" b="1">
                <a:solidFill>
                  <a:srgbClr val="000000"/>
                </a:solidFill>
                <a:latin typeface="Open Sauce Bold"/>
                <a:ea typeface="Open Sauce Bold"/>
                <a:cs typeface="Open Sauce Bold"/>
                <a:sym typeface="Open Sauce Bold"/>
              </a:rPr>
              <a:t>Annotation manuelle </a:t>
            </a:r>
            <a:r>
              <a:rPr lang="en-US" sz="3000">
                <a:solidFill>
                  <a:srgbClr val="000000"/>
                </a:solidFill>
                <a:latin typeface="Open Sauce"/>
                <a:ea typeface="Open Sauce"/>
                <a:cs typeface="Open Sauce"/>
                <a:sym typeface="Open Sauce"/>
              </a:rPr>
              <a:t>des 664 données de +1024 tokens retirées du dataset.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6703452" y="3570946"/>
            <a:ext cx="4881096" cy="863600"/>
          </a:xfrm>
          <a:prstGeom prst="rect">
            <a:avLst/>
          </a:prstGeom>
        </p:spPr>
        <p:txBody>
          <a:bodyPr lIns="0" tIns="0" rIns="0" bIns="0" rtlCol="0" anchor="t">
            <a:spAutoFit/>
          </a:bodyPr>
          <a:lstStyle/>
          <a:p>
            <a:pPr algn="ctr">
              <a:lnSpc>
                <a:spcPts val="7000"/>
              </a:lnSpc>
            </a:pPr>
            <a:r>
              <a:rPr lang="en-US" sz="5000" b="1">
                <a:solidFill>
                  <a:srgbClr val="000000"/>
                </a:solidFill>
                <a:latin typeface="Open Sauce Bold"/>
                <a:ea typeface="Open Sauce Bold"/>
                <a:cs typeface="Open Sauce Bold"/>
                <a:sym typeface="Open Sauce Bold"/>
              </a:rPr>
              <a:t>Merci !</a:t>
            </a:r>
          </a:p>
        </p:txBody>
      </p:sp>
      <p:sp>
        <p:nvSpPr>
          <p:cNvPr id="3" name="Freeform 3"/>
          <p:cNvSpPr/>
          <p:nvPr/>
        </p:nvSpPr>
        <p:spPr>
          <a:xfrm>
            <a:off x="8634413" y="2629369"/>
            <a:ext cx="1019174" cy="1046352"/>
          </a:xfrm>
          <a:custGeom>
            <a:avLst/>
            <a:gdLst/>
            <a:ahLst/>
            <a:cxnLst/>
            <a:rect l="l" t="t" r="r" b="b"/>
            <a:pathLst>
              <a:path w="1019174" h="1046352">
                <a:moveTo>
                  <a:pt x="0" y="0"/>
                </a:moveTo>
                <a:lnTo>
                  <a:pt x="1019174" y="0"/>
                </a:lnTo>
                <a:lnTo>
                  <a:pt x="1019174" y="1046352"/>
                </a:lnTo>
                <a:lnTo>
                  <a:pt x="0" y="1046352"/>
                </a:lnTo>
                <a:lnTo>
                  <a:pt x="0" y="0"/>
                </a:lnTo>
                <a:close/>
              </a:path>
            </a:pathLst>
          </a:custGeom>
          <a:blipFill>
            <a:blip r:embed="rId2"/>
            <a:stretch>
              <a:fillRect/>
            </a:stretch>
          </a:blipFill>
        </p:spPr>
        <p:txBody>
          <a:bodyPr/>
          <a:lstStyle/>
          <a:p>
            <a:endParaRPr lang="fr-FR"/>
          </a:p>
        </p:txBody>
      </p:sp>
      <p:sp>
        <p:nvSpPr>
          <p:cNvPr id="4" name="TextBox 4"/>
          <p:cNvSpPr txBox="1"/>
          <p:nvPr/>
        </p:nvSpPr>
        <p:spPr>
          <a:xfrm>
            <a:off x="2863163" y="5385190"/>
            <a:ext cx="12561675" cy="1057275"/>
          </a:xfrm>
          <a:prstGeom prst="rect">
            <a:avLst/>
          </a:prstGeom>
        </p:spPr>
        <p:txBody>
          <a:bodyPr lIns="0" tIns="0" rIns="0" bIns="0" rtlCol="0" anchor="t">
            <a:spAutoFit/>
          </a:bodyPr>
          <a:lstStyle/>
          <a:p>
            <a:pPr algn="ctr">
              <a:lnSpc>
                <a:spcPts val="4200"/>
              </a:lnSpc>
            </a:pPr>
            <a:r>
              <a:rPr lang="en-US" sz="3000">
                <a:solidFill>
                  <a:srgbClr val="000000"/>
                </a:solidFill>
                <a:latin typeface="Open Sauce"/>
                <a:ea typeface="Open Sauce"/>
                <a:cs typeface="Open Sauce"/>
                <a:sym typeface="Open Sauce"/>
              </a:rPr>
              <a:t>Demande de compte, documentation, lien GitHub, lien Discord : </a:t>
            </a:r>
          </a:p>
          <a:p>
            <a:pPr algn="ctr">
              <a:lnSpc>
                <a:spcPts val="4200"/>
              </a:lnSpc>
            </a:pPr>
            <a:r>
              <a:rPr lang="en-US" sz="3000" b="1">
                <a:solidFill>
                  <a:srgbClr val="000000"/>
                </a:solidFill>
                <a:latin typeface="Open Sauce Bold"/>
                <a:ea typeface="Open Sauce Bold"/>
                <a:cs typeface="Open Sauce Bold"/>
                <a:sym typeface="Open Sauce Bold"/>
              </a:rPr>
              <a:t>https://activetigger.com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2326</Words>
  <Application>Microsoft Macintosh PowerPoint</Application>
  <PresentationFormat>Personnalisé</PresentationFormat>
  <Paragraphs>334</Paragraphs>
  <Slides>39</Slides>
  <Notes>29</Notes>
  <HiddenSlides>4</HiddenSlides>
  <MMClips>0</MMClips>
  <ScaleCrop>false</ScaleCrop>
  <HeadingPairs>
    <vt:vector size="6" baseType="variant">
      <vt:variant>
        <vt:lpstr>Polices utilisées</vt:lpstr>
      </vt:variant>
      <vt:variant>
        <vt:i4>11</vt:i4>
      </vt:variant>
      <vt:variant>
        <vt:lpstr>Thème</vt:lpstr>
      </vt:variant>
      <vt:variant>
        <vt:i4>1</vt:i4>
      </vt:variant>
      <vt:variant>
        <vt:lpstr>Titres des diapositives</vt:lpstr>
      </vt:variant>
      <vt:variant>
        <vt:i4>39</vt:i4>
      </vt:variant>
    </vt:vector>
  </HeadingPairs>
  <TitlesOfParts>
    <vt:vector size="51" baseType="lpstr">
      <vt:lpstr>Times New Roman</vt:lpstr>
      <vt:lpstr>Open Sauce</vt:lpstr>
      <vt:lpstr>Calibri</vt:lpstr>
      <vt:lpstr>Open Sauce Bold</vt:lpstr>
      <vt:lpstr>Open Sans Bold</vt:lpstr>
      <vt:lpstr>Open Sauce Bold Italics</vt:lpstr>
      <vt:lpstr>Calibri (MS)</vt:lpstr>
      <vt:lpstr>Open Sauce Italics</vt:lpstr>
      <vt:lpstr>Gotham Bold</vt:lpstr>
      <vt:lpstr>Open Sans</vt:lpstr>
      <vt:lpstr>Arial</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Votre texte de paragraphe</dc:title>
  <cp:lastModifiedBy>ROUGIER Adrien</cp:lastModifiedBy>
  <cp:revision>2</cp:revision>
  <dcterms:created xsi:type="dcterms:W3CDTF">2006-08-16T00:00:00Z</dcterms:created>
  <dcterms:modified xsi:type="dcterms:W3CDTF">2026-10-13T16:41:45Z</dcterms:modified>
  <dc:identifier>DAHWlGPxRxA</dc:identifier>
</cp:coreProperties>
</file>