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Open Sauce Bold" charset="1" panose="00000800000000000000"/>
      <p:regular r:id="rId46"/>
    </p:embeddedFont>
    <p:embeddedFont>
      <p:font typeface="Open Sauce" charset="1" panose="00000500000000000000"/>
      <p:regular r:id="rId47"/>
    </p:embeddedFont>
    <p:embeddedFont>
      <p:font typeface="Open Sauce Bold Italics" charset="1" panose="00000800000000000000"/>
      <p:regular r:id="rId51"/>
    </p:embeddedFont>
    <p:embeddedFont>
      <p:font typeface="Open Sans" charset="1" panose="020B0606030504020204"/>
      <p:regular r:id="rId52"/>
    </p:embeddedFont>
    <p:embeddedFont>
      <p:font typeface="Open Sans Bold" charset="1" panose="020B0806030504020204"/>
      <p:regular r:id="rId53"/>
    </p:embeddedFont>
    <p:embeddedFont>
      <p:font typeface="Gotham Bold" charset="1" panose="00000000000000000000"/>
      <p:regular r:id="rId60"/>
    </p:embeddedFont>
    <p:embeddedFont>
      <p:font typeface="Open Sauce Italics" charset="1" panose="00000500000000000000"/>
      <p:regular r:id="rId62"/>
    </p:embeddedFont>
    <p:embeddedFont>
      <p:font typeface="Calibri (MS)" charset="1" panose="020F0502020204030204"/>
      <p:regular r:id="rId64"/>
    </p:embeddedFont>
    <p:embeddedFont>
      <p:font typeface="Times New Roman" charset="1" panose="02020603050405020304"/>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notesSlides/notesSlide2.xml" Type="http://schemas.openxmlformats.org/officeDocument/2006/relationships/notesSlide"/><Relationship Id="rId55" Target="notesSlides/notesSlide3.xml" Type="http://schemas.openxmlformats.org/officeDocument/2006/relationships/notesSlide"/><Relationship Id="rId56" Target="notesSlides/notesSlide4.xml" Type="http://schemas.openxmlformats.org/officeDocument/2006/relationships/notesSlide"/><Relationship Id="rId57" Target="notesSlides/notesSlide5.xml" Type="http://schemas.openxmlformats.org/officeDocument/2006/relationships/notesSlide"/><Relationship Id="rId58" Target="notesSlides/notesSlide6.xml" Type="http://schemas.openxmlformats.org/officeDocument/2006/relationships/notesSlide"/><Relationship Id="rId59" Target="notesSlides/notesSlide7.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notesSlides/notesSlide8.xml" Type="http://schemas.openxmlformats.org/officeDocument/2006/relationships/notesSlide"/><Relationship Id="rId62" Target="fonts/font62.fntdata" Type="http://schemas.openxmlformats.org/officeDocument/2006/relationships/font"/><Relationship Id="rId63" Target="notesSlides/notesSlide9.xml" Type="http://schemas.openxmlformats.org/officeDocument/2006/relationships/notesSlide"/><Relationship Id="rId64" Target="fonts/font64.fntdata" Type="http://schemas.openxmlformats.org/officeDocument/2006/relationships/font"/><Relationship Id="rId65" Target="fonts/font65.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 députées disposent du droit d’amendement, c’est-à-dire qu’elles peuvent soumettre au vote des modifications aux textes de loi qui leur sont présentés.   </a:t>
            </a:r>
          </a:p>
          <a:p>
            <a:r>
              <a:rPr lang="en-US"/>
              <a:t>Un amendement peut émerger de multiples interactions, allant de discussions avec des administrées jusqu’à la lecture de rapports experts. Cependant, certains sont travaillés en étroite collaboration avec un ou plusieurs groupe(s) d’intérêt, voire proposés “clé en main” par ceux-ci. Pour lutter contre le risque de conflits d’intérêt et promouvoir la transparence de leurs pratiques, certaines députées ont pris pour habitude de citer nommément l’origine de l’amendement lorsque celui-ci provient d’une collaboration avec un représentant d’intérêt. C’est ce qu’on appelle le sourcing des amendements.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use case a avant tout une visée pédagogique. Les questions posées sont donc d'ordre descriptif et n'ont pas pour base la littérature académique.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Seuls 664 amendements ont +1024 tokens. </a:t>
            </a:r>
          </a:p>
          <a:p>
            <a:r>
              <a:rPr lang="en-US"/>
              <a:t/>
            </a:r>
          </a:p>
          <a:p>
            <a:r>
              <a:rPr lang="en-US"/>
              <a:t>Ne pas hésiter à y passer du temps.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facultative. </a:t>
            </a:r>
          </a:p>
          <a:p>
            <a:r>
              <a:rPr lang="en-US"/>
              <a:t/>
            </a:r>
          </a:p>
          <a:p>
            <a:r>
              <a:rPr lang="en-US"/>
              <a:t>Conclusion : Amendement, en retirant ceux de +1024 tokens (on ne peut pas les laisser se faire tronquer car souvent le sourcing apparait à la fin de l'amendement)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Seuls 664 amendements ont +1024 tokens. </a:t>
            </a:r>
          </a:p>
          <a:p>
            <a:r>
              <a:rPr lang="en-US"/>
              <a:t/>
            </a:r>
          </a:p>
          <a:p>
            <a:r>
              <a:rPr lang="en-US"/>
              <a:t>Ne pas hésiter à y passer du temps.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facultative.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Passer rapidement si pas de manipulation des auditeurs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Changer nombre de tokens de 512 à 1024.</a:t>
            </a:r>
          </a:p>
          <a:p>
            <a:r>
              <a:rPr lang="en-US"/>
              <a:t/>
            </a:r>
          </a:p>
          <a:p>
            <a:r>
              <a:rPr lang="en-US"/>
              <a:t>Changer height et width comme voulu (les textes étant très longs, c'est vraiment utile)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Explication des scores à faire plutôt dans l'étape 5 (cf. slide focus).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2" Target="../media/image1.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2" Target="../media/image1.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2.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4.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205297"/>
            <a:ext cx="1482272" cy="1521799"/>
          </a:xfrm>
          <a:custGeom>
            <a:avLst/>
            <a:gdLst/>
            <a:ahLst/>
            <a:cxnLst/>
            <a:rect r="r" b="b" t="t" l="l"/>
            <a:pathLst>
              <a:path h="1521799" w="1482272">
                <a:moveTo>
                  <a:pt x="0" y="0"/>
                </a:moveTo>
                <a:lnTo>
                  <a:pt x="1482272" y="0"/>
                </a:lnTo>
                <a:lnTo>
                  <a:pt x="1482272" y="1521799"/>
                </a:lnTo>
                <a:lnTo>
                  <a:pt x="0" y="1521799"/>
                </a:lnTo>
                <a:lnTo>
                  <a:pt x="0" y="0"/>
                </a:lnTo>
                <a:close/>
              </a:path>
            </a:pathLst>
          </a:custGeom>
          <a:blipFill>
            <a:blip r:embed="rId2"/>
            <a:stretch>
              <a:fillRect l="0" t="0" r="0" b="0"/>
            </a:stretch>
          </a:blipFill>
        </p:spPr>
      </p:sp>
      <p:sp>
        <p:nvSpPr>
          <p:cNvPr name="TextBox 3" id="3"/>
          <p:cNvSpPr txBox="true"/>
          <p:nvPr/>
        </p:nvSpPr>
        <p:spPr>
          <a:xfrm rot="0">
            <a:off x="2913659" y="3039096"/>
            <a:ext cx="15651832" cy="1749425"/>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Use Case : les amendements de la XVIIème législature de l’Assemblée Nationale </a:t>
            </a:r>
          </a:p>
        </p:txBody>
      </p:sp>
      <p:sp>
        <p:nvSpPr>
          <p:cNvPr name="AutoShape 4" id="4"/>
          <p:cNvSpPr/>
          <p:nvPr/>
        </p:nvSpPr>
        <p:spPr>
          <a:xfrm flipV="true">
            <a:off x="1028700" y="1028700"/>
            <a:ext cx="16230600" cy="19050"/>
          </a:xfrm>
          <a:prstGeom prst="line">
            <a:avLst/>
          </a:prstGeom>
          <a:ln cap="flat" w="28575">
            <a:solidFill>
              <a:srgbClr val="000000"/>
            </a:solidFill>
            <a:prstDash val="solid"/>
            <a:headEnd type="none" len="sm" w="sm"/>
            <a:tailEnd type="none" len="sm" w="sm"/>
          </a:ln>
        </p:spPr>
      </p:sp>
      <p:sp>
        <p:nvSpPr>
          <p:cNvPr name="TextBox 5" id="5"/>
          <p:cNvSpPr txBox="true"/>
          <p:nvPr/>
        </p:nvSpPr>
        <p:spPr>
          <a:xfrm rot="0">
            <a:off x="2510972" y="5758829"/>
            <a:ext cx="13408785" cy="1384300"/>
          </a:xfrm>
          <a:prstGeom prst="rect">
            <a:avLst/>
          </a:prstGeom>
        </p:spPr>
        <p:txBody>
          <a:bodyPr anchor="t" rtlCol="false" tIns="0" lIns="0" bIns="0" rIns="0">
            <a:spAutoFit/>
          </a:bodyPr>
          <a:lstStyle/>
          <a:p>
            <a:pPr algn="l">
              <a:lnSpc>
                <a:spcPts val="5599"/>
              </a:lnSpc>
            </a:pPr>
            <a:r>
              <a:rPr lang="en-US" sz="3999">
                <a:solidFill>
                  <a:srgbClr val="000000"/>
                </a:solidFill>
                <a:latin typeface="Open Sauce"/>
                <a:ea typeface="Open Sauce"/>
                <a:cs typeface="Open Sauce"/>
                <a:sym typeface="Open Sauce"/>
              </a:rPr>
              <a:t>Objectif : classer automatiquement ces amendements comme </a:t>
            </a:r>
            <a:r>
              <a:rPr lang="en-US" sz="3999" b="true">
                <a:solidFill>
                  <a:srgbClr val="E98E2D"/>
                </a:solidFill>
                <a:latin typeface="Open Sauce Bold"/>
                <a:ea typeface="Open Sauce Bold"/>
                <a:cs typeface="Open Sauce Bold"/>
                <a:sym typeface="Open Sauce Bold"/>
              </a:rPr>
              <a:t>sourcés</a:t>
            </a:r>
            <a:r>
              <a:rPr lang="en-US" sz="3999">
                <a:solidFill>
                  <a:srgbClr val="000000"/>
                </a:solidFill>
                <a:latin typeface="Open Sauce"/>
                <a:ea typeface="Open Sauce"/>
                <a:cs typeface="Open Sauce"/>
                <a:sym typeface="Open Sauce"/>
              </a:rPr>
              <a:t> ou </a:t>
            </a:r>
            <a:r>
              <a:rPr lang="en-US" sz="3999" b="true">
                <a:solidFill>
                  <a:srgbClr val="E98E2D"/>
                </a:solidFill>
                <a:latin typeface="Open Sauce Bold"/>
                <a:ea typeface="Open Sauce Bold"/>
                <a:cs typeface="Open Sauce Bold"/>
                <a:sym typeface="Open Sauce Bold"/>
              </a:rPr>
              <a:t>non-sourcés </a:t>
            </a:r>
            <a:r>
              <a:rPr lang="en-US" sz="3999">
                <a:solidFill>
                  <a:srgbClr val="000000"/>
                </a:solidFill>
                <a:latin typeface="Open Sauce"/>
                <a:ea typeface="Open Sauce"/>
                <a:cs typeface="Open Sauce"/>
                <a:sym typeface="Open Sauce"/>
              </a:rPr>
              <a:t>avec ActiveTigger.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51874" y="2413792"/>
            <a:ext cx="13037934"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Introduction : contexte, questions de recherche et données</a:t>
            </a:r>
          </a:p>
        </p:txBody>
      </p:sp>
      <p:sp>
        <p:nvSpPr>
          <p:cNvPr name="TextBox 3" id="3"/>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Plan de la session</a:t>
            </a:r>
          </a:p>
        </p:txBody>
      </p:sp>
      <p:sp>
        <p:nvSpPr>
          <p:cNvPr name="TextBox 4" id="4"/>
          <p:cNvSpPr txBox="true"/>
          <p:nvPr/>
        </p:nvSpPr>
        <p:spPr>
          <a:xfrm rot="0">
            <a:off x="1651874" y="3497342"/>
            <a:ext cx="12273760" cy="3724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1. Créer un projet </a:t>
            </a:r>
          </a:p>
          <a:p>
            <a:pPr algn="l">
              <a:lnSpc>
                <a:spcPts val="4200"/>
              </a:lnSpc>
            </a:pPr>
            <a:r>
              <a:rPr lang="en-US" sz="3000">
                <a:solidFill>
                  <a:srgbClr val="000000"/>
                </a:solidFill>
                <a:latin typeface="Open Sauce"/>
                <a:ea typeface="Open Sauce"/>
                <a:cs typeface="Open Sauce"/>
                <a:sym typeface="Open Sauce"/>
              </a:rPr>
              <a:t>2. Annoter les données d’entraînement et fixer son codebook</a:t>
            </a:r>
          </a:p>
          <a:p>
            <a:pPr algn="l">
              <a:lnSpc>
                <a:spcPts val="4200"/>
              </a:lnSpc>
            </a:pPr>
            <a:r>
              <a:rPr lang="en-US" sz="3000">
                <a:solidFill>
                  <a:srgbClr val="000000"/>
                </a:solidFill>
                <a:latin typeface="Open Sauce"/>
                <a:ea typeface="Open Sauce"/>
                <a:cs typeface="Open Sauce"/>
                <a:sym typeface="Open Sauce"/>
              </a:rPr>
              <a:t>3. </a:t>
            </a:r>
            <a:r>
              <a:rPr lang="en-US" sz="3000">
                <a:solidFill>
                  <a:srgbClr val="000000"/>
                </a:solidFill>
                <a:latin typeface="Open Sauce"/>
                <a:ea typeface="Open Sauce"/>
                <a:cs typeface="Open Sauce"/>
                <a:sym typeface="Open Sauce"/>
              </a:rPr>
              <a:t>Annoter les données de validation et de test</a:t>
            </a:r>
          </a:p>
          <a:p>
            <a:pPr algn="l">
              <a:lnSpc>
                <a:spcPts val="4200"/>
              </a:lnSpc>
            </a:pPr>
            <a:r>
              <a:rPr lang="en-US" sz="3000">
                <a:solidFill>
                  <a:srgbClr val="000000"/>
                </a:solidFill>
                <a:latin typeface="Open Sauce"/>
                <a:ea typeface="Open Sauce"/>
                <a:cs typeface="Open Sauce"/>
                <a:sym typeface="Open Sauce"/>
              </a:rPr>
              <a:t>4. Entraîner des modèles</a:t>
            </a:r>
          </a:p>
          <a:p>
            <a:pPr algn="l">
              <a:lnSpc>
                <a:spcPts val="4200"/>
              </a:lnSpc>
            </a:pPr>
            <a:r>
              <a:rPr lang="en-US" sz="3000">
                <a:solidFill>
                  <a:srgbClr val="000000"/>
                </a:solidFill>
                <a:latin typeface="Open Sauce"/>
                <a:ea typeface="Open Sauce"/>
                <a:cs typeface="Open Sauce"/>
                <a:sym typeface="Open Sauce"/>
              </a:rPr>
              <a:t>5. Sélectionner un modèle </a:t>
            </a:r>
          </a:p>
          <a:p>
            <a:pPr algn="l">
              <a:lnSpc>
                <a:spcPts val="4200"/>
              </a:lnSpc>
            </a:pPr>
            <a:r>
              <a:rPr lang="en-US" sz="3000">
                <a:solidFill>
                  <a:srgbClr val="000000"/>
                </a:solidFill>
                <a:latin typeface="Open Sauce"/>
                <a:ea typeface="Open Sauce"/>
                <a:cs typeface="Open Sauce"/>
                <a:sym typeface="Open Sauce"/>
              </a:rPr>
              <a:t>6. Évaluer le modèle</a:t>
            </a:r>
          </a:p>
          <a:p>
            <a:pPr algn="l">
              <a:lnSpc>
                <a:spcPts val="4200"/>
              </a:lnSpc>
            </a:pPr>
            <a:r>
              <a:rPr lang="en-US" sz="3000">
                <a:solidFill>
                  <a:srgbClr val="000000"/>
                </a:solidFill>
                <a:latin typeface="Open Sauce"/>
                <a:ea typeface="Open Sauce"/>
                <a:cs typeface="Open Sauce"/>
                <a:sym typeface="Open Sauce"/>
              </a:rPr>
              <a:t>7. Étendre les prédictions</a:t>
            </a:r>
          </a:p>
        </p:txBody>
      </p:sp>
      <p:sp>
        <p:nvSpPr>
          <p:cNvPr name="AutoShape 5" id="5"/>
          <p:cNvSpPr/>
          <p:nvPr/>
        </p:nvSpPr>
        <p:spPr>
          <a:xfrm flipH="true" flipV="true">
            <a:off x="13780936" y="3707937"/>
            <a:ext cx="1" cy="3513680"/>
          </a:xfrm>
          <a:prstGeom prst="line">
            <a:avLst/>
          </a:prstGeom>
          <a:ln cap="flat" w="38100">
            <a:solidFill>
              <a:srgbClr val="000000"/>
            </a:solidFill>
            <a:prstDash val="solid"/>
            <a:headEnd type="none" len="sm" w="sm"/>
            <a:tailEnd type="none" len="sm" w="sm"/>
          </a:ln>
        </p:spPr>
      </p:sp>
      <p:sp>
        <p:nvSpPr>
          <p:cNvPr name="AutoShape 6" id="6"/>
          <p:cNvSpPr/>
          <p:nvPr/>
        </p:nvSpPr>
        <p:spPr>
          <a:xfrm flipH="true">
            <a:off x="13568582" y="3734436"/>
            <a:ext cx="212350" cy="221"/>
          </a:xfrm>
          <a:prstGeom prst="line">
            <a:avLst/>
          </a:prstGeom>
          <a:ln cap="flat" w="38100">
            <a:solidFill>
              <a:srgbClr val="000000"/>
            </a:solidFill>
            <a:prstDash val="solid"/>
            <a:headEnd type="none" len="sm" w="sm"/>
            <a:tailEnd type="none" len="sm" w="sm"/>
          </a:ln>
        </p:spPr>
      </p:sp>
      <p:sp>
        <p:nvSpPr>
          <p:cNvPr name="AutoShape 7" id="7"/>
          <p:cNvSpPr/>
          <p:nvPr/>
        </p:nvSpPr>
        <p:spPr>
          <a:xfrm flipH="true">
            <a:off x="13568562" y="7202346"/>
            <a:ext cx="212350" cy="221"/>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14099104" y="5759299"/>
            <a:ext cx="2537022" cy="52387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Open Sauce"/>
                <a:ea typeface="Open Sauce"/>
                <a:cs typeface="Open Sauce"/>
                <a:sym typeface="Open Sauce"/>
              </a:rPr>
              <a:t>ActiveTigger</a:t>
            </a:r>
          </a:p>
        </p:txBody>
      </p:sp>
      <p:sp>
        <p:nvSpPr>
          <p:cNvPr name="TextBox 9" id="9"/>
          <p:cNvSpPr txBox="true"/>
          <p:nvPr/>
        </p:nvSpPr>
        <p:spPr>
          <a:xfrm rot="0">
            <a:off x="1651874" y="7783592"/>
            <a:ext cx="5835332" cy="10572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8</a:t>
            </a:r>
            <a:r>
              <a:rPr lang="en-US" sz="3000">
                <a:solidFill>
                  <a:srgbClr val="000000"/>
                </a:solidFill>
                <a:latin typeface="Open Sauce"/>
                <a:ea typeface="Open Sauce"/>
                <a:cs typeface="Open Sauce"/>
                <a:sym typeface="Open Sauce"/>
              </a:rPr>
              <a:t>. Résultats</a:t>
            </a:r>
          </a:p>
          <a:p>
            <a:pPr algn="l">
              <a:lnSpc>
                <a:spcPts val="4200"/>
              </a:lnSpc>
              <a:spcBef>
                <a:spcPct val="0"/>
              </a:spcBef>
            </a:pPr>
            <a:r>
              <a:rPr lang="en-US" sz="3000">
                <a:solidFill>
                  <a:srgbClr val="000000"/>
                </a:solidFill>
                <a:latin typeface="Open Sauce"/>
                <a:ea typeface="Open Sauce"/>
                <a:cs typeface="Open Sauce"/>
                <a:sym typeface="Open Sauce"/>
              </a:rPr>
              <a:t>9. Intérêt et limites de notre cas</a:t>
            </a:r>
          </a:p>
        </p:txBody>
      </p:sp>
      <p:sp>
        <p:nvSpPr>
          <p:cNvPr name="Freeform 10" id="10"/>
          <p:cNvSpPr/>
          <p:nvPr/>
        </p:nvSpPr>
        <p:spPr>
          <a:xfrm flipH="true" flipV="false" rot="0">
            <a:off x="14898501" y="4767478"/>
            <a:ext cx="938226" cy="963246"/>
          </a:xfrm>
          <a:custGeom>
            <a:avLst/>
            <a:gdLst/>
            <a:ahLst/>
            <a:cxnLst/>
            <a:rect r="r" b="b" t="t" l="l"/>
            <a:pathLst>
              <a:path h="963246" w="938226">
                <a:moveTo>
                  <a:pt x="938227" y="0"/>
                </a:moveTo>
                <a:lnTo>
                  <a:pt x="0" y="0"/>
                </a:lnTo>
                <a:lnTo>
                  <a:pt x="0" y="963246"/>
                </a:lnTo>
                <a:lnTo>
                  <a:pt x="938227" y="963246"/>
                </a:lnTo>
                <a:lnTo>
                  <a:pt x="938227"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23038" y="431401"/>
            <a:ext cx="6065230" cy="8623796"/>
          </a:xfrm>
          <a:custGeom>
            <a:avLst/>
            <a:gdLst/>
            <a:ahLst/>
            <a:cxnLst/>
            <a:rect r="r" b="b" t="t" l="l"/>
            <a:pathLst>
              <a:path h="8623796" w="6065230">
                <a:moveTo>
                  <a:pt x="0" y="0"/>
                </a:moveTo>
                <a:lnTo>
                  <a:pt x="6065230" y="0"/>
                </a:lnTo>
                <a:lnTo>
                  <a:pt x="6065230" y="8623796"/>
                </a:lnTo>
                <a:lnTo>
                  <a:pt x="0" y="8623796"/>
                </a:lnTo>
                <a:lnTo>
                  <a:pt x="0" y="0"/>
                </a:lnTo>
                <a:close/>
              </a:path>
            </a:pathLst>
          </a:custGeom>
          <a:blipFill>
            <a:blip r:embed="rId3"/>
            <a:stretch>
              <a:fillRect l="0" t="0" r="0" b="0"/>
            </a:stretch>
          </a:blipFill>
        </p:spPr>
      </p:sp>
      <p:sp>
        <p:nvSpPr>
          <p:cNvPr name="Freeform 3" id="3"/>
          <p:cNvSpPr/>
          <p:nvPr/>
        </p:nvSpPr>
        <p:spPr>
          <a:xfrm flipH="false" flipV="false" rot="0">
            <a:off x="11623038" y="8029458"/>
            <a:ext cx="6065230" cy="1826141"/>
          </a:xfrm>
          <a:custGeom>
            <a:avLst/>
            <a:gdLst/>
            <a:ahLst/>
            <a:cxnLst/>
            <a:rect r="r" b="b" t="t" l="l"/>
            <a:pathLst>
              <a:path h="1826141" w="6065230">
                <a:moveTo>
                  <a:pt x="0" y="0"/>
                </a:moveTo>
                <a:lnTo>
                  <a:pt x="6065230" y="0"/>
                </a:lnTo>
                <a:lnTo>
                  <a:pt x="6065230" y="1826141"/>
                </a:lnTo>
                <a:lnTo>
                  <a:pt x="0" y="1826141"/>
                </a:lnTo>
                <a:lnTo>
                  <a:pt x="0" y="0"/>
                </a:lnTo>
                <a:close/>
              </a:path>
            </a:pathLst>
          </a:custGeom>
          <a:blipFill>
            <a:blip r:embed="rId4"/>
            <a:stretch>
              <a:fillRect l="0" t="-41668" r="0" b="-330572"/>
            </a:stretch>
          </a:blipFill>
        </p:spPr>
      </p:sp>
      <p:sp>
        <p:nvSpPr>
          <p:cNvPr name="TextBox 4" id="4"/>
          <p:cNvSpPr txBox="true"/>
          <p:nvPr/>
        </p:nvSpPr>
        <p:spPr>
          <a:xfrm rot="0">
            <a:off x="1069060" y="2313962"/>
            <a:ext cx="10515878" cy="5880611"/>
          </a:xfrm>
          <a:prstGeom prst="rect">
            <a:avLst/>
          </a:prstGeom>
        </p:spPr>
        <p:txBody>
          <a:bodyPr anchor="t" rtlCol="false" tIns="0" lIns="0" bIns="0" rIns="0">
            <a:spAutoFit/>
          </a:bodyPr>
          <a:lstStyle/>
          <a:p>
            <a:pPr algn="l">
              <a:lnSpc>
                <a:spcPts val="4199"/>
              </a:lnSpc>
            </a:pPr>
            <a:r>
              <a:rPr lang="en-US" sz="2999">
                <a:solidFill>
                  <a:srgbClr val="000000"/>
                </a:solidFill>
                <a:latin typeface="Open Sauce"/>
                <a:ea typeface="Open Sauce"/>
                <a:cs typeface="Open Sauce"/>
                <a:sym typeface="Open Sauce"/>
              </a:rPr>
              <a:t>Un amendement résulte de nombreuses interactions.</a:t>
            </a:r>
          </a:p>
          <a:p>
            <a:pPr algn="l">
              <a:lnSpc>
                <a:spcPts val="4199"/>
              </a:lnSpc>
            </a:pPr>
          </a:p>
          <a:p>
            <a:pPr algn="l">
              <a:lnSpc>
                <a:spcPts val="4199"/>
              </a:lnSpc>
            </a:pPr>
            <a:r>
              <a:rPr lang="en-US" sz="2999">
                <a:solidFill>
                  <a:srgbClr val="000000"/>
                </a:solidFill>
                <a:latin typeface="Open Sauce"/>
                <a:ea typeface="Open Sauce"/>
                <a:cs typeface="Open Sauce"/>
                <a:sym typeface="Open Sauce"/>
              </a:rPr>
              <a:t>Certains sont discutés avec ou proposés par un ou plusieurs groupe(s) d’intérêt (“lobbies”)</a:t>
            </a:r>
          </a:p>
          <a:p>
            <a:pPr algn="l">
              <a:lnSpc>
                <a:spcPts val="4199"/>
              </a:lnSpc>
            </a:pPr>
          </a:p>
          <a:p>
            <a:pPr algn="l">
              <a:lnSpc>
                <a:spcPts val="4199"/>
              </a:lnSpc>
            </a:pPr>
            <a:r>
              <a:rPr lang="en-US" sz="2999" i="true" b="true">
                <a:solidFill>
                  <a:srgbClr val="E98E2D"/>
                </a:solidFill>
                <a:latin typeface="Open Sauce Bold Italics"/>
                <a:ea typeface="Open Sauce Bold Italics"/>
                <a:cs typeface="Open Sauce Bold Italics"/>
                <a:sym typeface="Open Sauce Bold Italics"/>
              </a:rPr>
              <a:t>Sourcing des amendements </a:t>
            </a:r>
            <a:r>
              <a:rPr lang="en-US" sz="2999">
                <a:solidFill>
                  <a:srgbClr val="000000"/>
                </a:solidFill>
                <a:latin typeface="Open Sauce"/>
                <a:ea typeface="Open Sauce"/>
                <a:cs typeface="Open Sauce"/>
                <a:sym typeface="Open Sauce"/>
              </a:rPr>
              <a:t>: citer nommément ces groupes et la nature de leur influence sur la soumission d’un amendement donné dans l’exposé des motifs.</a:t>
            </a:r>
          </a:p>
          <a:p>
            <a:pPr algn="l">
              <a:lnSpc>
                <a:spcPts val="4199"/>
              </a:lnSpc>
            </a:pPr>
          </a:p>
          <a:p>
            <a:pPr algn="l">
              <a:lnSpc>
                <a:spcPts val="840"/>
              </a:lnSpc>
            </a:pPr>
          </a:p>
          <a:p>
            <a:pPr algn="l">
              <a:lnSpc>
                <a:spcPts val="4199"/>
              </a:lnSpc>
            </a:pPr>
            <a:r>
              <a:rPr lang="en-US" sz="2999">
                <a:solidFill>
                  <a:srgbClr val="000000"/>
                </a:solidFill>
                <a:latin typeface="Open Sauce"/>
                <a:ea typeface="Open Sauce"/>
                <a:cs typeface="Open Sauce"/>
                <a:sym typeface="Open Sauce"/>
              </a:rPr>
              <a:t>      ➔ “Bonne pratique” promue par un certain nombre </a:t>
            </a:r>
          </a:p>
          <a:p>
            <a:pPr algn="l">
              <a:lnSpc>
                <a:spcPts val="4199"/>
              </a:lnSpc>
            </a:pPr>
            <a:r>
              <a:rPr lang="en-US" sz="2999">
                <a:solidFill>
                  <a:srgbClr val="000000"/>
                </a:solidFill>
                <a:latin typeface="Open Sauce"/>
                <a:ea typeface="Open Sauce"/>
                <a:cs typeface="Open Sauce"/>
                <a:sym typeface="Open Sauce"/>
              </a:rPr>
              <a:t>      </a:t>
            </a:r>
            <a:r>
              <a:rPr lang="en-US" sz="2999">
                <a:solidFill>
                  <a:srgbClr val="000000"/>
                </a:solidFill>
                <a:latin typeface="Open Sauce"/>
                <a:ea typeface="Open Sauce"/>
                <a:cs typeface="Open Sauce"/>
                <a:sym typeface="Open Sauce"/>
              </a:rPr>
              <a:t>de parlementaires mais non obligatoire</a:t>
            </a:r>
          </a:p>
        </p:txBody>
      </p:sp>
      <p:grpSp>
        <p:nvGrpSpPr>
          <p:cNvPr name="Group 5" id="5"/>
          <p:cNvGrpSpPr/>
          <p:nvPr/>
        </p:nvGrpSpPr>
        <p:grpSpPr>
          <a:xfrm rot="0">
            <a:off x="12163821" y="9358504"/>
            <a:ext cx="3629816" cy="184245"/>
            <a:chOff x="0" y="0"/>
            <a:chExt cx="956001" cy="48525"/>
          </a:xfrm>
        </p:grpSpPr>
        <p:sp>
          <p:nvSpPr>
            <p:cNvPr name="Freeform 6" id="6"/>
            <p:cNvSpPr/>
            <p:nvPr/>
          </p:nvSpPr>
          <p:spPr>
            <a:xfrm flipH="false" flipV="false" rot="0">
              <a:off x="0" y="0"/>
              <a:ext cx="956001" cy="48525"/>
            </a:xfrm>
            <a:custGeom>
              <a:avLst/>
              <a:gdLst/>
              <a:ahLst/>
              <a:cxnLst/>
              <a:rect r="r" b="b" t="t" l="l"/>
              <a:pathLst>
                <a:path h="48525" w="956001">
                  <a:moveTo>
                    <a:pt x="24263" y="0"/>
                  </a:moveTo>
                  <a:lnTo>
                    <a:pt x="931738" y="0"/>
                  </a:lnTo>
                  <a:cubicBezTo>
                    <a:pt x="945138" y="0"/>
                    <a:pt x="956001" y="10863"/>
                    <a:pt x="956001" y="24263"/>
                  </a:cubicBezTo>
                  <a:lnTo>
                    <a:pt x="956001" y="24263"/>
                  </a:lnTo>
                  <a:cubicBezTo>
                    <a:pt x="956001" y="30698"/>
                    <a:pt x="953445" y="36869"/>
                    <a:pt x="948895" y="41419"/>
                  </a:cubicBezTo>
                  <a:cubicBezTo>
                    <a:pt x="944344" y="45969"/>
                    <a:pt x="938173" y="48525"/>
                    <a:pt x="931738" y="48525"/>
                  </a:cubicBezTo>
                  <a:lnTo>
                    <a:pt x="24263" y="48525"/>
                  </a:lnTo>
                  <a:cubicBezTo>
                    <a:pt x="17828" y="48525"/>
                    <a:pt x="11657" y="45969"/>
                    <a:pt x="7106" y="41419"/>
                  </a:cubicBezTo>
                  <a:cubicBezTo>
                    <a:pt x="2556" y="36869"/>
                    <a:pt x="0" y="30698"/>
                    <a:pt x="0" y="24263"/>
                  </a:cubicBezTo>
                  <a:lnTo>
                    <a:pt x="0" y="24263"/>
                  </a:lnTo>
                  <a:cubicBezTo>
                    <a:pt x="0" y="17828"/>
                    <a:pt x="2556" y="11657"/>
                    <a:pt x="7106" y="7106"/>
                  </a:cubicBezTo>
                  <a:cubicBezTo>
                    <a:pt x="11657" y="2556"/>
                    <a:pt x="17828" y="0"/>
                    <a:pt x="24263" y="0"/>
                  </a:cubicBezTo>
                  <a:close/>
                </a:path>
              </a:pathLst>
            </a:custGeom>
            <a:solidFill>
              <a:srgbClr val="E98E2D">
                <a:alpha val="33725"/>
              </a:srgbClr>
            </a:solidFill>
          </p:spPr>
        </p:sp>
        <p:sp>
          <p:nvSpPr>
            <p:cNvPr name="TextBox 7" id="7"/>
            <p:cNvSpPr txBox="true"/>
            <p:nvPr/>
          </p:nvSpPr>
          <p:spPr>
            <a:xfrm>
              <a:off x="0" y="-38100"/>
              <a:ext cx="956001" cy="8662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923925"/>
            <a:ext cx="416898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Contexte</a:t>
            </a:r>
          </a:p>
        </p:txBody>
      </p:sp>
      <p:sp>
        <p:nvSpPr>
          <p:cNvPr name="TextBox 9" id="9"/>
          <p:cNvSpPr txBox="true"/>
          <p:nvPr/>
        </p:nvSpPr>
        <p:spPr>
          <a:xfrm rot="0">
            <a:off x="10515170" y="9252189"/>
            <a:ext cx="1450394" cy="3492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sourcing !</a:t>
            </a:r>
          </a:p>
        </p:txBody>
      </p:sp>
      <p:sp>
        <p:nvSpPr>
          <p:cNvPr name="TextBox 10" id="10"/>
          <p:cNvSpPr txBox="true"/>
          <p:nvPr/>
        </p:nvSpPr>
        <p:spPr>
          <a:xfrm rot="0">
            <a:off x="1679780" y="8293524"/>
            <a:ext cx="8835390" cy="339725"/>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Open Sauce"/>
                <a:ea typeface="Open Sauce"/>
                <a:cs typeface="Open Sauce"/>
                <a:sym typeface="Open Sauce"/>
              </a:rPr>
              <a:t> (cf. tribune de 322 élus et élues LREM dans Le Monde en octobre 2019)</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11623038" y="431401"/>
            <a:ext cx="6065230" cy="8623796"/>
          </a:xfrm>
          <a:custGeom>
            <a:avLst/>
            <a:gdLst/>
            <a:ahLst/>
            <a:cxnLst/>
            <a:rect r="r" b="b" t="t" l="l"/>
            <a:pathLst>
              <a:path h="8623796" w="6065230">
                <a:moveTo>
                  <a:pt x="0" y="0"/>
                </a:moveTo>
                <a:lnTo>
                  <a:pt x="6065230" y="0"/>
                </a:lnTo>
                <a:lnTo>
                  <a:pt x="6065230" y="8623796"/>
                </a:lnTo>
                <a:lnTo>
                  <a:pt x="0" y="8623796"/>
                </a:lnTo>
                <a:lnTo>
                  <a:pt x="0" y="0"/>
                </a:lnTo>
                <a:close/>
              </a:path>
            </a:pathLst>
          </a:custGeom>
          <a:blipFill>
            <a:blip r:embed="rId2"/>
            <a:stretch>
              <a:fillRect l="0" t="0" r="0" b="0"/>
            </a:stretch>
          </a:blipFill>
        </p:spPr>
      </p:sp>
      <p:sp>
        <p:nvSpPr>
          <p:cNvPr name="Freeform 3" id="3"/>
          <p:cNvSpPr/>
          <p:nvPr/>
        </p:nvSpPr>
        <p:spPr>
          <a:xfrm flipH="false" flipV="false" rot="0">
            <a:off x="11623038" y="8029458"/>
            <a:ext cx="6065230" cy="1826141"/>
          </a:xfrm>
          <a:custGeom>
            <a:avLst/>
            <a:gdLst/>
            <a:ahLst/>
            <a:cxnLst/>
            <a:rect r="r" b="b" t="t" l="l"/>
            <a:pathLst>
              <a:path h="1826141" w="6065230">
                <a:moveTo>
                  <a:pt x="0" y="0"/>
                </a:moveTo>
                <a:lnTo>
                  <a:pt x="6065230" y="0"/>
                </a:lnTo>
                <a:lnTo>
                  <a:pt x="6065230" y="1826141"/>
                </a:lnTo>
                <a:lnTo>
                  <a:pt x="0" y="1826141"/>
                </a:lnTo>
                <a:lnTo>
                  <a:pt x="0" y="0"/>
                </a:lnTo>
                <a:close/>
              </a:path>
            </a:pathLst>
          </a:custGeom>
          <a:blipFill>
            <a:blip r:embed="rId3"/>
            <a:stretch>
              <a:fillRect l="0" t="-41668" r="0" b="-330572"/>
            </a:stretch>
          </a:blipFill>
        </p:spPr>
      </p:sp>
      <p:grpSp>
        <p:nvGrpSpPr>
          <p:cNvPr name="Group 4" id="4"/>
          <p:cNvGrpSpPr/>
          <p:nvPr/>
        </p:nvGrpSpPr>
        <p:grpSpPr>
          <a:xfrm rot="0">
            <a:off x="12163821" y="9358504"/>
            <a:ext cx="3629816" cy="184245"/>
            <a:chOff x="0" y="0"/>
            <a:chExt cx="956001" cy="48525"/>
          </a:xfrm>
        </p:grpSpPr>
        <p:sp>
          <p:nvSpPr>
            <p:cNvPr name="Freeform 5" id="5"/>
            <p:cNvSpPr/>
            <p:nvPr/>
          </p:nvSpPr>
          <p:spPr>
            <a:xfrm flipH="false" flipV="false" rot="0">
              <a:off x="0" y="0"/>
              <a:ext cx="956001" cy="48525"/>
            </a:xfrm>
            <a:custGeom>
              <a:avLst/>
              <a:gdLst/>
              <a:ahLst/>
              <a:cxnLst/>
              <a:rect r="r" b="b" t="t" l="l"/>
              <a:pathLst>
                <a:path h="48525" w="956001">
                  <a:moveTo>
                    <a:pt x="24263" y="0"/>
                  </a:moveTo>
                  <a:lnTo>
                    <a:pt x="931738" y="0"/>
                  </a:lnTo>
                  <a:cubicBezTo>
                    <a:pt x="945138" y="0"/>
                    <a:pt x="956001" y="10863"/>
                    <a:pt x="956001" y="24263"/>
                  </a:cubicBezTo>
                  <a:lnTo>
                    <a:pt x="956001" y="24263"/>
                  </a:lnTo>
                  <a:cubicBezTo>
                    <a:pt x="956001" y="30698"/>
                    <a:pt x="953445" y="36869"/>
                    <a:pt x="948895" y="41419"/>
                  </a:cubicBezTo>
                  <a:cubicBezTo>
                    <a:pt x="944344" y="45969"/>
                    <a:pt x="938173" y="48525"/>
                    <a:pt x="931738" y="48525"/>
                  </a:cubicBezTo>
                  <a:lnTo>
                    <a:pt x="24263" y="48525"/>
                  </a:lnTo>
                  <a:cubicBezTo>
                    <a:pt x="17828" y="48525"/>
                    <a:pt x="11657" y="45969"/>
                    <a:pt x="7106" y="41419"/>
                  </a:cubicBezTo>
                  <a:cubicBezTo>
                    <a:pt x="2556" y="36869"/>
                    <a:pt x="0" y="30698"/>
                    <a:pt x="0" y="24263"/>
                  </a:cubicBezTo>
                  <a:lnTo>
                    <a:pt x="0" y="24263"/>
                  </a:lnTo>
                  <a:cubicBezTo>
                    <a:pt x="0" y="17828"/>
                    <a:pt x="2556" y="11657"/>
                    <a:pt x="7106" y="7106"/>
                  </a:cubicBezTo>
                  <a:cubicBezTo>
                    <a:pt x="11657" y="2556"/>
                    <a:pt x="17828" y="0"/>
                    <a:pt x="24263" y="0"/>
                  </a:cubicBezTo>
                  <a:close/>
                </a:path>
              </a:pathLst>
            </a:custGeom>
            <a:solidFill>
              <a:srgbClr val="E98E2D">
                <a:alpha val="33725"/>
              </a:srgbClr>
            </a:solidFill>
          </p:spPr>
        </p:sp>
        <p:sp>
          <p:nvSpPr>
            <p:cNvPr name="TextBox 6" id="6"/>
            <p:cNvSpPr txBox="true"/>
            <p:nvPr/>
          </p:nvSpPr>
          <p:spPr>
            <a:xfrm>
              <a:off x="0" y="-38100"/>
              <a:ext cx="956001" cy="8662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162462" y="7981833"/>
            <a:ext cx="5216052" cy="34925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C’est ici que le </a:t>
            </a:r>
            <a:r>
              <a:rPr lang="en-US" sz="2000" b="true">
                <a:solidFill>
                  <a:srgbClr val="E98E2D"/>
                </a:solidFill>
                <a:latin typeface="Open Sans Bold"/>
                <a:ea typeface="Open Sans Bold"/>
                <a:cs typeface="Open Sans Bold"/>
                <a:sym typeface="Open Sans Bold"/>
              </a:rPr>
              <a:t>sourcing</a:t>
            </a:r>
            <a:r>
              <a:rPr lang="en-US" sz="2000">
                <a:solidFill>
                  <a:srgbClr val="000000"/>
                </a:solidFill>
                <a:latin typeface="Open Sans"/>
                <a:ea typeface="Open Sans"/>
                <a:cs typeface="Open Sans"/>
                <a:sym typeface="Open Sans"/>
              </a:rPr>
              <a:t> peut se trouver</a:t>
            </a:r>
          </a:p>
        </p:txBody>
      </p:sp>
      <p:grpSp>
        <p:nvGrpSpPr>
          <p:cNvPr name="Group 8" id="8"/>
          <p:cNvGrpSpPr/>
          <p:nvPr/>
        </p:nvGrpSpPr>
        <p:grpSpPr>
          <a:xfrm rot="0">
            <a:off x="11115063" y="5401962"/>
            <a:ext cx="125304" cy="1609536"/>
            <a:chOff x="0" y="0"/>
            <a:chExt cx="167072" cy="2146048"/>
          </a:xfrm>
        </p:grpSpPr>
        <p:sp>
          <p:nvSpPr>
            <p:cNvPr name="AutoShape 9" id="9"/>
            <p:cNvSpPr/>
            <p:nvPr/>
          </p:nvSpPr>
          <p:spPr>
            <a:xfrm>
              <a:off x="25399" y="207"/>
              <a:ext cx="17466" cy="2145634"/>
            </a:xfrm>
            <a:prstGeom prst="line">
              <a:avLst/>
            </a:prstGeom>
            <a:ln cap="flat" w="50800">
              <a:solidFill>
                <a:srgbClr val="000000"/>
              </a:solidFill>
              <a:prstDash val="solid"/>
              <a:headEnd type="none" len="sm" w="sm"/>
              <a:tailEnd type="none" len="sm" w="sm"/>
            </a:ln>
          </p:spPr>
        </p:sp>
        <p:sp>
          <p:nvSpPr>
            <p:cNvPr name="AutoShape 10" id="10"/>
            <p:cNvSpPr/>
            <p:nvPr/>
          </p:nvSpPr>
          <p:spPr>
            <a:xfrm flipV="true">
              <a:off x="25452" y="2120147"/>
              <a:ext cx="141567" cy="294"/>
            </a:xfrm>
            <a:prstGeom prst="line">
              <a:avLst/>
            </a:prstGeom>
            <a:ln cap="flat" w="50800">
              <a:solidFill>
                <a:srgbClr val="000000"/>
              </a:solidFill>
              <a:prstDash val="solid"/>
              <a:headEnd type="none" len="sm" w="sm"/>
              <a:tailEnd type="none" len="sm" w="sm"/>
            </a:ln>
          </p:spPr>
        </p:sp>
        <p:sp>
          <p:nvSpPr>
            <p:cNvPr name="AutoShape 11" id="11"/>
            <p:cNvSpPr/>
            <p:nvPr/>
          </p:nvSpPr>
          <p:spPr>
            <a:xfrm flipV="true">
              <a:off x="25350" y="25607"/>
              <a:ext cx="141567" cy="294"/>
            </a:xfrm>
            <a:prstGeom prst="line">
              <a:avLst/>
            </a:prstGeom>
            <a:ln cap="flat" w="50800">
              <a:solidFill>
                <a:srgbClr val="000000"/>
              </a:solidFill>
              <a:prstDash val="solid"/>
              <a:headEnd type="none" len="sm" w="sm"/>
              <a:tailEnd type="none" len="sm" w="sm"/>
            </a:ln>
          </p:spPr>
        </p:sp>
      </p:grpSp>
      <p:grpSp>
        <p:nvGrpSpPr>
          <p:cNvPr name="Group 12" id="12"/>
          <p:cNvGrpSpPr/>
          <p:nvPr/>
        </p:nvGrpSpPr>
        <p:grpSpPr>
          <a:xfrm rot="0">
            <a:off x="11115063" y="3422867"/>
            <a:ext cx="125304" cy="1609536"/>
            <a:chOff x="0" y="0"/>
            <a:chExt cx="167072" cy="2146048"/>
          </a:xfrm>
        </p:grpSpPr>
        <p:sp>
          <p:nvSpPr>
            <p:cNvPr name="AutoShape 13" id="13"/>
            <p:cNvSpPr/>
            <p:nvPr/>
          </p:nvSpPr>
          <p:spPr>
            <a:xfrm>
              <a:off x="25399" y="207"/>
              <a:ext cx="17466" cy="2145634"/>
            </a:xfrm>
            <a:prstGeom prst="line">
              <a:avLst/>
            </a:prstGeom>
            <a:ln cap="flat" w="50800">
              <a:solidFill>
                <a:srgbClr val="000000"/>
              </a:solidFill>
              <a:prstDash val="solid"/>
              <a:headEnd type="none" len="sm" w="sm"/>
              <a:tailEnd type="none" len="sm" w="sm"/>
            </a:ln>
          </p:spPr>
        </p:sp>
        <p:sp>
          <p:nvSpPr>
            <p:cNvPr name="AutoShape 14" id="14"/>
            <p:cNvSpPr/>
            <p:nvPr/>
          </p:nvSpPr>
          <p:spPr>
            <a:xfrm flipV="true">
              <a:off x="25452" y="2120147"/>
              <a:ext cx="141567" cy="294"/>
            </a:xfrm>
            <a:prstGeom prst="line">
              <a:avLst/>
            </a:prstGeom>
            <a:ln cap="flat" w="50800">
              <a:solidFill>
                <a:srgbClr val="000000"/>
              </a:solidFill>
              <a:prstDash val="solid"/>
              <a:headEnd type="none" len="sm" w="sm"/>
              <a:tailEnd type="none" len="sm" w="sm"/>
            </a:ln>
          </p:spPr>
        </p:sp>
        <p:sp>
          <p:nvSpPr>
            <p:cNvPr name="AutoShape 15" id="15"/>
            <p:cNvSpPr/>
            <p:nvPr/>
          </p:nvSpPr>
          <p:spPr>
            <a:xfrm flipV="true">
              <a:off x="25350" y="25607"/>
              <a:ext cx="141567" cy="294"/>
            </a:xfrm>
            <a:prstGeom prst="line">
              <a:avLst/>
            </a:prstGeom>
            <a:ln cap="flat" w="50800">
              <a:solidFill>
                <a:srgbClr val="000000"/>
              </a:solidFill>
              <a:prstDash val="solid"/>
              <a:headEnd type="none" len="sm" w="sm"/>
              <a:tailEnd type="none" len="sm" w="sm"/>
            </a:ln>
          </p:spPr>
        </p:sp>
      </p:grpSp>
      <p:grpSp>
        <p:nvGrpSpPr>
          <p:cNvPr name="Group 16" id="16"/>
          <p:cNvGrpSpPr/>
          <p:nvPr/>
        </p:nvGrpSpPr>
        <p:grpSpPr>
          <a:xfrm rot="0">
            <a:off x="11115025" y="7224845"/>
            <a:ext cx="125342" cy="2413978"/>
            <a:chOff x="0" y="0"/>
            <a:chExt cx="167122" cy="3218638"/>
          </a:xfrm>
        </p:grpSpPr>
        <p:sp>
          <p:nvSpPr>
            <p:cNvPr name="AutoShape 17" id="17"/>
            <p:cNvSpPr/>
            <p:nvPr/>
          </p:nvSpPr>
          <p:spPr>
            <a:xfrm flipH="true">
              <a:off x="25400" y="0"/>
              <a:ext cx="50" cy="3218637"/>
            </a:xfrm>
            <a:prstGeom prst="line">
              <a:avLst/>
            </a:prstGeom>
            <a:ln cap="flat" w="50800">
              <a:solidFill>
                <a:srgbClr val="000000"/>
              </a:solidFill>
              <a:prstDash val="solid"/>
              <a:headEnd type="none" len="sm" w="sm"/>
              <a:tailEnd type="none" len="sm" w="sm"/>
            </a:ln>
          </p:spPr>
        </p:sp>
        <p:sp>
          <p:nvSpPr>
            <p:cNvPr name="AutoShape 18" id="18"/>
            <p:cNvSpPr/>
            <p:nvPr/>
          </p:nvSpPr>
          <p:spPr>
            <a:xfrm flipV="true">
              <a:off x="25502" y="3192943"/>
              <a:ext cx="141567" cy="294"/>
            </a:xfrm>
            <a:prstGeom prst="line">
              <a:avLst/>
            </a:prstGeom>
            <a:ln cap="flat" w="50800">
              <a:solidFill>
                <a:srgbClr val="000000"/>
              </a:solidFill>
              <a:prstDash val="solid"/>
              <a:headEnd type="none" len="sm" w="sm"/>
              <a:tailEnd type="none" len="sm" w="sm"/>
            </a:ln>
          </p:spPr>
        </p:sp>
        <p:sp>
          <p:nvSpPr>
            <p:cNvPr name="AutoShape 19" id="19"/>
            <p:cNvSpPr/>
            <p:nvPr/>
          </p:nvSpPr>
          <p:spPr>
            <a:xfrm flipV="true">
              <a:off x="25400" y="25400"/>
              <a:ext cx="141567" cy="294"/>
            </a:xfrm>
            <a:prstGeom prst="line">
              <a:avLst/>
            </a:prstGeom>
            <a:ln cap="flat" w="50800">
              <a:solidFill>
                <a:srgbClr val="000000"/>
              </a:solidFill>
              <a:prstDash val="solid"/>
              <a:headEnd type="none" len="sm" w="sm"/>
              <a:tailEnd type="none" len="sm" w="sm"/>
            </a:ln>
          </p:spPr>
        </p:sp>
      </p:grpSp>
      <p:sp>
        <p:nvSpPr>
          <p:cNvPr name="AutoShape 20" id="20"/>
          <p:cNvSpPr/>
          <p:nvPr/>
        </p:nvSpPr>
        <p:spPr>
          <a:xfrm flipV="true">
            <a:off x="6217570" y="8189795"/>
            <a:ext cx="417138" cy="2659"/>
          </a:xfrm>
          <a:prstGeom prst="line">
            <a:avLst/>
          </a:prstGeom>
          <a:ln cap="flat" w="19050">
            <a:solidFill>
              <a:srgbClr val="000000"/>
            </a:solidFill>
            <a:prstDash val="solid"/>
            <a:headEnd type="none" len="sm" w="sm"/>
            <a:tailEnd type="triangle" len="med" w="lg"/>
          </a:ln>
        </p:spPr>
      </p:sp>
      <p:grpSp>
        <p:nvGrpSpPr>
          <p:cNvPr name="Group 21" id="21"/>
          <p:cNvGrpSpPr/>
          <p:nvPr/>
        </p:nvGrpSpPr>
        <p:grpSpPr>
          <a:xfrm rot="0">
            <a:off x="11115025" y="799339"/>
            <a:ext cx="125342" cy="2413978"/>
            <a:chOff x="0" y="0"/>
            <a:chExt cx="167122" cy="3218638"/>
          </a:xfrm>
        </p:grpSpPr>
        <p:sp>
          <p:nvSpPr>
            <p:cNvPr name="AutoShape 22" id="22"/>
            <p:cNvSpPr/>
            <p:nvPr/>
          </p:nvSpPr>
          <p:spPr>
            <a:xfrm flipH="true">
              <a:off x="25400" y="0"/>
              <a:ext cx="50" cy="3218637"/>
            </a:xfrm>
            <a:prstGeom prst="line">
              <a:avLst/>
            </a:prstGeom>
            <a:ln cap="flat" w="50800">
              <a:solidFill>
                <a:srgbClr val="000000"/>
              </a:solidFill>
              <a:prstDash val="solid"/>
              <a:headEnd type="none" len="sm" w="sm"/>
              <a:tailEnd type="none" len="sm" w="sm"/>
            </a:ln>
          </p:spPr>
        </p:sp>
        <p:sp>
          <p:nvSpPr>
            <p:cNvPr name="AutoShape 23" id="23"/>
            <p:cNvSpPr/>
            <p:nvPr/>
          </p:nvSpPr>
          <p:spPr>
            <a:xfrm flipV="true">
              <a:off x="25502" y="3192943"/>
              <a:ext cx="141567" cy="294"/>
            </a:xfrm>
            <a:prstGeom prst="line">
              <a:avLst/>
            </a:prstGeom>
            <a:ln cap="flat" w="50800">
              <a:solidFill>
                <a:srgbClr val="000000"/>
              </a:solidFill>
              <a:prstDash val="solid"/>
              <a:headEnd type="none" len="sm" w="sm"/>
              <a:tailEnd type="none" len="sm" w="sm"/>
            </a:ln>
          </p:spPr>
        </p:sp>
        <p:sp>
          <p:nvSpPr>
            <p:cNvPr name="AutoShape 24" id="24"/>
            <p:cNvSpPr/>
            <p:nvPr/>
          </p:nvSpPr>
          <p:spPr>
            <a:xfrm flipV="true">
              <a:off x="25400" y="25400"/>
              <a:ext cx="141567" cy="294"/>
            </a:xfrm>
            <a:prstGeom prst="line">
              <a:avLst/>
            </a:prstGeom>
            <a:ln cap="flat" w="50800">
              <a:solidFill>
                <a:srgbClr val="000000"/>
              </a:solidFill>
              <a:prstDash val="solid"/>
              <a:headEnd type="none" len="sm" w="sm"/>
              <a:tailEnd type="none" len="sm" w="sm"/>
            </a:ln>
          </p:spPr>
        </p:sp>
      </p:grpSp>
      <p:sp>
        <p:nvSpPr>
          <p:cNvPr name="TextBox 25" id="25"/>
          <p:cNvSpPr txBox="true"/>
          <p:nvPr/>
        </p:nvSpPr>
        <p:spPr>
          <a:xfrm rot="0">
            <a:off x="8009084" y="5971780"/>
            <a:ext cx="2826379" cy="422275"/>
          </a:xfrm>
          <a:prstGeom prst="rect">
            <a:avLst/>
          </a:prstGeom>
        </p:spPr>
        <p:txBody>
          <a:bodyPr anchor="t" rtlCol="false" tIns="0" lIns="0" bIns="0" rIns="0">
            <a:spAutoFit/>
          </a:bodyPr>
          <a:lstStyle/>
          <a:p>
            <a:pPr algn="r">
              <a:lnSpc>
                <a:spcPts val="3499"/>
              </a:lnSpc>
            </a:pPr>
            <a:r>
              <a:rPr lang="en-US" sz="2499">
                <a:solidFill>
                  <a:srgbClr val="000000"/>
                </a:solidFill>
                <a:latin typeface="Open Sauce"/>
                <a:ea typeface="Open Sauce"/>
                <a:cs typeface="Open Sauce"/>
                <a:sym typeface="Open Sauce"/>
              </a:rPr>
              <a:t>Substance</a:t>
            </a:r>
          </a:p>
        </p:txBody>
      </p:sp>
      <p:sp>
        <p:nvSpPr>
          <p:cNvPr name="TextBox 26" id="26"/>
          <p:cNvSpPr txBox="true"/>
          <p:nvPr/>
        </p:nvSpPr>
        <p:spPr>
          <a:xfrm rot="0">
            <a:off x="1028700" y="1104900"/>
            <a:ext cx="6747508" cy="1327150"/>
          </a:xfrm>
          <a:prstGeom prst="rect">
            <a:avLst/>
          </a:prstGeom>
        </p:spPr>
        <p:txBody>
          <a:bodyPr anchor="t" rtlCol="false" tIns="0" lIns="0" bIns="0" rIns="0">
            <a:spAutoFit/>
          </a:bodyPr>
          <a:lstStyle/>
          <a:p>
            <a:pPr algn="l">
              <a:lnSpc>
                <a:spcPts val="5150"/>
              </a:lnSpc>
            </a:pPr>
            <a:r>
              <a:rPr lang="en-US" sz="5000" b="true">
                <a:solidFill>
                  <a:srgbClr val="000000"/>
                </a:solidFill>
                <a:latin typeface="Open Sauce Bold"/>
                <a:ea typeface="Open Sauce Bold"/>
                <a:cs typeface="Open Sauce Bold"/>
                <a:sym typeface="Open Sauce Bold"/>
              </a:rPr>
              <a:t>Contexte : structure</a:t>
            </a:r>
          </a:p>
          <a:p>
            <a:pPr algn="l">
              <a:lnSpc>
                <a:spcPts val="5150"/>
              </a:lnSpc>
            </a:pPr>
            <a:r>
              <a:rPr lang="en-US" sz="5000" b="true">
                <a:solidFill>
                  <a:srgbClr val="000000"/>
                </a:solidFill>
                <a:latin typeface="Open Sauce Bold"/>
                <a:ea typeface="Open Sauce Bold"/>
                <a:cs typeface="Open Sauce Bold"/>
                <a:sym typeface="Open Sauce Bold"/>
              </a:rPr>
              <a:t>d’un amendement</a:t>
            </a:r>
          </a:p>
        </p:txBody>
      </p:sp>
      <p:sp>
        <p:nvSpPr>
          <p:cNvPr name="TextBox 27" id="27"/>
          <p:cNvSpPr txBox="true"/>
          <p:nvPr/>
        </p:nvSpPr>
        <p:spPr>
          <a:xfrm rot="0">
            <a:off x="7600728" y="3990778"/>
            <a:ext cx="3234735" cy="422275"/>
          </a:xfrm>
          <a:prstGeom prst="rect">
            <a:avLst/>
          </a:prstGeom>
        </p:spPr>
        <p:txBody>
          <a:bodyPr anchor="t" rtlCol="false" tIns="0" lIns="0" bIns="0" rIns="0">
            <a:spAutoFit/>
          </a:bodyPr>
          <a:lstStyle/>
          <a:p>
            <a:pPr algn="r">
              <a:lnSpc>
                <a:spcPts val="3499"/>
              </a:lnSpc>
            </a:pPr>
            <a:r>
              <a:rPr lang="en-US" sz="2499">
                <a:solidFill>
                  <a:srgbClr val="000000"/>
                </a:solidFill>
                <a:latin typeface="Open Sauce"/>
                <a:ea typeface="Open Sauce"/>
                <a:cs typeface="Open Sauce"/>
                <a:sym typeface="Open Sauce"/>
              </a:rPr>
              <a:t>Autrices/Auteurs</a:t>
            </a:r>
          </a:p>
        </p:txBody>
      </p:sp>
      <p:sp>
        <p:nvSpPr>
          <p:cNvPr name="TextBox 28" id="28"/>
          <p:cNvSpPr txBox="true"/>
          <p:nvPr/>
        </p:nvSpPr>
        <p:spPr>
          <a:xfrm rot="0">
            <a:off x="6910994" y="7892655"/>
            <a:ext cx="3924469" cy="1057275"/>
          </a:xfrm>
          <a:prstGeom prst="rect">
            <a:avLst/>
          </a:prstGeom>
        </p:spPr>
        <p:txBody>
          <a:bodyPr anchor="t" rtlCol="false" tIns="0" lIns="0" bIns="0" rIns="0">
            <a:spAutoFit/>
          </a:bodyPr>
          <a:lstStyle/>
          <a:p>
            <a:pPr algn="r">
              <a:lnSpc>
                <a:spcPts val="4200"/>
              </a:lnSpc>
            </a:pPr>
            <a:r>
              <a:rPr lang="en-US" sz="3000" b="true">
                <a:solidFill>
                  <a:srgbClr val="000000"/>
                </a:solidFill>
                <a:latin typeface="Open Sauce Bold"/>
                <a:ea typeface="Open Sauce Bold"/>
                <a:cs typeface="Open Sauce Bold"/>
                <a:sym typeface="Open Sauce Bold"/>
              </a:rPr>
              <a:t>Exposé sommaire des motifs</a:t>
            </a:r>
          </a:p>
        </p:txBody>
      </p:sp>
      <p:sp>
        <p:nvSpPr>
          <p:cNvPr name="TextBox 29" id="29"/>
          <p:cNvSpPr txBox="true"/>
          <p:nvPr/>
        </p:nvSpPr>
        <p:spPr>
          <a:xfrm rot="0">
            <a:off x="8310858" y="1552303"/>
            <a:ext cx="2524604" cy="860425"/>
          </a:xfrm>
          <a:prstGeom prst="rect">
            <a:avLst/>
          </a:prstGeom>
        </p:spPr>
        <p:txBody>
          <a:bodyPr anchor="t" rtlCol="false" tIns="0" lIns="0" bIns="0" rIns="0">
            <a:spAutoFit/>
          </a:bodyPr>
          <a:lstStyle/>
          <a:p>
            <a:pPr algn="r">
              <a:lnSpc>
                <a:spcPts val="3499"/>
              </a:lnSpc>
            </a:pPr>
            <a:r>
              <a:rPr lang="en-US" sz="2499">
                <a:solidFill>
                  <a:srgbClr val="000000"/>
                </a:solidFill>
                <a:latin typeface="Open Sauce"/>
                <a:ea typeface="Open Sauce"/>
                <a:cs typeface="Open Sauce"/>
                <a:sym typeface="Open Sauce"/>
              </a:rPr>
              <a:t>Date, projet de loi, identifiants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27448" y="3180712"/>
            <a:ext cx="12984813" cy="265747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La pratique est-elle répandue ? (RQ1)</a:t>
            </a:r>
          </a:p>
          <a:p>
            <a:pPr algn="l">
              <a:lnSpc>
                <a:spcPts val="4200"/>
              </a:lnSpc>
            </a:pPr>
          </a:p>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La pratique est-elle uniforme entre </a:t>
            </a:r>
            <a:r>
              <a:rPr lang="en-US" sz="3000">
                <a:solidFill>
                  <a:srgbClr val="000000"/>
                </a:solidFill>
                <a:latin typeface="Open Sauce"/>
                <a:ea typeface="Open Sauce"/>
                <a:cs typeface="Open Sauce"/>
                <a:sym typeface="Open Sauce"/>
              </a:rPr>
              <a:t>les groupes politiques ? (RQ2)</a:t>
            </a:r>
          </a:p>
          <a:p>
            <a:pPr algn="l">
              <a:lnSpc>
                <a:spcPts val="4200"/>
              </a:lnSpc>
            </a:pPr>
          </a:p>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L'influence déclarée est-elle fructueuse ? (RQ3)</a:t>
            </a:r>
          </a:p>
        </p:txBody>
      </p:sp>
      <p:sp>
        <p:nvSpPr>
          <p:cNvPr name="TextBox 3" id="3"/>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Questions de recherche</a:t>
            </a:r>
          </a:p>
        </p:txBody>
      </p:sp>
      <p:sp>
        <p:nvSpPr>
          <p:cNvPr name="TextBox 4" id="4"/>
          <p:cNvSpPr txBox="true"/>
          <p:nvPr/>
        </p:nvSpPr>
        <p:spPr>
          <a:xfrm rot="0">
            <a:off x="1115855" y="7231374"/>
            <a:ext cx="16056290" cy="1057275"/>
          </a:xfrm>
          <a:prstGeom prst="rect">
            <a:avLst/>
          </a:prstGeom>
        </p:spPr>
        <p:txBody>
          <a:bodyPr anchor="t" rtlCol="false" tIns="0" lIns="0" bIns="0" rIns="0">
            <a:spAutoFit/>
          </a:bodyPr>
          <a:lstStyle/>
          <a:p>
            <a:pPr algn="l">
              <a:lnSpc>
                <a:spcPts val="4200"/>
              </a:lnSpc>
            </a:pPr>
            <a:r>
              <a:rPr lang="en-US" sz="3000" u="sng">
                <a:solidFill>
                  <a:srgbClr val="000000"/>
                </a:solidFill>
                <a:latin typeface="Open Sauce"/>
                <a:ea typeface="Open Sauce"/>
                <a:cs typeface="Open Sauce"/>
                <a:sym typeface="Open Sauce"/>
              </a:rPr>
              <a:t>Méthodologiquement :</a:t>
            </a:r>
            <a:r>
              <a:rPr lang="en-US" sz="3000">
                <a:solidFill>
                  <a:srgbClr val="000000"/>
                </a:solidFill>
                <a:latin typeface="Open Sauce"/>
                <a:ea typeface="Open Sauce"/>
                <a:cs typeface="Open Sauce"/>
                <a:sym typeface="Open Sauce"/>
              </a:rPr>
              <a:t> Peut-on identifier les amendements sourcés sur un large corpus en fine-tunant un modèle de type </a:t>
            </a:r>
            <a:r>
              <a:rPr lang="en-US" sz="3000" b="true">
                <a:solidFill>
                  <a:srgbClr val="000000"/>
                </a:solidFill>
                <a:latin typeface="Open Sauce Bold"/>
                <a:ea typeface="Open Sauce Bold"/>
                <a:cs typeface="Open Sauce Bold"/>
                <a:sym typeface="Open Sauce Bold"/>
              </a:rPr>
              <a:t>encoder</a:t>
            </a:r>
            <a:r>
              <a:rPr lang="en-US" sz="3000">
                <a:solidFill>
                  <a:srgbClr val="000000"/>
                </a:solidFill>
                <a:latin typeface="Open Sauce"/>
                <a:ea typeface="Open Sauce"/>
                <a:cs typeface="Open Sauce"/>
                <a:sym typeface="Open Sauce"/>
              </a:rPr>
              <a:t> à partir d'un </a:t>
            </a:r>
            <a:r>
              <a:rPr lang="en-US" sz="3000" b="true">
                <a:solidFill>
                  <a:srgbClr val="000000"/>
                </a:solidFill>
                <a:latin typeface="Open Sauce Bold"/>
                <a:ea typeface="Open Sauce Bold"/>
                <a:cs typeface="Open Sauce Bold"/>
                <a:sym typeface="Open Sauce Bold"/>
              </a:rPr>
              <a:t>nombre limité d'annotations</a:t>
            </a:r>
            <a:r>
              <a:rPr lang="en-US" sz="3000">
                <a:solidFill>
                  <a:srgbClr val="000000"/>
                </a:solidFill>
                <a:latin typeface="Open Sauce"/>
                <a:ea typeface="Open Sauce"/>
                <a:cs typeface="Open Sauce"/>
                <a:sym typeface="Open Sauce"/>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4873701" y="7020439"/>
            <a:ext cx="1144004" cy="0"/>
          </a:xfrm>
          <a:prstGeom prst="line">
            <a:avLst/>
          </a:prstGeom>
          <a:ln cap="flat" w="38100">
            <a:solidFill>
              <a:srgbClr val="000000"/>
            </a:solidFill>
            <a:prstDash val="solid"/>
            <a:headEnd type="none" len="sm" w="sm"/>
            <a:tailEnd type="triangle" len="med" w="lg"/>
          </a:ln>
        </p:spPr>
      </p:sp>
      <p:sp>
        <p:nvSpPr>
          <p:cNvPr name="AutoShape 3" id="3"/>
          <p:cNvSpPr/>
          <p:nvPr/>
        </p:nvSpPr>
        <p:spPr>
          <a:xfrm>
            <a:off x="11114584" y="8512013"/>
            <a:ext cx="347639" cy="0"/>
          </a:xfrm>
          <a:prstGeom prst="line">
            <a:avLst/>
          </a:prstGeom>
          <a:ln cap="flat" w="38100">
            <a:solidFill>
              <a:srgbClr val="000000"/>
            </a:solidFill>
            <a:prstDash val="solid"/>
            <a:headEnd type="none" len="sm" w="sm"/>
            <a:tailEnd type="triangle" len="med" w="lg"/>
          </a:ln>
        </p:spPr>
      </p:sp>
      <p:sp>
        <p:nvSpPr>
          <p:cNvPr name="AutoShape 4" id="4"/>
          <p:cNvSpPr/>
          <p:nvPr/>
        </p:nvSpPr>
        <p:spPr>
          <a:xfrm flipV="true">
            <a:off x="11133634" y="8173621"/>
            <a:ext cx="462" cy="338393"/>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1028700" y="3282930"/>
            <a:ext cx="16489686" cy="1057275"/>
          </a:xfrm>
          <a:prstGeom prst="rect">
            <a:avLst/>
          </a:prstGeom>
        </p:spPr>
        <p:txBody>
          <a:bodyPr anchor="t" rtlCol="false" tIns="0" lIns="0" bIns="0" rIns="0">
            <a:spAutoFit/>
          </a:bodyPr>
          <a:lstStyle/>
          <a:p>
            <a:pPr algn="l">
              <a:lnSpc>
                <a:spcPts val="4200"/>
              </a:lnSpc>
            </a:pPr>
            <a:r>
              <a:rPr lang="en-US" sz="3000" b="true">
                <a:solidFill>
                  <a:srgbClr val="000000"/>
                </a:solidFill>
                <a:latin typeface="Open Sauce Bold"/>
                <a:ea typeface="Open Sauce Bold"/>
                <a:cs typeface="Open Sauce Bold"/>
                <a:sym typeface="Open Sauce Bold"/>
              </a:rPr>
              <a:t>Données de départ</a:t>
            </a:r>
            <a:r>
              <a:rPr lang="en-US" sz="3000">
                <a:solidFill>
                  <a:srgbClr val="000000"/>
                </a:solidFill>
                <a:latin typeface="Open Sauce"/>
                <a:ea typeface="Open Sauce"/>
                <a:cs typeface="Open Sauce"/>
                <a:sym typeface="Open Sauce"/>
              </a:rPr>
              <a:t> (</a:t>
            </a:r>
            <a:r>
              <a:rPr lang="en-US" sz="3000" b="true">
                <a:solidFill>
                  <a:srgbClr val="000000"/>
                </a:solidFill>
                <a:latin typeface="Open Sauce Bold"/>
                <a:ea typeface="Open Sauce Bold"/>
                <a:cs typeface="Open Sauce Bold"/>
                <a:sym typeface="Open Sauce Bold"/>
              </a:rPr>
              <a:t>123 224 amendements x 25 col</a:t>
            </a:r>
            <a:r>
              <a:rPr lang="en-US" sz="3000">
                <a:solidFill>
                  <a:srgbClr val="000000"/>
                </a:solidFill>
                <a:latin typeface="Open Sauce"/>
                <a:ea typeface="Open Sauce"/>
                <a:cs typeface="Open Sauce"/>
                <a:sym typeface="Open Sauce"/>
              </a:rPr>
              <a:t>) : tous les amendements de la XVIIème législature de l’Assemblée Nationale jusqu’au 21-07-2026 (XML puis CSV).</a:t>
            </a:r>
          </a:p>
        </p:txBody>
      </p:sp>
      <p:sp>
        <p:nvSpPr>
          <p:cNvPr name="TextBox 6" id="6"/>
          <p:cNvSpPr txBox="true"/>
          <p:nvPr/>
        </p:nvSpPr>
        <p:spPr>
          <a:xfrm rot="0">
            <a:off x="1028700" y="923925"/>
            <a:ext cx="4300954"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Données</a:t>
            </a:r>
          </a:p>
        </p:txBody>
      </p:sp>
      <p:sp>
        <p:nvSpPr>
          <p:cNvPr name="TextBox 7" id="7"/>
          <p:cNvSpPr txBox="true"/>
          <p:nvPr/>
        </p:nvSpPr>
        <p:spPr>
          <a:xfrm rot="0">
            <a:off x="6296087" y="5080611"/>
            <a:ext cx="11250874" cy="29241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Retirer les variables inutiles,</a:t>
            </a:r>
          </a:p>
          <a:p>
            <a:pPr algn="l">
              <a:lnSpc>
                <a:spcPts val="2100"/>
              </a:lnSpc>
            </a:pPr>
          </a:p>
          <a:p>
            <a:pPr algn="l">
              <a:lnSpc>
                <a:spcPts val="4200"/>
              </a:lnSpc>
            </a:pPr>
            <a:r>
              <a:rPr lang="en-US" sz="3000">
                <a:solidFill>
                  <a:srgbClr val="000000"/>
                </a:solidFill>
                <a:latin typeface="Open Sauce"/>
                <a:ea typeface="Open Sauce"/>
                <a:cs typeface="Open Sauce"/>
                <a:sym typeface="Open Sauce"/>
              </a:rPr>
              <a:t>l</a:t>
            </a:r>
            <a:r>
              <a:rPr lang="en-US" sz="3000">
                <a:solidFill>
                  <a:srgbClr val="000000"/>
                </a:solidFill>
                <a:latin typeface="Open Sauce"/>
                <a:ea typeface="Open Sauce"/>
                <a:cs typeface="Open Sauce"/>
                <a:sym typeface="Open Sauce"/>
              </a:rPr>
              <a:t>es amendements dont l’exposé sommaire est vide, </a:t>
            </a:r>
          </a:p>
          <a:p>
            <a:pPr algn="l">
              <a:lnSpc>
                <a:spcPts val="2100"/>
              </a:lnSpc>
            </a:pPr>
          </a:p>
          <a:p>
            <a:pPr algn="l">
              <a:lnSpc>
                <a:spcPts val="4200"/>
              </a:lnSpc>
            </a:pPr>
            <a:r>
              <a:rPr lang="en-US" sz="3000">
                <a:solidFill>
                  <a:srgbClr val="000000"/>
                </a:solidFill>
                <a:latin typeface="Open Sauce"/>
                <a:ea typeface="Open Sauce"/>
                <a:cs typeface="Open Sauce"/>
                <a:sym typeface="Open Sauce"/>
              </a:rPr>
              <a:t>les amendements dont l’exposé sommaire est </a:t>
            </a:r>
            <a:r>
              <a:rPr lang="en-US" sz="3000" u="sng">
                <a:solidFill>
                  <a:srgbClr val="000000"/>
                </a:solidFill>
                <a:latin typeface="Open Sauce"/>
                <a:ea typeface="Open Sauce"/>
                <a:cs typeface="Open Sauce"/>
                <a:sym typeface="Open Sauce"/>
              </a:rPr>
              <a:t>dupliqué</a:t>
            </a:r>
            <a:r>
              <a:rPr lang="en-US" sz="3000">
                <a:solidFill>
                  <a:srgbClr val="000000"/>
                </a:solidFill>
                <a:latin typeface="Open Sauce"/>
                <a:ea typeface="Open Sauce"/>
                <a:cs typeface="Open Sauce"/>
                <a:sym typeface="Open Sauce"/>
              </a:rPr>
              <a:t>, </a:t>
            </a:r>
          </a:p>
          <a:p>
            <a:pPr algn="l">
              <a:lnSpc>
                <a:spcPts val="2100"/>
              </a:lnSpc>
            </a:pPr>
          </a:p>
          <a:p>
            <a:pPr algn="l">
              <a:lnSpc>
                <a:spcPts val="4200"/>
              </a:lnSpc>
            </a:pPr>
            <a:r>
              <a:rPr lang="en-US" sz="3000">
                <a:solidFill>
                  <a:srgbClr val="000000"/>
                </a:solidFill>
                <a:latin typeface="Open Sauce"/>
                <a:ea typeface="Open Sauce"/>
                <a:cs typeface="Open Sauce"/>
                <a:sym typeface="Open Sauce"/>
              </a:rPr>
              <a:t>les </a:t>
            </a:r>
            <a:r>
              <a:rPr lang="en-US" sz="3000" u="sng">
                <a:solidFill>
                  <a:srgbClr val="000000"/>
                </a:solidFill>
                <a:latin typeface="Open Sauce"/>
                <a:ea typeface="Open Sauce"/>
                <a:cs typeface="Open Sauce"/>
                <a:sym typeface="Open Sauce"/>
              </a:rPr>
              <a:t>amendements de +1024 tokens</a:t>
            </a:r>
            <a:r>
              <a:rPr lang="en-US" sz="3000">
                <a:solidFill>
                  <a:srgbClr val="000000"/>
                </a:solidFill>
                <a:latin typeface="Open Sauce"/>
                <a:ea typeface="Open Sauce"/>
                <a:cs typeface="Open Sauce"/>
                <a:sym typeface="Open Sauce"/>
              </a:rPr>
              <a:t>.</a:t>
            </a:r>
          </a:p>
        </p:txBody>
      </p:sp>
      <p:sp>
        <p:nvSpPr>
          <p:cNvPr name="TextBox 8" id="8"/>
          <p:cNvSpPr txBox="true"/>
          <p:nvPr/>
        </p:nvSpPr>
        <p:spPr>
          <a:xfrm rot="0">
            <a:off x="2432158" y="6706211"/>
            <a:ext cx="2452027" cy="12985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éviter les annotations contradictoires</a:t>
            </a:r>
          </a:p>
        </p:txBody>
      </p:sp>
      <p:sp>
        <p:nvSpPr>
          <p:cNvPr name="TextBox 9" id="9"/>
          <p:cNvSpPr txBox="true"/>
          <p:nvPr/>
        </p:nvSpPr>
        <p:spPr>
          <a:xfrm rot="0">
            <a:off x="10947954" y="8231155"/>
            <a:ext cx="6111210"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fenêtre de contexte maximale recommandée sur l’instance CREST </a:t>
            </a:r>
          </a:p>
        </p:txBody>
      </p:sp>
      <p:sp>
        <p:nvSpPr>
          <p:cNvPr name="Freeform 10" id="10"/>
          <p:cNvSpPr/>
          <p:nvPr/>
        </p:nvSpPr>
        <p:spPr>
          <a:xfrm flipH="false" flipV="false" rot="0">
            <a:off x="1894729" y="4835505"/>
            <a:ext cx="1273126" cy="849016"/>
          </a:xfrm>
          <a:custGeom>
            <a:avLst/>
            <a:gdLst/>
            <a:ahLst/>
            <a:cxnLst/>
            <a:rect r="r" b="b" t="t" l="l"/>
            <a:pathLst>
              <a:path h="849016" w="1273126">
                <a:moveTo>
                  <a:pt x="0" y="0"/>
                </a:moveTo>
                <a:lnTo>
                  <a:pt x="1273125" y="0"/>
                </a:lnTo>
                <a:lnTo>
                  <a:pt x="1273125" y="849016"/>
                </a:lnTo>
                <a:lnTo>
                  <a:pt x="0" y="849016"/>
                </a:lnTo>
                <a:lnTo>
                  <a:pt x="0" y="0"/>
                </a:lnTo>
                <a:close/>
              </a:path>
            </a:pathLst>
          </a:custGeom>
          <a:blipFill>
            <a:blip r:embed="rId3"/>
            <a:stretch>
              <a:fillRect l="0" t="0" r="0" b="0"/>
            </a:stretch>
          </a:blipFill>
        </p:spPr>
      </p:sp>
      <p:sp>
        <p:nvSpPr>
          <p:cNvPr name="Freeform 11" id="11"/>
          <p:cNvSpPr/>
          <p:nvPr/>
        </p:nvSpPr>
        <p:spPr>
          <a:xfrm flipH="false" flipV="false" rot="0">
            <a:off x="2997249" y="4992326"/>
            <a:ext cx="1074130" cy="604198"/>
          </a:xfrm>
          <a:custGeom>
            <a:avLst/>
            <a:gdLst/>
            <a:ahLst/>
            <a:cxnLst/>
            <a:rect r="r" b="b" t="t" l="l"/>
            <a:pathLst>
              <a:path h="604198" w="1074130">
                <a:moveTo>
                  <a:pt x="0" y="0"/>
                </a:moveTo>
                <a:lnTo>
                  <a:pt x="1074130" y="0"/>
                </a:lnTo>
                <a:lnTo>
                  <a:pt x="1074130" y="604198"/>
                </a:lnTo>
                <a:lnTo>
                  <a:pt x="0" y="604198"/>
                </a:lnTo>
                <a:lnTo>
                  <a:pt x="0" y="0"/>
                </a:lnTo>
                <a:close/>
              </a:path>
            </a:pathLst>
          </a:custGeom>
          <a:blipFill>
            <a:blip r:embed="rId4"/>
            <a:stretch>
              <a:fillRect l="0" t="0" r="0" b="0"/>
            </a:stretch>
          </a:blipFill>
        </p:spPr>
      </p:sp>
      <p:sp>
        <p:nvSpPr>
          <p:cNvPr name="Freeform 12" id="12"/>
          <p:cNvSpPr/>
          <p:nvPr/>
        </p:nvSpPr>
        <p:spPr>
          <a:xfrm flipH="false" flipV="false" rot="0">
            <a:off x="4174771" y="4992326"/>
            <a:ext cx="570362" cy="648196"/>
          </a:xfrm>
          <a:custGeom>
            <a:avLst/>
            <a:gdLst/>
            <a:ahLst/>
            <a:cxnLst/>
            <a:rect r="r" b="b" t="t" l="l"/>
            <a:pathLst>
              <a:path h="648196" w="570362">
                <a:moveTo>
                  <a:pt x="0" y="0"/>
                </a:moveTo>
                <a:lnTo>
                  <a:pt x="570362" y="0"/>
                </a:lnTo>
                <a:lnTo>
                  <a:pt x="570362" y="648197"/>
                </a:lnTo>
                <a:lnTo>
                  <a:pt x="0" y="648197"/>
                </a:lnTo>
                <a:lnTo>
                  <a:pt x="0" y="0"/>
                </a:lnTo>
                <a:close/>
              </a:path>
            </a:pathLst>
          </a:custGeom>
          <a:blipFill>
            <a:blip r:embed="rId5"/>
            <a:stretch>
              <a:fillRect l="0" t="0" r="0" b="0"/>
            </a:stretch>
          </a:blipFill>
        </p:spPr>
      </p:sp>
      <p:sp>
        <p:nvSpPr>
          <p:cNvPr name="TextBox 13" id="13"/>
          <p:cNvSpPr txBox="true"/>
          <p:nvPr/>
        </p:nvSpPr>
        <p:spPr>
          <a:xfrm rot="0">
            <a:off x="4675071" y="5180358"/>
            <a:ext cx="897559" cy="504163"/>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Open Sauce"/>
                <a:ea typeface="Open Sauce"/>
                <a:cs typeface="Open Sauce"/>
                <a:sym typeface="Open Sauce"/>
              </a:rPr>
              <a:t>...</a:t>
            </a:r>
          </a:p>
        </p:txBody>
      </p:sp>
      <p:grpSp>
        <p:nvGrpSpPr>
          <p:cNvPr name="Group 14" id="14"/>
          <p:cNvGrpSpPr/>
          <p:nvPr/>
        </p:nvGrpSpPr>
        <p:grpSpPr>
          <a:xfrm rot="0">
            <a:off x="1028700" y="2282805"/>
            <a:ext cx="16518261" cy="476250"/>
            <a:chOff x="0" y="0"/>
            <a:chExt cx="22024348" cy="635000"/>
          </a:xfrm>
        </p:grpSpPr>
        <p:grpSp>
          <p:nvGrpSpPr>
            <p:cNvPr name="Group 15" id="15"/>
            <p:cNvGrpSpPr/>
            <p:nvPr/>
          </p:nvGrpSpPr>
          <p:grpSpPr>
            <a:xfrm rot="0">
              <a:off x="8750300" y="46467"/>
              <a:ext cx="2337003" cy="588533"/>
              <a:chOff x="0" y="0"/>
              <a:chExt cx="461630" cy="116254"/>
            </a:xfrm>
          </p:grpSpPr>
          <p:sp>
            <p:nvSpPr>
              <p:cNvPr name="Freeform 16" id="16"/>
              <p:cNvSpPr/>
              <p:nvPr/>
            </p:nvSpPr>
            <p:spPr>
              <a:xfrm flipH="false" flipV="false" rot="0">
                <a:off x="0" y="0"/>
                <a:ext cx="461630" cy="116254"/>
              </a:xfrm>
              <a:custGeom>
                <a:avLst/>
                <a:gdLst/>
                <a:ahLst/>
                <a:cxnLst/>
                <a:rect r="r" b="b" t="t" l="l"/>
                <a:pathLst>
                  <a:path h="116254" w="461630">
                    <a:moveTo>
                      <a:pt x="58127" y="0"/>
                    </a:moveTo>
                    <a:lnTo>
                      <a:pt x="403503" y="0"/>
                    </a:lnTo>
                    <a:cubicBezTo>
                      <a:pt x="418920" y="0"/>
                      <a:pt x="433704" y="6124"/>
                      <a:pt x="444605" y="17025"/>
                    </a:cubicBezTo>
                    <a:cubicBezTo>
                      <a:pt x="455506" y="27926"/>
                      <a:pt x="461630" y="42711"/>
                      <a:pt x="461630" y="58127"/>
                    </a:cubicBezTo>
                    <a:lnTo>
                      <a:pt x="461630" y="58127"/>
                    </a:lnTo>
                    <a:cubicBezTo>
                      <a:pt x="461630" y="73543"/>
                      <a:pt x="455506" y="88328"/>
                      <a:pt x="444605" y="99229"/>
                    </a:cubicBezTo>
                    <a:cubicBezTo>
                      <a:pt x="433704" y="110129"/>
                      <a:pt x="418920" y="116254"/>
                      <a:pt x="403503" y="116254"/>
                    </a:cubicBezTo>
                    <a:lnTo>
                      <a:pt x="58127" y="116254"/>
                    </a:lnTo>
                    <a:cubicBezTo>
                      <a:pt x="42711" y="116254"/>
                      <a:pt x="27926" y="110129"/>
                      <a:pt x="17025" y="99229"/>
                    </a:cubicBezTo>
                    <a:cubicBezTo>
                      <a:pt x="6124" y="88328"/>
                      <a:pt x="0" y="73543"/>
                      <a:pt x="0" y="58127"/>
                    </a:cubicBezTo>
                    <a:lnTo>
                      <a:pt x="0" y="58127"/>
                    </a:lnTo>
                    <a:cubicBezTo>
                      <a:pt x="0" y="42711"/>
                      <a:pt x="6124" y="27926"/>
                      <a:pt x="17025" y="17025"/>
                    </a:cubicBezTo>
                    <a:cubicBezTo>
                      <a:pt x="27926" y="6124"/>
                      <a:pt x="42711" y="0"/>
                      <a:pt x="58127" y="0"/>
                    </a:cubicBezTo>
                    <a:close/>
                  </a:path>
                </a:pathLst>
              </a:custGeom>
              <a:solidFill>
                <a:srgbClr val="E98E2D">
                  <a:alpha val="33725"/>
                </a:srgbClr>
              </a:solidFill>
            </p:spPr>
          </p:sp>
          <p:sp>
            <p:nvSpPr>
              <p:cNvPr name="TextBox 17" id="17"/>
              <p:cNvSpPr txBox="true"/>
              <p:nvPr/>
            </p:nvSpPr>
            <p:spPr>
              <a:xfrm>
                <a:off x="0" y="-47625"/>
                <a:ext cx="461630" cy="163879"/>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16259454" y="33767"/>
              <a:ext cx="2316084" cy="588533"/>
              <a:chOff x="0" y="0"/>
              <a:chExt cx="457498" cy="116254"/>
            </a:xfrm>
          </p:grpSpPr>
          <p:sp>
            <p:nvSpPr>
              <p:cNvPr name="Freeform 19" id="19"/>
              <p:cNvSpPr/>
              <p:nvPr/>
            </p:nvSpPr>
            <p:spPr>
              <a:xfrm flipH="false" flipV="false" rot="0">
                <a:off x="0" y="0"/>
                <a:ext cx="457498" cy="116254"/>
              </a:xfrm>
              <a:custGeom>
                <a:avLst/>
                <a:gdLst/>
                <a:ahLst/>
                <a:cxnLst/>
                <a:rect r="r" b="b" t="t" l="l"/>
                <a:pathLst>
                  <a:path h="116254" w="457498">
                    <a:moveTo>
                      <a:pt x="58127" y="0"/>
                    </a:moveTo>
                    <a:lnTo>
                      <a:pt x="399371" y="0"/>
                    </a:lnTo>
                    <a:cubicBezTo>
                      <a:pt x="431474" y="0"/>
                      <a:pt x="457498" y="26024"/>
                      <a:pt x="457498" y="58127"/>
                    </a:cubicBezTo>
                    <a:lnTo>
                      <a:pt x="457498" y="58127"/>
                    </a:lnTo>
                    <a:cubicBezTo>
                      <a:pt x="457498" y="73543"/>
                      <a:pt x="451374" y="88328"/>
                      <a:pt x="440473" y="99229"/>
                    </a:cubicBezTo>
                    <a:cubicBezTo>
                      <a:pt x="429572" y="110129"/>
                      <a:pt x="414788" y="116254"/>
                      <a:pt x="399371" y="116254"/>
                    </a:cubicBezTo>
                    <a:lnTo>
                      <a:pt x="58127" y="116254"/>
                    </a:lnTo>
                    <a:cubicBezTo>
                      <a:pt x="42711" y="116254"/>
                      <a:pt x="27926" y="110129"/>
                      <a:pt x="17025" y="99229"/>
                    </a:cubicBezTo>
                    <a:cubicBezTo>
                      <a:pt x="6124" y="88328"/>
                      <a:pt x="0" y="73543"/>
                      <a:pt x="0" y="58127"/>
                    </a:cubicBezTo>
                    <a:lnTo>
                      <a:pt x="0" y="58127"/>
                    </a:lnTo>
                    <a:cubicBezTo>
                      <a:pt x="0" y="42711"/>
                      <a:pt x="6124" y="27926"/>
                      <a:pt x="17025" y="17025"/>
                    </a:cubicBezTo>
                    <a:cubicBezTo>
                      <a:pt x="27926" y="6124"/>
                      <a:pt x="42711" y="0"/>
                      <a:pt x="58127" y="0"/>
                    </a:cubicBezTo>
                    <a:close/>
                  </a:path>
                </a:pathLst>
              </a:custGeom>
              <a:solidFill>
                <a:srgbClr val="E98E2D">
                  <a:alpha val="33725"/>
                </a:srgbClr>
              </a:solidFill>
            </p:spPr>
          </p:sp>
          <p:sp>
            <p:nvSpPr>
              <p:cNvPr name="TextBox 20" id="20"/>
              <p:cNvSpPr txBox="true"/>
              <p:nvPr/>
            </p:nvSpPr>
            <p:spPr>
              <a:xfrm>
                <a:off x="0" y="-47625"/>
                <a:ext cx="457498" cy="163879"/>
              </a:xfrm>
              <a:prstGeom prst="rect">
                <a:avLst/>
              </a:prstGeom>
            </p:spPr>
            <p:txBody>
              <a:bodyPr anchor="ctr" rtlCol="false" tIns="50800" lIns="50800" bIns="50800" rIns="50800"/>
              <a:lstStyle/>
              <a:p>
                <a:pPr algn="ctr">
                  <a:lnSpc>
                    <a:spcPts val="3499"/>
                  </a:lnSpc>
                </a:pPr>
              </a:p>
            </p:txBody>
          </p:sp>
        </p:grpSp>
        <p:sp>
          <p:nvSpPr>
            <p:cNvPr name="TextBox 21" id="21"/>
            <p:cNvSpPr txBox="true"/>
            <p:nvPr/>
          </p:nvSpPr>
          <p:spPr>
            <a:xfrm rot="0">
              <a:off x="0" y="-66675"/>
              <a:ext cx="22024348" cy="676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Ne pas hésiter à passer du temps à </a:t>
              </a:r>
              <a:r>
                <a:rPr lang="en-US" sz="3000" u="sng" b="true">
                  <a:solidFill>
                    <a:srgbClr val="000000"/>
                  </a:solidFill>
                  <a:latin typeface="Open Sauce Bold"/>
                  <a:ea typeface="Open Sauce Bold"/>
                  <a:cs typeface="Open Sauce Bold"/>
                  <a:sym typeface="Open Sauce Bold"/>
                </a:rPr>
                <a:t>réfléchir</a:t>
              </a:r>
              <a:r>
                <a:rPr lang="en-US" sz="3000">
                  <a:solidFill>
                    <a:srgbClr val="000000"/>
                  </a:solidFill>
                  <a:latin typeface="Open Sauce"/>
                  <a:ea typeface="Open Sauce"/>
                  <a:cs typeface="Open Sauce"/>
                  <a:sym typeface="Open Sauce"/>
                </a:rPr>
                <a:t> aux données et à les </a:t>
              </a:r>
              <a:r>
                <a:rPr lang="en-US" sz="3000" u="sng" b="true">
                  <a:solidFill>
                    <a:srgbClr val="000000"/>
                  </a:solidFill>
                  <a:latin typeface="Open Sauce Bold"/>
                  <a:ea typeface="Open Sauce Bold"/>
                  <a:cs typeface="Open Sauce Bold"/>
                  <a:sym typeface="Open Sauce Bold"/>
                </a:rPr>
                <a:t>préparer</a:t>
              </a:r>
              <a:r>
                <a:rPr lang="en-US" sz="3000">
                  <a:solidFill>
                    <a:srgbClr val="000000"/>
                  </a:solidFill>
                  <a:latin typeface="Open Sauce"/>
                  <a:ea typeface="Open Sauce"/>
                  <a:cs typeface="Open Sauce"/>
                  <a:sym typeface="Open Sauce"/>
                </a:rPr>
                <a:t>.</a:t>
              </a:r>
            </a:p>
          </p:txBody>
        </p:sp>
      </p:grpSp>
      <p:sp>
        <p:nvSpPr>
          <p:cNvPr name="TextBox 22" id="22"/>
          <p:cNvSpPr txBox="true"/>
          <p:nvPr/>
        </p:nvSpPr>
        <p:spPr>
          <a:xfrm rot="0">
            <a:off x="1028700" y="5007070"/>
            <a:ext cx="940627"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avec</a:t>
            </a:r>
          </a:p>
        </p:txBody>
      </p:sp>
    </p:spTree>
  </p:cSld>
  <p:clrMapOvr>
    <a:masterClrMapping/>
  </p:clrMapOvr>
</p:sld>
</file>

<file path=ppt/slides/slide7.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sp>
        <p:nvSpPr>
          <p:cNvPr name="TextBox 2" id="2"/>
          <p:cNvSpPr txBox="true"/>
          <p:nvPr/>
        </p:nvSpPr>
        <p:spPr>
          <a:xfrm rot="0">
            <a:off x="1028700" y="2119917"/>
            <a:ext cx="16922206" cy="481330"/>
          </a:xfrm>
          <a:prstGeom prst="rect">
            <a:avLst/>
          </a:prstGeom>
        </p:spPr>
        <p:txBody>
          <a:bodyPr anchor="t" rtlCol="false" tIns="0" lIns="0" bIns="0" rIns="0">
            <a:spAutoFit/>
          </a:bodyPr>
          <a:lstStyle/>
          <a:p>
            <a:pPr algn="l">
              <a:lnSpc>
                <a:spcPts val="3920"/>
              </a:lnSpc>
            </a:pPr>
            <a:r>
              <a:rPr lang="en-US" sz="2800">
                <a:solidFill>
                  <a:srgbClr val="000000"/>
                </a:solidFill>
                <a:latin typeface="Open Sauce"/>
                <a:ea typeface="Open Sauce"/>
                <a:cs typeface="Open Sauce"/>
                <a:sym typeface="Open Sauce"/>
              </a:rPr>
              <a:t>Annoter les phrases ou les amendements ? Cinq questions pour nous aider (cf. FAQ) : </a:t>
            </a:r>
          </a:p>
        </p:txBody>
      </p:sp>
      <p:sp>
        <p:nvSpPr>
          <p:cNvPr name="TextBox 3" id="3"/>
          <p:cNvSpPr txBox="true"/>
          <p:nvPr/>
        </p:nvSpPr>
        <p:spPr>
          <a:xfrm rot="0">
            <a:off x="1028700" y="923925"/>
            <a:ext cx="13599694"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Focus Données : quelle échelle choisir ?</a:t>
            </a:r>
          </a:p>
        </p:txBody>
      </p:sp>
      <p:sp>
        <p:nvSpPr>
          <p:cNvPr name="TextBox 4" id="4"/>
          <p:cNvSpPr txBox="true"/>
          <p:nvPr/>
        </p:nvSpPr>
        <p:spPr>
          <a:xfrm rot="0">
            <a:off x="1028700" y="3109371"/>
            <a:ext cx="16327877" cy="5458460"/>
          </a:xfrm>
          <a:prstGeom prst="rect">
            <a:avLst/>
          </a:prstGeom>
        </p:spPr>
        <p:txBody>
          <a:bodyPr anchor="t" rtlCol="false" tIns="0" lIns="0" bIns="0" rIns="0">
            <a:spAutoFit/>
          </a:bodyPr>
          <a:lstStyle/>
          <a:p>
            <a:pPr algn="l">
              <a:lnSpc>
                <a:spcPts val="3640"/>
              </a:lnSpc>
            </a:pPr>
            <a:r>
              <a:rPr lang="en-US" sz="2600">
                <a:solidFill>
                  <a:srgbClr val="000000"/>
                </a:solidFill>
                <a:latin typeface="Open Sauce"/>
                <a:ea typeface="Open Sauce"/>
                <a:cs typeface="Open Sauce"/>
                <a:sym typeface="Open Sauce"/>
              </a:rPr>
              <a:t>  </a:t>
            </a:r>
            <a:r>
              <a:rPr lang="en-US" sz="2600" b="true">
                <a:solidFill>
                  <a:srgbClr val="000000"/>
                </a:solidFill>
                <a:latin typeface="Open Sauce Bold"/>
                <a:ea typeface="Open Sauce Bold"/>
                <a:cs typeface="Open Sauce Bold"/>
                <a:sym typeface="Open Sauce Bold"/>
              </a:rPr>
              <a:t> </a:t>
            </a:r>
            <a:r>
              <a:rPr lang="en-US" sz="2600">
                <a:solidFill>
                  <a:srgbClr val="000000"/>
                </a:solidFill>
                <a:latin typeface="Open Sauce"/>
                <a:ea typeface="Open Sauce"/>
                <a:cs typeface="Open Sauce"/>
                <a:sym typeface="Open Sauce"/>
              </a:rPr>
              <a:t>1. </a:t>
            </a:r>
            <a:r>
              <a:rPr lang="en-US" sz="2600" b="true">
                <a:solidFill>
                  <a:srgbClr val="E98E2D"/>
                </a:solidFill>
                <a:latin typeface="Open Sauce Bold"/>
                <a:ea typeface="Open Sauce Bold"/>
                <a:cs typeface="Open Sauce Bold"/>
                <a:sym typeface="Open Sauce Bold"/>
              </a:rPr>
              <a:t>Objet de la recherche </a:t>
            </a:r>
            <a:r>
              <a:rPr lang="en-US" sz="2600" b="true">
                <a:solidFill>
                  <a:srgbClr val="E98E2D"/>
                </a:solidFill>
                <a:latin typeface="Open Sauce Bold"/>
                <a:ea typeface="Open Sauce Bold"/>
                <a:cs typeface="Open Sauce Bold"/>
                <a:sym typeface="Open Sauce Bold"/>
              </a:rPr>
              <a:t>?</a:t>
            </a:r>
            <a:r>
              <a:rPr lang="en-US" sz="2600">
                <a:solidFill>
                  <a:srgbClr val="E98E2D"/>
                </a:solidFill>
                <a:latin typeface="Open Sauce"/>
                <a:ea typeface="Open Sauce"/>
                <a:cs typeface="Open Sauce"/>
                <a:sym typeface="Open Sauce"/>
              </a:rPr>
              <a:t> </a:t>
            </a:r>
            <a:r>
              <a:rPr lang="en-US" sz="2600">
                <a:solidFill>
                  <a:srgbClr val="000000"/>
                </a:solidFill>
                <a:latin typeface="Open Sauce"/>
                <a:ea typeface="Open Sauce"/>
                <a:cs typeface="Open Sauce"/>
                <a:sym typeface="Open Sauce"/>
              </a:rPr>
              <a:t>Présence d’un certain groupe de mots (pas besoin du contexte). </a:t>
            </a:r>
          </a:p>
          <a:p>
            <a:pPr algn="l">
              <a:lnSpc>
                <a:spcPts val="3640"/>
              </a:lnSpc>
            </a:pPr>
          </a:p>
          <a:p>
            <a:pPr algn="l" marL="561341" indent="-280670" lvl="1">
              <a:lnSpc>
                <a:spcPts val="3640"/>
              </a:lnSpc>
              <a:buAutoNum type="arabicPeriod" startAt="1"/>
            </a:pPr>
            <a:r>
              <a:rPr lang="en-US" b="true" sz="2600">
                <a:solidFill>
                  <a:srgbClr val="E98E2D"/>
                </a:solidFill>
                <a:latin typeface="Open Sauce Bold"/>
                <a:ea typeface="Open Sauce Bold"/>
                <a:cs typeface="Open Sauce Bold"/>
                <a:sym typeface="Open Sauce Bold"/>
              </a:rPr>
              <a:t>H</a:t>
            </a:r>
            <a:r>
              <a:rPr lang="en-US" b="true" sz="2600">
                <a:solidFill>
                  <a:srgbClr val="E98E2D"/>
                </a:solidFill>
                <a:latin typeface="Open Sauce Bold"/>
                <a:ea typeface="Open Sauce Bold"/>
                <a:cs typeface="Open Sauce Bold"/>
                <a:sym typeface="Open Sauce Bold"/>
              </a:rPr>
              <a:t>omogénéité thématique ?</a:t>
            </a:r>
            <a:r>
              <a:rPr lang="en-US" sz="2600">
                <a:solidFill>
                  <a:srgbClr val="000000"/>
                </a:solidFill>
                <a:latin typeface="Open Sauce"/>
                <a:ea typeface="Open Sauce"/>
                <a:cs typeface="Open Sauce"/>
                <a:sym typeface="Open Sauce"/>
              </a:rPr>
              <a:t> Oui. </a:t>
            </a:r>
          </a:p>
          <a:p>
            <a:pPr algn="l">
              <a:lnSpc>
                <a:spcPts val="3640"/>
              </a:lnSpc>
            </a:pPr>
          </a:p>
          <a:p>
            <a:pPr algn="l" marL="561341" indent="-280670" lvl="1">
              <a:lnSpc>
                <a:spcPts val="3640"/>
              </a:lnSpc>
              <a:buAutoNum type="arabicPeriod" startAt="1"/>
            </a:pPr>
            <a:r>
              <a:rPr lang="en-US" b="true" sz="2600">
                <a:solidFill>
                  <a:srgbClr val="E98E2D"/>
                </a:solidFill>
                <a:latin typeface="Open Sauce Bold"/>
                <a:ea typeface="Open Sauce Bold"/>
                <a:cs typeface="Open Sauce Bold"/>
                <a:sym typeface="Open Sauce Bold"/>
              </a:rPr>
              <a:t>D</a:t>
            </a:r>
            <a:r>
              <a:rPr lang="en-US" b="true" sz="2600">
                <a:solidFill>
                  <a:srgbClr val="E98E2D"/>
                </a:solidFill>
                <a:latin typeface="Open Sauce Bold"/>
                <a:ea typeface="Open Sauce Bold"/>
                <a:cs typeface="Open Sauce Bold"/>
                <a:sym typeface="Open Sauce Bold"/>
              </a:rPr>
              <a:t>istribution des labels ? </a:t>
            </a:r>
            <a:r>
              <a:rPr lang="en-US" sz="2600">
                <a:solidFill>
                  <a:srgbClr val="000000"/>
                </a:solidFill>
                <a:latin typeface="Open Sauce"/>
                <a:ea typeface="Open Sauce"/>
                <a:cs typeface="Open Sauce"/>
                <a:sym typeface="Open Sauce"/>
              </a:rPr>
              <a:t>“source” a une prévalence de 0,5-1% au niveau de la phrase contre 8,5-9% au niveau de l'amendement.  </a:t>
            </a:r>
          </a:p>
          <a:p>
            <a:pPr algn="l">
              <a:lnSpc>
                <a:spcPts val="3640"/>
              </a:lnSpc>
            </a:pPr>
          </a:p>
          <a:p>
            <a:pPr algn="l" marL="561341" indent="-280670" lvl="1">
              <a:lnSpc>
                <a:spcPts val="3640"/>
              </a:lnSpc>
              <a:buAutoNum type="arabicPeriod" startAt="1"/>
            </a:pPr>
            <a:r>
              <a:rPr lang="en-US" b="true" sz="2600">
                <a:solidFill>
                  <a:srgbClr val="E98E2D"/>
                </a:solidFill>
                <a:latin typeface="Open Sauce Bold"/>
                <a:ea typeface="Open Sauce Bold"/>
                <a:cs typeface="Open Sauce Bold"/>
                <a:sym typeface="Open Sauce Bold"/>
              </a:rPr>
              <a:t>M</a:t>
            </a:r>
            <a:r>
              <a:rPr lang="en-US" b="true" sz="2600">
                <a:solidFill>
                  <a:srgbClr val="E98E2D"/>
                </a:solidFill>
                <a:latin typeface="Open Sauce Bold"/>
                <a:ea typeface="Open Sauce Bold"/>
                <a:cs typeface="Open Sauce Bold"/>
                <a:sym typeface="Open Sauce Bold"/>
              </a:rPr>
              <a:t>odèle adapté aux données avec fenêtre de contexte appropriée ?</a:t>
            </a:r>
            <a:r>
              <a:rPr lang="en-US" sz="2600">
                <a:solidFill>
                  <a:srgbClr val="000000"/>
                </a:solidFill>
                <a:latin typeface="Open Sauce"/>
                <a:ea typeface="Open Sauce"/>
                <a:cs typeface="Open Sauce"/>
                <a:sym typeface="Open Sauce"/>
              </a:rPr>
              <a:t> Oui, des modèles en français contemporain existent jusqu’à 8k tokens. </a:t>
            </a:r>
          </a:p>
          <a:p>
            <a:pPr algn="l">
              <a:lnSpc>
                <a:spcPts val="3640"/>
              </a:lnSpc>
            </a:pPr>
          </a:p>
          <a:p>
            <a:pPr algn="l" marL="561341" indent="-280670" lvl="1">
              <a:lnSpc>
                <a:spcPts val="3640"/>
              </a:lnSpc>
              <a:buAutoNum type="arabicPeriod" startAt="1"/>
            </a:pPr>
            <a:r>
              <a:rPr lang="en-US" b="true" sz="2600">
                <a:solidFill>
                  <a:srgbClr val="E98E2D"/>
                </a:solidFill>
                <a:latin typeface="Open Sauce Bold"/>
                <a:ea typeface="Open Sauce Bold"/>
                <a:cs typeface="Open Sauce Bold"/>
                <a:sym typeface="Open Sauce Bold"/>
              </a:rPr>
              <a:t>P</a:t>
            </a:r>
            <a:r>
              <a:rPr lang="en-US" b="true" sz="2600">
                <a:solidFill>
                  <a:srgbClr val="E98E2D"/>
                </a:solidFill>
                <a:latin typeface="Open Sauce Bold"/>
                <a:ea typeface="Open Sauce Bold"/>
                <a:cs typeface="Open Sauce Bold"/>
                <a:sym typeface="Open Sauce Bold"/>
              </a:rPr>
              <a:t>uissance de calcul suffisante ?</a:t>
            </a:r>
            <a:r>
              <a:rPr lang="en-US" sz="2600">
                <a:solidFill>
                  <a:srgbClr val="000000"/>
                </a:solidFill>
                <a:latin typeface="Open Sauce"/>
                <a:ea typeface="Open Sauce"/>
                <a:cs typeface="Open Sauce"/>
                <a:sym typeface="Open Sauce"/>
              </a:rPr>
              <a:t> Sur l’instance CREST, max 1024 tokens recommandés. Seuls 664 amendements sont au dessus. </a:t>
            </a:r>
          </a:p>
        </p:txBody>
      </p:sp>
      <p:sp>
        <p:nvSpPr>
          <p:cNvPr name="TextBox 5" id="5"/>
          <p:cNvSpPr txBox="true"/>
          <p:nvPr/>
        </p:nvSpPr>
        <p:spPr>
          <a:xfrm rot="0">
            <a:off x="1028700" y="8901206"/>
            <a:ext cx="16230600" cy="481330"/>
          </a:xfrm>
          <a:prstGeom prst="rect">
            <a:avLst/>
          </a:prstGeom>
        </p:spPr>
        <p:txBody>
          <a:bodyPr anchor="t" rtlCol="false" tIns="0" lIns="0" bIns="0" rIns="0">
            <a:spAutoFit/>
          </a:bodyPr>
          <a:lstStyle/>
          <a:p>
            <a:pPr algn="r">
              <a:lnSpc>
                <a:spcPts val="3920"/>
              </a:lnSpc>
            </a:pPr>
            <a:r>
              <a:rPr lang="en-US" sz="2800">
                <a:solidFill>
                  <a:srgbClr val="000000"/>
                </a:solidFill>
                <a:latin typeface="Open Sauce"/>
                <a:ea typeface="Open Sauce"/>
                <a:cs typeface="Open Sauce"/>
                <a:sym typeface="Open Sauce"/>
              </a:rPr>
              <a:t>Le point 3 nous amène à </a:t>
            </a:r>
            <a:r>
              <a:rPr lang="en-US" sz="2800">
                <a:solidFill>
                  <a:srgbClr val="000000"/>
                </a:solidFill>
                <a:latin typeface="Open Sauce"/>
                <a:ea typeface="Open Sauce"/>
                <a:cs typeface="Open Sauce"/>
                <a:sym typeface="Open Sauce"/>
              </a:rPr>
              <a:t>choisir le niveau des </a:t>
            </a:r>
            <a:r>
              <a:rPr lang="en-US" sz="2800" b="true">
                <a:solidFill>
                  <a:srgbClr val="000000"/>
                </a:solidFill>
                <a:latin typeface="Open Sauce Bold"/>
                <a:ea typeface="Open Sauce Bold"/>
                <a:cs typeface="Open Sauce Bold"/>
                <a:sym typeface="Open Sauce Bold"/>
              </a:rPr>
              <a:t>amendements</a:t>
            </a:r>
            <a:r>
              <a:rPr lang="en-US" sz="2800">
                <a:solidFill>
                  <a:srgbClr val="000000"/>
                </a:solidFill>
                <a:latin typeface="Open Sauce"/>
                <a:ea typeface="Open Sauce"/>
                <a:cs typeface="Open Sauce"/>
                <a:sym typeface="Open Sauce"/>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79493" y="4507465"/>
            <a:ext cx="6301966" cy="3917722"/>
          </a:xfrm>
          <a:custGeom>
            <a:avLst/>
            <a:gdLst/>
            <a:ahLst/>
            <a:cxnLst/>
            <a:rect r="r" b="b" t="t" l="l"/>
            <a:pathLst>
              <a:path h="3917722" w="6301966">
                <a:moveTo>
                  <a:pt x="0" y="0"/>
                </a:moveTo>
                <a:lnTo>
                  <a:pt x="6301966" y="0"/>
                </a:lnTo>
                <a:lnTo>
                  <a:pt x="6301966" y="3917723"/>
                </a:lnTo>
                <a:lnTo>
                  <a:pt x="0" y="3917723"/>
                </a:lnTo>
                <a:lnTo>
                  <a:pt x="0" y="0"/>
                </a:lnTo>
                <a:close/>
              </a:path>
            </a:pathLst>
          </a:custGeom>
          <a:blipFill>
            <a:blip r:embed="rId3"/>
            <a:stretch>
              <a:fillRect l="0" t="0" r="0" b="0"/>
            </a:stretch>
          </a:blipFill>
        </p:spPr>
      </p:sp>
      <p:sp>
        <p:nvSpPr>
          <p:cNvPr name="TextBox 3" id="3"/>
          <p:cNvSpPr txBox="true"/>
          <p:nvPr/>
        </p:nvSpPr>
        <p:spPr>
          <a:xfrm rot="0">
            <a:off x="1028700" y="2214441"/>
            <a:ext cx="16518261" cy="1590675"/>
          </a:xfrm>
          <a:prstGeom prst="rect">
            <a:avLst/>
          </a:prstGeom>
        </p:spPr>
        <p:txBody>
          <a:bodyPr anchor="t" rtlCol="false" tIns="0" lIns="0" bIns="0" rIns="0">
            <a:spAutoFit/>
          </a:bodyPr>
          <a:lstStyle/>
          <a:p>
            <a:pPr algn="l">
              <a:lnSpc>
                <a:spcPts val="4200"/>
              </a:lnSpc>
            </a:pPr>
            <a:r>
              <a:rPr lang="en-US" sz="3000" b="true">
                <a:solidFill>
                  <a:srgbClr val="000000"/>
                </a:solidFill>
                <a:latin typeface="Open Sauce Bold"/>
                <a:ea typeface="Open Sauce Bold"/>
                <a:cs typeface="Open Sauce Bold"/>
                <a:sym typeface="Open Sauce Bold"/>
              </a:rPr>
              <a:t>Données préparées</a:t>
            </a:r>
            <a:r>
              <a:rPr lang="en-US" sz="3000">
                <a:solidFill>
                  <a:srgbClr val="000000"/>
                </a:solidFill>
                <a:latin typeface="Open Sauce"/>
                <a:ea typeface="Open Sauce"/>
                <a:cs typeface="Open Sauce"/>
                <a:sym typeface="Open Sauce"/>
              </a:rPr>
              <a:t> (</a:t>
            </a:r>
            <a:r>
              <a:rPr lang="en-US" sz="3000" b="true">
                <a:solidFill>
                  <a:srgbClr val="000000"/>
                </a:solidFill>
                <a:latin typeface="Open Sauce Bold"/>
                <a:ea typeface="Open Sauce Bold"/>
                <a:cs typeface="Open Sauce Bold"/>
                <a:sym typeface="Open Sauce Bold"/>
              </a:rPr>
              <a:t>65 388 amendements x 2 col</a:t>
            </a:r>
            <a:r>
              <a:rPr lang="en-US" sz="3000">
                <a:solidFill>
                  <a:srgbClr val="000000"/>
                </a:solidFill>
                <a:latin typeface="Open Sauce"/>
                <a:ea typeface="Open Sauce"/>
                <a:cs typeface="Open Sauce"/>
                <a:sym typeface="Open Sauce"/>
              </a:rPr>
              <a:t>) : amendements de la XVIIème législature de l’Assemblée Nationale dont l’exposé sommaire est unique, non vide et d’une longueur inférieure à 1024 tokens.</a:t>
            </a:r>
          </a:p>
        </p:txBody>
      </p:sp>
      <p:sp>
        <p:nvSpPr>
          <p:cNvPr name="TextBox 4" id="4"/>
          <p:cNvSpPr txBox="true"/>
          <p:nvPr/>
        </p:nvSpPr>
        <p:spPr>
          <a:xfrm rot="0">
            <a:off x="1028700" y="923925"/>
            <a:ext cx="4300954"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Données</a:t>
            </a:r>
          </a:p>
        </p:txBody>
      </p:sp>
      <p:sp>
        <p:nvSpPr>
          <p:cNvPr name="TextBox 5" id="5"/>
          <p:cNvSpPr txBox="true"/>
          <p:nvPr/>
        </p:nvSpPr>
        <p:spPr>
          <a:xfrm rot="0">
            <a:off x="6108342" y="8544098"/>
            <a:ext cx="3178032"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identifiant unique </a:t>
            </a:r>
          </a:p>
        </p:txBody>
      </p:sp>
      <p:sp>
        <p:nvSpPr>
          <p:cNvPr name="TextBox 6" id="6"/>
          <p:cNvSpPr txBox="true"/>
          <p:nvPr/>
        </p:nvSpPr>
        <p:spPr>
          <a:xfrm rot="0">
            <a:off x="9130476" y="8544098"/>
            <a:ext cx="3178032"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Open Sauce"/>
                <a:ea typeface="Open Sauce"/>
                <a:cs typeface="Open Sauce"/>
                <a:sym typeface="Open Sauce"/>
              </a:rPr>
              <a:t>texte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3"/>
            <a:stretch>
              <a:fillRect l="0" t="0" r="0" b="0"/>
            </a:stretch>
          </a:blipFill>
        </p:spPr>
      </p:sp>
      <p:sp>
        <p:nvSpPr>
          <p:cNvPr name="Freeform 3" id="3"/>
          <p:cNvSpPr/>
          <p:nvPr/>
        </p:nvSpPr>
        <p:spPr>
          <a:xfrm flipH="false" flipV="false" rot="0">
            <a:off x="1028700" y="3853235"/>
            <a:ext cx="10295361" cy="5405065"/>
          </a:xfrm>
          <a:custGeom>
            <a:avLst/>
            <a:gdLst/>
            <a:ahLst/>
            <a:cxnLst/>
            <a:rect r="r" b="b" t="t" l="l"/>
            <a:pathLst>
              <a:path h="5405065" w="10295361">
                <a:moveTo>
                  <a:pt x="0" y="0"/>
                </a:moveTo>
                <a:lnTo>
                  <a:pt x="10295361" y="0"/>
                </a:lnTo>
                <a:lnTo>
                  <a:pt x="10295361" y="5405065"/>
                </a:lnTo>
                <a:lnTo>
                  <a:pt x="0" y="5405065"/>
                </a:lnTo>
                <a:lnTo>
                  <a:pt x="0" y="0"/>
                </a:lnTo>
                <a:close/>
              </a:path>
            </a:pathLst>
          </a:custGeom>
          <a:blipFill>
            <a:blip r:embed="rId4"/>
            <a:stretch>
              <a:fillRect l="0" t="0" r="0" b="0"/>
            </a:stretch>
          </a:blipFill>
        </p:spPr>
      </p:sp>
      <p:sp>
        <p:nvSpPr>
          <p:cNvPr name="Freeform 4" id="4"/>
          <p:cNvSpPr/>
          <p:nvPr/>
        </p:nvSpPr>
        <p:spPr>
          <a:xfrm flipH="false" flipV="false" rot="0">
            <a:off x="8151522" y="2274206"/>
            <a:ext cx="9320328" cy="4893172"/>
          </a:xfrm>
          <a:custGeom>
            <a:avLst/>
            <a:gdLst/>
            <a:ahLst/>
            <a:cxnLst/>
            <a:rect r="r" b="b" t="t" l="l"/>
            <a:pathLst>
              <a:path h="4893172" w="9320328">
                <a:moveTo>
                  <a:pt x="0" y="0"/>
                </a:moveTo>
                <a:lnTo>
                  <a:pt x="9320328" y="0"/>
                </a:lnTo>
                <a:lnTo>
                  <a:pt x="9320328" y="4893173"/>
                </a:lnTo>
                <a:lnTo>
                  <a:pt x="0" y="4893173"/>
                </a:lnTo>
                <a:lnTo>
                  <a:pt x="0" y="0"/>
                </a:lnTo>
                <a:close/>
              </a:path>
            </a:pathLst>
          </a:custGeom>
          <a:blipFill>
            <a:blip r:embed="rId5"/>
            <a:stretch>
              <a:fillRect l="0" t="0" r="0" b="0"/>
            </a:stretch>
          </a:blipFill>
        </p:spPr>
      </p:sp>
      <p:sp>
        <p:nvSpPr>
          <p:cNvPr name="Freeform 5" id="5"/>
          <p:cNvSpPr/>
          <p:nvPr/>
        </p:nvSpPr>
        <p:spPr>
          <a:xfrm flipH="false" flipV="false" rot="0">
            <a:off x="7133455" y="5967738"/>
            <a:ext cx="513207" cy="637524"/>
          </a:xfrm>
          <a:custGeom>
            <a:avLst/>
            <a:gdLst/>
            <a:ahLst/>
            <a:cxnLst/>
            <a:rect r="r" b="b" t="t" l="l"/>
            <a:pathLst>
              <a:path h="637524" w="513207">
                <a:moveTo>
                  <a:pt x="0" y="0"/>
                </a:moveTo>
                <a:lnTo>
                  <a:pt x="513207" y="0"/>
                </a:lnTo>
                <a:lnTo>
                  <a:pt x="513207" y="637524"/>
                </a:lnTo>
                <a:lnTo>
                  <a:pt x="0" y="6375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929998" y="923925"/>
            <a:ext cx="13731468"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0 : se connecter à ActiveTigger</a:t>
            </a:r>
          </a:p>
        </p:txBody>
      </p:sp>
      <p:sp>
        <p:nvSpPr>
          <p:cNvPr name="TextBox 7" id="7"/>
          <p:cNvSpPr txBox="true"/>
          <p:nvPr/>
        </p:nvSpPr>
        <p:spPr>
          <a:xfrm rot="0">
            <a:off x="1161815" y="2217056"/>
            <a:ext cx="16518261" cy="508046"/>
          </a:xfrm>
          <a:prstGeom prst="rect">
            <a:avLst/>
          </a:prstGeom>
        </p:spPr>
        <p:txBody>
          <a:bodyPr anchor="t" rtlCol="false" tIns="0" lIns="0" bIns="0" rIns="0">
            <a:spAutoFit/>
          </a:bodyPr>
          <a:lstStyle/>
          <a:p>
            <a:pPr algn="l">
              <a:lnSpc>
                <a:spcPts val="4199"/>
              </a:lnSpc>
            </a:pPr>
            <a:r>
              <a:rPr lang="en-US" sz="2999">
                <a:solidFill>
                  <a:srgbClr val="000000"/>
                </a:solidFill>
                <a:latin typeface="Open Sauce"/>
                <a:ea typeface="Open Sauce"/>
                <a:cs typeface="Open Sauce"/>
                <a:sym typeface="Open Sauce"/>
              </a:rPr>
              <a:t>Adresse : app.activetigger.com</a:t>
            </a:r>
          </a:p>
        </p:txBody>
      </p:sp>
      <p:sp>
        <p:nvSpPr>
          <p:cNvPr name="TextBox 8" id="8"/>
          <p:cNvSpPr txBox="true"/>
          <p:nvPr/>
        </p:nvSpPr>
        <p:spPr>
          <a:xfrm rot="0">
            <a:off x="1161815" y="2793979"/>
            <a:ext cx="6484847" cy="508046"/>
          </a:xfrm>
          <a:prstGeom prst="rect">
            <a:avLst/>
          </a:prstGeom>
        </p:spPr>
        <p:txBody>
          <a:bodyPr anchor="t" rtlCol="false" tIns="0" lIns="0" bIns="0" rIns="0">
            <a:spAutoFit/>
          </a:bodyPr>
          <a:lstStyle/>
          <a:p>
            <a:pPr algn="l">
              <a:lnSpc>
                <a:spcPts val="4199"/>
              </a:lnSpc>
            </a:pPr>
            <a:r>
              <a:rPr lang="en-US" sz="2999">
                <a:solidFill>
                  <a:srgbClr val="000000"/>
                </a:solidFill>
                <a:latin typeface="Open Sauce"/>
                <a:ea typeface="Open Sauce"/>
                <a:cs typeface="Open Sauce"/>
                <a:sym typeface="Open Sauce"/>
              </a:rPr>
              <a:t>Identifiants : voir lien dans le Chat</a:t>
            </a:r>
          </a:p>
        </p:txBody>
      </p:sp>
      <p:sp>
        <p:nvSpPr>
          <p:cNvPr name="Freeform 9" id="9"/>
          <p:cNvSpPr/>
          <p:nvPr/>
        </p:nvSpPr>
        <p:spPr>
          <a:xfrm flipH="false" flipV="false" rot="0">
            <a:off x="13453639" y="3868117"/>
            <a:ext cx="513207" cy="637524"/>
          </a:xfrm>
          <a:custGeom>
            <a:avLst/>
            <a:gdLst/>
            <a:ahLst/>
            <a:cxnLst/>
            <a:rect r="r" b="b" t="t" l="l"/>
            <a:pathLst>
              <a:path h="637524" w="513207">
                <a:moveTo>
                  <a:pt x="0" y="0"/>
                </a:moveTo>
                <a:lnTo>
                  <a:pt x="513207" y="0"/>
                </a:lnTo>
                <a:lnTo>
                  <a:pt x="513207" y="637525"/>
                </a:lnTo>
                <a:lnTo>
                  <a:pt x="0" y="637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3"/>
            <a:stretch>
              <a:fillRect l="0" t="0" r="0" b="0"/>
            </a:stretch>
          </a:blipFill>
        </p:spPr>
      </p:sp>
      <p:sp>
        <p:nvSpPr>
          <p:cNvPr name="Freeform 3" id="3"/>
          <p:cNvSpPr/>
          <p:nvPr/>
        </p:nvSpPr>
        <p:spPr>
          <a:xfrm flipH="false" flipV="false" rot="0">
            <a:off x="3815423" y="2477128"/>
            <a:ext cx="4631018" cy="445663"/>
          </a:xfrm>
          <a:custGeom>
            <a:avLst/>
            <a:gdLst/>
            <a:ahLst/>
            <a:cxnLst/>
            <a:rect r="r" b="b" t="t" l="l"/>
            <a:pathLst>
              <a:path h="445663" w="4631018">
                <a:moveTo>
                  <a:pt x="0" y="0"/>
                </a:moveTo>
                <a:lnTo>
                  <a:pt x="4631018" y="0"/>
                </a:lnTo>
                <a:lnTo>
                  <a:pt x="4631018" y="445662"/>
                </a:lnTo>
                <a:lnTo>
                  <a:pt x="0" y="445662"/>
                </a:lnTo>
                <a:lnTo>
                  <a:pt x="0" y="0"/>
                </a:lnTo>
                <a:close/>
              </a:path>
            </a:pathLst>
          </a:custGeom>
          <a:blipFill>
            <a:blip r:embed="rId4"/>
            <a:stretch>
              <a:fillRect l="-83416" t="-179549" r="-83973" b="-607844"/>
            </a:stretch>
          </a:blipFill>
        </p:spPr>
      </p:sp>
      <p:sp>
        <p:nvSpPr>
          <p:cNvPr name="Freeform 4" id="4"/>
          <p:cNvSpPr/>
          <p:nvPr/>
        </p:nvSpPr>
        <p:spPr>
          <a:xfrm flipH="false" flipV="false" rot="0">
            <a:off x="6547530" y="3466838"/>
            <a:ext cx="10437006" cy="5479428"/>
          </a:xfrm>
          <a:custGeom>
            <a:avLst/>
            <a:gdLst/>
            <a:ahLst/>
            <a:cxnLst/>
            <a:rect r="r" b="b" t="t" l="l"/>
            <a:pathLst>
              <a:path h="5479428" w="10437006">
                <a:moveTo>
                  <a:pt x="0" y="0"/>
                </a:moveTo>
                <a:lnTo>
                  <a:pt x="10437006" y="0"/>
                </a:lnTo>
                <a:lnTo>
                  <a:pt x="10437006" y="5479429"/>
                </a:lnTo>
                <a:lnTo>
                  <a:pt x="0" y="5479429"/>
                </a:lnTo>
                <a:lnTo>
                  <a:pt x="0" y="0"/>
                </a:lnTo>
                <a:close/>
              </a:path>
            </a:pathLst>
          </a:custGeom>
          <a:blipFill>
            <a:blip r:embed="rId5"/>
            <a:stretch>
              <a:fillRect l="0" t="0" r="0" b="0"/>
            </a:stretch>
          </a:blipFill>
        </p:spPr>
      </p:sp>
      <p:sp>
        <p:nvSpPr>
          <p:cNvPr name="TextBox 5" id="5"/>
          <p:cNvSpPr txBox="true"/>
          <p:nvPr/>
        </p:nvSpPr>
        <p:spPr>
          <a:xfrm rot="0">
            <a:off x="1929998" y="923925"/>
            <a:ext cx="7599032"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1 : créer un projet</a:t>
            </a:r>
          </a:p>
        </p:txBody>
      </p:sp>
      <p:sp>
        <p:nvSpPr>
          <p:cNvPr name="TextBox 6" id="6"/>
          <p:cNvSpPr txBox="true"/>
          <p:nvPr/>
        </p:nvSpPr>
        <p:spPr>
          <a:xfrm rot="0">
            <a:off x="1254245" y="2398915"/>
            <a:ext cx="2561178"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1. Cliquer sur </a:t>
            </a:r>
          </a:p>
        </p:txBody>
      </p:sp>
      <p:sp>
        <p:nvSpPr>
          <p:cNvPr name="TextBox 7" id="7"/>
          <p:cNvSpPr txBox="true"/>
          <p:nvPr/>
        </p:nvSpPr>
        <p:spPr>
          <a:xfrm rot="0">
            <a:off x="1254245" y="3400163"/>
            <a:ext cx="5118895" cy="15906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2. Choisir le nom du projet </a:t>
            </a:r>
          </a:p>
          <a:p>
            <a:pPr algn="l">
              <a:lnSpc>
                <a:spcPts val="4200"/>
              </a:lnSpc>
            </a:pPr>
            <a:r>
              <a:rPr lang="en-US" sz="3000">
                <a:solidFill>
                  <a:srgbClr val="000000"/>
                </a:solidFill>
                <a:latin typeface="Open Sauce"/>
                <a:ea typeface="Open Sauce"/>
                <a:cs typeface="Open Sauce"/>
                <a:sym typeface="Open Sauce"/>
              </a:rPr>
              <a:t>et sélectionner le dataset depuis votre disque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7946376" y="2328972"/>
            <a:ext cx="8834053" cy="3014620"/>
          </a:xfrm>
          <a:custGeom>
            <a:avLst/>
            <a:gdLst/>
            <a:ahLst/>
            <a:cxnLst/>
            <a:rect r="r" b="b" t="t" l="l"/>
            <a:pathLst>
              <a:path h="3014620" w="8834053">
                <a:moveTo>
                  <a:pt x="0" y="0"/>
                </a:moveTo>
                <a:lnTo>
                  <a:pt x="8834053" y="0"/>
                </a:lnTo>
                <a:lnTo>
                  <a:pt x="8834053" y="3014621"/>
                </a:lnTo>
                <a:lnTo>
                  <a:pt x="0" y="3014621"/>
                </a:lnTo>
                <a:lnTo>
                  <a:pt x="0" y="0"/>
                </a:lnTo>
                <a:close/>
              </a:path>
            </a:pathLst>
          </a:custGeom>
          <a:blipFill>
            <a:blip r:embed="rId3"/>
            <a:stretch>
              <a:fillRect l="0" t="0" r="0" b="0"/>
            </a:stretch>
          </a:blipFill>
        </p:spPr>
      </p:sp>
      <p:sp>
        <p:nvSpPr>
          <p:cNvPr name="Freeform 4" id="4"/>
          <p:cNvSpPr/>
          <p:nvPr/>
        </p:nvSpPr>
        <p:spPr>
          <a:xfrm flipH="false" flipV="false" rot="0">
            <a:off x="8029403" y="6010343"/>
            <a:ext cx="8751026" cy="2718287"/>
          </a:xfrm>
          <a:custGeom>
            <a:avLst/>
            <a:gdLst/>
            <a:ahLst/>
            <a:cxnLst/>
            <a:rect r="r" b="b" t="t" l="l"/>
            <a:pathLst>
              <a:path h="2718287" w="8751026">
                <a:moveTo>
                  <a:pt x="0" y="0"/>
                </a:moveTo>
                <a:lnTo>
                  <a:pt x="8751026" y="0"/>
                </a:lnTo>
                <a:lnTo>
                  <a:pt x="8751026" y="2718287"/>
                </a:lnTo>
                <a:lnTo>
                  <a:pt x="0" y="2718287"/>
                </a:lnTo>
                <a:lnTo>
                  <a:pt x="0" y="0"/>
                </a:lnTo>
                <a:close/>
              </a:path>
            </a:pathLst>
          </a:custGeom>
          <a:blipFill>
            <a:blip r:embed="rId4"/>
            <a:stretch>
              <a:fillRect l="0" t="0" r="0" b="0"/>
            </a:stretch>
          </a:blipFill>
        </p:spPr>
      </p:sp>
      <p:sp>
        <p:nvSpPr>
          <p:cNvPr name="TextBox 5" id="5"/>
          <p:cNvSpPr txBox="true"/>
          <p:nvPr/>
        </p:nvSpPr>
        <p:spPr>
          <a:xfrm rot="0">
            <a:off x="1929998" y="923925"/>
            <a:ext cx="7599032"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1 : créer un projet</a:t>
            </a:r>
          </a:p>
        </p:txBody>
      </p:sp>
      <p:sp>
        <p:nvSpPr>
          <p:cNvPr name="TextBox 6" id="6"/>
          <p:cNvSpPr txBox="true"/>
          <p:nvPr/>
        </p:nvSpPr>
        <p:spPr>
          <a:xfrm rot="0">
            <a:off x="1254245" y="2274753"/>
            <a:ext cx="6555076"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3. Remplir les informations demandées sur notre dataset</a:t>
            </a:r>
          </a:p>
        </p:txBody>
      </p:sp>
      <p:sp>
        <p:nvSpPr>
          <p:cNvPr name="TextBox 7" id="7"/>
          <p:cNvSpPr txBox="true"/>
          <p:nvPr/>
        </p:nvSpPr>
        <p:spPr>
          <a:xfrm rot="0">
            <a:off x="1254245" y="5943668"/>
            <a:ext cx="6326341"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4. Sélectionner la taille des </a:t>
            </a:r>
            <a:r>
              <a:rPr lang="en-US" sz="3000" b="true">
                <a:solidFill>
                  <a:srgbClr val="000000"/>
                </a:solidFill>
                <a:latin typeface="Open Sauce Bold"/>
                <a:ea typeface="Open Sauce Bold"/>
                <a:cs typeface="Open Sauce Bold"/>
                <a:sym typeface="Open Sauce Bold"/>
              </a:rPr>
              <a:t>train</a:t>
            </a:r>
            <a:r>
              <a:rPr lang="en-US" sz="3000">
                <a:solidFill>
                  <a:srgbClr val="000000"/>
                </a:solidFill>
                <a:latin typeface="Open Sauce"/>
                <a:ea typeface="Open Sauce"/>
                <a:cs typeface="Open Sauce"/>
                <a:sym typeface="Open Sauce"/>
              </a:rPr>
              <a:t>, </a:t>
            </a:r>
            <a:r>
              <a:rPr lang="en-US" sz="3000" b="true">
                <a:solidFill>
                  <a:srgbClr val="000000"/>
                </a:solidFill>
                <a:latin typeface="Open Sauce Bold"/>
                <a:ea typeface="Open Sauce Bold"/>
                <a:cs typeface="Open Sauce Bold"/>
                <a:sym typeface="Open Sauce Bold"/>
              </a:rPr>
              <a:t>validation</a:t>
            </a:r>
            <a:r>
              <a:rPr lang="en-US" sz="3000">
                <a:solidFill>
                  <a:srgbClr val="000000"/>
                </a:solidFill>
                <a:latin typeface="Open Sauce"/>
                <a:ea typeface="Open Sauce"/>
                <a:cs typeface="Open Sauce"/>
                <a:sym typeface="Open Sauce"/>
              </a:rPr>
              <a:t> et </a:t>
            </a:r>
            <a:r>
              <a:rPr lang="en-US" sz="3000" b="true">
                <a:solidFill>
                  <a:srgbClr val="000000"/>
                </a:solidFill>
                <a:latin typeface="Open Sauce Bold"/>
                <a:ea typeface="Open Sauce Bold"/>
                <a:cs typeface="Open Sauce Bold"/>
                <a:sym typeface="Open Sauce Bold"/>
              </a:rPr>
              <a:t>test sets</a:t>
            </a:r>
            <a:r>
              <a:rPr lang="en-US" sz="3000">
                <a:solidFill>
                  <a:srgbClr val="000000"/>
                </a:solidFill>
                <a:latin typeface="Open Sauce"/>
                <a:ea typeface="Open Sauce"/>
                <a:cs typeface="Open Sauce"/>
                <a:sym typeface="Open Sauce"/>
              </a:rPr>
              <a:t>.</a:t>
            </a:r>
          </a:p>
        </p:txBody>
      </p:sp>
      <p:sp>
        <p:nvSpPr>
          <p:cNvPr name="TextBox 8" id="8"/>
          <p:cNvSpPr txBox="true"/>
          <p:nvPr/>
        </p:nvSpPr>
        <p:spPr>
          <a:xfrm rot="0">
            <a:off x="1505212" y="7176135"/>
            <a:ext cx="5847669" cy="20821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Train : défaut 10 000 (tout ne sera pas annoté)</a:t>
            </a:r>
          </a:p>
          <a:p>
            <a:pPr algn="l" marL="518160" indent="-259080" lvl="1">
              <a:lnSpc>
                <a:spcPts val="3359"/>
              </a:lnSpc>
              <a:buFont typeface="Arial"/>
              <a:buChar char="•"/>
            </a:pPr>
            <a:r>
              <a:rPr lang="en-US" sz="2400">
                <a:solidFill>
                  <a:srgbClr val="000000"/>
                </a:solidFill>
                <a:latin typeface="Open Sauce"/>
                <a:ea typeface="Open Sauce"/>
                <a:cs typeface="Open Sauce"/>
                <a:sym typeface="Open Sauce"/>
              </a:rPr>
              <a:t>Valid, Test : commençons par 300. Le label “source” a une prévalence de 8-9%, on aura ≈26 items par set.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8029403" y="2341428"/>
            <a:ext cx="8751026" cy="3722030"/>
          </a:xfrm>
          <a:custGeom>
            <a:avLst/>
            <a:gdLst/>
            <a:ahLst/>
            <a:cxnLst/>
            <a:rect r="r" b="b" t="t" l="l"/>
            <a:pathLst>
              <a:path h="3722030" w="8751026">
                <a:moveTo>
                  <a:pt x="0" y="0"/>
                </a:moveTo>
                <a:lnTo>
                  <a:pt x="8751026" y="0"/>
                </a:lnTo>
                <a:lnTo>
                  <a:pt x="8751026" y="3722030"/>
                </a:lnTo>
                <a:lnTo>
                  <a:pt x="0" y="3722030"/>
                </a:lnTo>
                <a:lnTo>
                  <a:pt x="0" y="0"/>
                </a:lnTo>
                <a:close/>
              </a:path>
            </a:pathLst>
          </a:custGeom>
          <a:blipFill>
            <a:blip r:embed="rId3"/>
            <a:stretch>
              <a:fillRect l="0" t="0" r="0" b="-11091"/>
            </a:stretch>
          </a:blipFill>
        </p:spPr>
      </p:sp>
      <p:sp>
        <p:nvSpPr>
          <p:cNvPr name="TextBox 4" id="4"/>
          <p:cNvSpPr txBox="true"/>
          <p:nvPr/>
        </p:nvSpPr>
        <p:spPr>
          <a:xfrm rot="0">
            <a:off x="1929998" y="923925"/>
            <a:ext cx="7599032"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1 : créer un projet</a:t>
            </a:r>
          </a:p>
        </p:txBody>
      </p:sp>
      <p:sp>
        <p:nvSpPr>
          <p:cNvPr name="TextBox 5" id="5"/>
          <p:cNvSpPr txBox="true"/>
          <p:nvPr/>
        </p:nvSpPr>
        <p:spPr>
          <a:xfrm rot="0">
            <a:off x="1254245" y="2274753"/>
            <a:ext cx="6555076" cy="15906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(5-Optionnel.) Possibilité de sélectionner des options avancées, cf. documentation.</a:t>
            </a:r>
          </a:p>
        </p:txBody>
      </p:sp>
      <p:sp>
        <p:nvSpPr>
          <p:cNvPr name="TextBox 6" id="6"/>
          <p:cNvSpPr txBox="true"/>
          <p:nvPr/>
        </p:nvSpPr>
        <p:spPr>
          <a:xfrm rot="0">
            <a:off x="1254245" y="6895268"/>
            <a:ext cx="6326341"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6. Cliquer sur </a:t>
            </a:r>
          </a:p>
        </p:txBody>
      </p:sp>
      <p:sp>
        <p:nvSpPr>
          <p:cNvPr name="Freeform 7" id="7"/>
          <p:cNvSpPr/>
          <p:nvPr/>
        </p:nvSpPr>
        <p:spPr>
          <a:xfrm flipH="false" flipV="false" rot="0">
            <a:off x="3990449" y="7001940"/>
            <a:ext cx="8751026" cy="417203"/>
          </a:xfrm>
          <a:custGeom>
            <a:avLst/>
            <a:gdLst/>
            <a:ahLst/>
            <a:cxnLst/>
            <a:rect r="r" b="b" t="t" l="l"/>
            <a:pathLst>
              <a:path h="417203" w="8751026">
                <a:moveTo>
                  <a:pt x="0" y="0"/>
                </a:moveTo>
                <a:lnTo>
                  <a:pt x="8751026" y="0"/>
                </a:lnTo>
                <a:lnTo>
                  <a:pt x="8751026" y="417203"/>
                </a:lnTo>
                <a:lnTo>
                  <a:pt x="0" y="417203"/>
                </a:lnTo>
                <a:lnTo>
                  <a:pt x="0" y="0"/>
                </a:lnTo>
                <a:close/>
              </a:path>
            </a:pathLst>
          </a:custGeom>
          <a:blipFill>
            <a:blip r:embed="rId3"/>
            <a:stretch>
              <a:fillRect l="0" t="-891089" r="0" b="0"/>
            </a:stretch>
          </a:blipFill>
        </p:spPr>
      </p:sp>
      <p:sp>
        <p:nvSpPr>
          <p:cNvPr name="TextBox 8" id="8"/>
          <p:cNvSpPr txBox="true"/>
          <p:nvPr/>
        </p:nvSpPr>
        <p:spPr>
          <a:xfrm rot="0">
            <a:off x="1254245" y="8298243"/>
            <a:ext cx="6326341" cy="523875"/>
          </a:xfrm>
          <a:prstGeom prst="rect">
            <a:avLst/>
          </a:prstGeom>
        </p:spPr>
        <p:txBody>
          <a:bodyPr anchor="t" rtlCol="false" tIns="0" lIns="0" bIns="0" rIns="0">
            <a:spAutoFit/>
          </a:bodyPr>
          <a:lstStyle/>
          <a:p>
            <a:pPr algn="l">
              <a:lnSpc>
                <a:spcPts val="4200"/>
              </a:lnSpc>
            </a:pPr>
            <a:r>
              <a:rPr lang="en-US" sz="3000" b="true">
                <a:solidFill>
                  <a:srgbClr val="000000"/>
                </a:solidFill>
                <a:latin typeface="Open Sauce Bold"/>
                <a:ea typeface="Open Sauce Bold"/>
                <a:cs typeface="Open Sauce Bold"/>
                <a:sym typeface="Open Sauce Bold"/>
              </a:rPr>
              <a:t>Votre projet est créé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66009" y="4141342"/>
            <a:ext cx="7238420" cy="5116958"/>
            <a:chOff x="0" y="0"/>
            <a:chExt cx="9651226" cy="6822611"/>
          </a:xfrm>
        </p:grpSpPr>
        <p:sp>
          <p:nvSpPr>
            <p:cNvPr name="AutoShape 3" id="3"/>
            <p:cNvSpPr/>
            <p:nvPr/>
          </p:nvSpPr>
          <p:spPr>
            <a:xfrm flipV="true">
              <a:off x="7026344" y="24307"/>
              <a:ext cx="21465" cy="6797960"/>
            </a:xfrm>
            <a:prstGeom prst="line">
              <a:avLst/>
            </a:prstGeom>
            <a:ln cap="flat" w="217441">
              <a:solidFill>
                <a:srgbClr val="2A3067"/>
              </a:solidFill>
              <a:prstDash val="solid"/>
              <a:headEnd type="none" len="sm" w="sm"/>
              <a:tailEnd type="none" len="sm" w="sm"/>
            </a:ln>
          </p:spPr>
        </p:sp>
        <p:grpSp>
          <p:nvGrpSpPr>
            <p:cNvPr name="Group 4" id="4"/>
            <p:cNvGrpSpPr/>
            <p:nvPr/>
          </p:nvGrpSpPr>
          <p:grpSpPr>
            <a:xfrm rot="0">
              <a:off x="4663157" y="0"/>
              <a:ext cx="4988069" cy="1022464"/>
              <a:chOff x="0" y="0"/>
              <a:chExt cx="1029588" cy="211047"/>
            </a:xfrm>
          </p:grpSpPr>
          <p:sp>
            <p:nvSpPr>
              <p:cNvPr name="Freeform 5" id="5"/>
              <p:cNvSpPr/>
              <p:nvPr/>
            </p:nvSpPr>
            <p:spPr>
              <a:xfrm flipH="false" flipV="false" rot="0">
                <a:off x="0" y="0"/>
                <a:ext cx="1029588" cy="211047"/>
              </a:xfrm>
              <a:custGeom>
                <a:avLst/>
                <a:gdLst/>
                <a:ahLst/>
                <a:cxnLst/>
                <a:rect r="r" b="b" t="t" l="l"/>
                <a:pathLst>
                  <a:path h="211047" w="1029588">
                    <a:moveTo>
                      <a:pt x="59053" y="0"/>
                    </a:moveTo>
                    <a:lnTo>
                      <a:pt x="970535" y="0"/>
                    </a:lnTo>
                    <a:cubicBezTo>
                      <a:pt x="1003149" y="0"/>
                      <a:pt x="1029588" y="26439"/>
                      <a:pt x="1029588" y="59053"/>
                    </a:cubicBezTo>
                    <a:lnTo>
                      <a:pt x="1029588" y="151994"/>
                    </a:lnTo>
                    <a:cubicBezTo>
                      <a:pt x="1029588" y="167656"/>
                      <a:pt x="1023366" y="182676"/>
                      <a:pt x="1012292" y="193751"/>
                    </a:cubicBezTo>
                    <a:cubicBezTo>
                      <a:pt x="1001217" y="204825"/>
                      <a:pt x="986197" y="211047"/>
                      <a:pt x="970535" y="211047"/>
                    </a:cubicBezTo>
                    <a:lnTo>
                      <a:pt x="59053" y="211047"/>
                    </a:lnTo>
                    <a:cubicBezTo>
                      <a:pt x="26439" y="211047"/>
                      <a:pt x="0" y="184608"/>
                      <a:pt x="0" y="151994"/>
                    </a:cubicBezTo>
                    <a:lnTo>
                      <a:pt x="0" y="59053"/>
                    </a:lnTo>
                    <a:cubicBezTo>
                      <a:pt x="0" y="26439"/>
                      <a:pt x="26439" y="0"/>
                      <a:pt x="59053" y="0"/>
                    </a:cubicBezTo>
                    <a:close/>
                  </a:path>
                </a:pathLst>
              </a:custGeom>
              <a:solidFill>
                <a:srgbClr val="EA6F26"/>
              </a:solidFill>
            </p:spPr>
          </p:sp>
          <p:sp>
            <p:nvSpPr>
              <p:cNvPr name="TextBox 6" id="6"/>
              <p:cNvSpPr txBox="true"/>
              <p:nvPr/>
            </p:nvSpPr>
            <p:spPr>
              <a:xfrm>
                <a:off x="0" y="-28575"/>
                <a:ext cx="1029588" cy="239622"/>
              </a:xfrm>
              <a:prstGeom prst="rect">
                <a:avLst/>
              </a:prstGeom>
            </p:spPr>
            <p:txBody>
              <a:bodyPr anchor="ctr" rtlCol="false" tIns="50800" lIns="50800" bIns="50800" rIns="50800"/>
              <a:lstStyle/>
              <a:p>
                <a:pPr algn="ctr">
                  <a:lnSpc>
                    <a:spcPts val="2520"/>
                  </a:lnSpc>
                  <a:spcBef>
                    <a:spcPct val="0"/>
                  </a:spcBef>
                </a:pPr>
                <a:r>
                  <a:rPr lang="en-US" b="true" sz="1800">
                    <a:solidFill>
                      <a:srgbClr val="FFFFFF"/>
                    </a:solidFill>
                    <a:latin typeface="Open Sans Bold"/>
                    <a:ea typeface="Open Sans Bold"/>
                    <a:cs typeface="Open Sans Bold"/>
                    <a:sym typeface="Open Sans Bold"/>
                  </a:rPr>
                  <a:t>Annoter les données d’entraînement aléatoirement</a:t>
                </a:r>
              </a:p>
            </p:txBody>
          </p:sp>
        </p:grpSp>
        <p:sp>
          <p:nvSpPr>
            <p:cNvPr name="Freeform 7" id="7"/>
            <p:cNvSpPr/>
            <p:nvPr/>
          </p:nvSpPr>
          <p:spPr>
            <a:xfrm flipH="false" flipV="false" rot="0">
              <a:off x="2724952" y="2343480"/>
              <a:ext cx="3633337" cy="3633337"/>
            </a:xfrm>
            <a:custGeom>
              <a:avLst/>
              <a:gdLst/>
              <a:ahLst/>
              <a:cxnLst/>
              <a:rect r="r" b="b" t="t" l="l"/>
              <a:pathLst>
                <a:path h="3633337" w="3633337">
                  <a:moveTo>
                    <a:pt x="0" y="0"/>
                  </a:moveTo>
                  <a:lnTo>
                    <a:pt x="3633337" y="0"/>
                  </a:lnTo>
                  <a:lnTo>
                    <a:pt x="3633337" y="3633338"/>
                  </a:lnTo>
                  <a:lnTo>
                    <a:pt x="0" y="3633338"/>
                  </a:lnTo>
                  <a:lnTo>
                    <a:pt x="0" y="0"/>
                  </a:lnTo>
                  <a:close/>
                </a:path>
              </a:pathLst>
            </a:custGeom>
            <a:blipFill>
              <a:blip r:embed="rId2"/>
              <a:stretch>
                <a:fillRect l="0" t="0" r="0" b="0"/>
              </a:stretch>
            </a:blipFill>
          </p:spPr>
        </p:sp>
        <p:grpSp>
          <p:nvGrpSpPr>
            <p:cNvPr name="Group 8" id="8"/>
            <p:cNvGrpSpPr/>
            <p:nvPr/>
          </p:nvGrpSpPr>
          <p:grpSpPr>
            <a:xfrm rot="0">
              <a:off x="4663157" y="5374425"/>
              <a:ext cx="4988069" cy="1447843"/>
              <a:chOff x="0" y="0"/>
              <a:chExt cx="1029588" cy="298849"/>
            </a:xfrm>
          </p:grpSpPr>
          <p:sp>
            <p:nvSpPr>
              <p:cNvPr name="Freeform 9" id="9"/>
              <p:cNvSpPr/>
              <p:nvPr/>
            </p:nvSpPr>
            <p:spPr>
              <a:xfrm flipH="false" flipV="false" rot="0">
                <a:off x="0" y="0"/>
                <a:ext cx="1029588" cy="298849"/>
              </a:xfrm>
              <a:custGeom>
                <a:avLst/>
                <a:gdLst/>
                <a:ahLst/>
                <a:cxnLst/>
                <a:rect r="r" b="b" t="t" l="l"/>
                <a:pathLst>
                  <a:path h="298849" w="1029588">
                    <a:moveTo>
                      <a:pt x="59053" y="0"/>
                    </a:moveTo>
                    <a:lnTo>
                      <a:pt x="970535" y="0"/>
                    </a:lnTo>
                    <a:cubicBezTo>
                      <a:pt x="1003149" y="0"/>
                      <a:pt x="1029588" y="26439"/>
                      <a:pt x="1029588" y="59053"/>
                    </a:cubicBezTo>
                    <a:lnTo>
                      <a:pt x="1029588" y="239797"/>
                    </a:lnTo>
                    <a:cubicBezTo>
                      <a:pt x="1029588" y="255458"/>
                      <a:pt x="1023366" y="270479"/>
                      <a:pt x="1012292" y="281553"/>
                    </a:cubicBezTo>
                    <a:cubicBezTo>
                      <a:pt x="1001217" y="292628"/>
                      <a:pt x="986197" y="298849"/>
                      <a:pt x="970535" y="298849"/>
                    </a:cubicBezTo>
                    <a:lnTo>
                      <a:pt x="59053" y="298849"/>
                    </a:lnTo>
                    <a:cubicBezTo>
                      <a:pt x="26439" y="298849"/>
                      <a:pt x="0" y="272411"/>
                      <a:pt x="0" y="239797"/>
                    </a:cubicBezTo>
                    <a:lnTo>
                      <a:pt x="0" y="59053"/>
                    </a:lnTo>
                    <a:cubicBezTo>
                      <a:pt x="0" y="26439"/>
                      <a:pt x="26439" y="0"/>
                      <a:pt x="59053" y="0"/>
                    </a:cubicBezTo>
                    <a:close/>
                  </a:path>
                </a:pathLst>
              </a:custGeom>
              <a:solidFill>
                <a:srgbClr val="EA6F26"/>
              </a:solidFill>
            </p:spPr>
          </p:sp>
          <p:sp>
            <p:nvSpPr>
              <p:cNvPr name="TextBox 10" id="10"/>
              <p:cNvSpPr txBox="true"/>
              <p:nvPr/>
            </p:nvSpPr>
            <p:spPr>
              <a:xfrm>
                <a:off x="0" y="-28575"/>
                <a:ext cx="1029588" cy="327424"/>
              </a:xfrm>
              <a:prstGeom prst="rect">
                <a:avLst/>
              </a:prstGeom>
            </p:spPr>
            <p:txBody>
              <a:bodyPr anchor="ctr" rtlCol="false" tIns="50800" lIns="50800" bIns="50800" rIns="50800"/>
              <a:lstStyle/>
              <a:p>
                <a:pPr algn="ctr">
                  <a:lnSpc>
                    <a:spcPts val="2520"/>
                  </a:lnSpc>
                </a:pPr>
                <a:r>
                  <a:rPr lang="en-US" sz="1800" b="true">
                    <a:solidFill>
                      <a:srgbClr val="FFFFFF"/>
                    </a:solidFill>
                    <a:latin typeface="Open Sans Bold"/>
                    <a:ea typeface="Open Sans Bold"/>
                    <a:cs typeface="Open Sans Bold"/>
                    <a:sym typeface="Open Sans Bold"/>
                  </a:rPr>
                  <a:t>Active learning : entraîner un modèle pour annoter les cas </a:t>
                </a:r>
              </a:p>
              <a:p>
                <a:pPr algn="ctr">
                  <a:lnSpc>
                    <a:spcPts val="2520"/>
                  </a:lnSpc>
                  <a:spcBef>
                    <a:spcPct val="0"/>
                  </a:spcBef>
                </a:pPr>
                <a:r>
                  <a:rPr lang="en-US" b="true" sz="1800">
                    <a:solidFill>
                      <a:srgbClr val="FFFFFF"/>
                    </a:solidFill>
                    <a:latin typeface="Open Sans Bold"/>
                    <a:ea typeface="Open Sans Bold"/>
                    <a:cs typeface="Open Sans Bold"/>
                    <a:sym typeface="Open Sans Bold"/>
                  </a:rPr>
                  <a:t>les plus ambigus</a:t>
                </a:r>
              </a:p>
            </p:txBody>
          </p:sp>
        </p:grpSp>
        <p:grpSp>
          <p:nvGrpSpPr>
            <p:cNvPr name="Group 11" id="11"/>
            <p:cNvGrpSpPr/>
            <p:nvPr/>
          </p:nvGrpSpPr>
          <p:grpSpPr>
            <a:xfrm rot="0">
              <a:off x="4663157" y="1957397"/>
              <a:ext cx="4988069" cy="1447843"/>
              <a:chOff x="0" y="0"/>
              <a:chExt cx="1029588" cy="298849"/>
            </a:xfrm>
          </p:grpSpPr>
          <p:sp>
            <p:nvSpPr>
              <p:cNvPr name="Freeform 12" id="12"/>
              <p:cNvSpPr/>
              <p:nvPr/>
            </p:nvSpPr>
            <p:spPr>
              <a:xfrm flipH="false" flipV="false" rot="0">
                <a:off x="0" y="0"/>
                <a:ext cx="1029588" cy="298849"/>
              </a:xfrm>
              <a:custGeom>
                <a:avLst/>
                <a:gdLst/>
                <a:ahLst/>
                <a:cxnLst/>
                <a:rect r="r" b="b" t="t" l="l"/>
                <a:pathLst>
                  <a:path h="298849" w="1029588">
                    <a:moveTo>
                      <a:pt x="59053" y="0"/>
                    </a:moveTo>
                    <a:lnTo>
                      <a:pt x="970535" y="0"/>
                    </a:lnTo>
                    <a:cubicBezTo>
                      <a:pt x="1003149" y="0"/>
                      <a:pt x="1029588" y="26439"/>
                      <a:pt x="1029588" y="59053"/>
                    </a:cubicBezTo>
                    <a:lnTo>
                      <a:pt x="1029588" y="239797"/>
                    </a:lnTo>
                    <a:cubicBezTo>
                      <a:pt x="1029588" y="255458"/>
                      <a:pt x="1023366" y="270479"/>
                      <a:pt x="1012292" y="281553"/>
                    </a:cubicBezTo>
                    <a:cubicBezTo>
                      <a:pt x="1001217" y="292628"/>
                      <a:pt x="986197" y="298849"/>
                      <a:pt x="970535" y="298849"/>
                    </a:cubicBezTo>
                    <a:lnTo>
                      <a:pt x="59053" y="298849"/>
                    </a:lnTo>
                    <a:cubicBezTo>
                      <a:pt x="26439" y="298849"/>
                      <a:pt x="0" y="272411"/>
                      <a:pt x="0" y="239797"/>
                    </a:cubicBezTo>
                    <a:lnTo>
                      <a:pt x="0" y="59053"/>
                    </a:lnTo>
                    <a:cubicBezTo>
                      <a:pt x="0" y="26439"/>
                      <a:pt x="26439" y="0"/>
                      <a:pt x="59053" y="0"/>
                    </a:cubicBezTo>
                    <a:close/>
                  </a:path>
                </a:pathLst>
              </a:custGeom>
              <a:solidFill>
                <a:srgbClr val="EA6F26"/>
              </a:solidFill>
            </p:spPr>
          </p:sp>
          <p:sp>
            <p:nvSpPr>
              <p:cNvPr name="TextBox 13" id="13"/>
              <p:cNvSpPr txBox="true"/>
              <p:nvPr/>
            </p:nvSpPr>
            <p:spPr>
              <a:xfrm>
                <a:off x="0" y="-28575"/>
                <a:ext cx="1029588" cy="327424"/>
              </a:xfrm>
              <a:prstGeom prst="rect">
                <a:avLst/>
              </a:prstGeom>
            </p:spPr>
            <p:txBody>
              <a:bodyPr anchor="ctr" rtlCol="false" tIns="50800" lIns="50800" bIns="50800" rIns="50800"/>
              <a:lstStyle/>
              <a:p>
                <a:pPr algn="ctr">
                  <a:lnSpc>
                    <a:spcPts val="2520"/>
                  </a:lnSpc>
                  <a:spcBef>
                    <a:spcPct val="0"/>
                  </a:spcBef>
                </a:pPr>
                <a:r>
                  <a:rPr lang="en-US" b="true" sz="1800">
                    <a:solidFill>
                      <a:srgbClr val="FFFFFF"/>
                    </a:solidFill>
                    <a:latin typeface="Open Sans Bold"/>
                    <a:ea typeface="Open Sans Bold"/>
                    <a:cs typeface="Open Sans Bold"/>
                    <a:sym typeface="Open Sans Bold"/>
                  </a:rPr>
                  <a:t>Search : annoter des données choisies par des RegEx, des mots-clés ou du génératif</a:t>
                </a:r>
              </a:p>
            </p:txBody>
          </p:sp>
        </p:grpSp>
        <p:grpSp>
          <p:nvGrpSpPr>
            <p:cNvPr name="Group 14" id="14"/>
            <p:cNvGrpSpPr/>
            <p:nvPr/>
          </p:nvGrpSpPr>
          <p:grpSpPr>
            <a:xfrm rot="0">
              <a:off x="0" y="3753308"/>
              <a:ext cx="4014875" cy="1129790"/>
              <a:chOff x="0" y="0"/>
              <a:chExt cx="828711" cy="233200"/>
            </a:xfrm>
          </p:grpSpPr>
          <p:sp>
            <p:nvSpPr>
              <p:cNvPr name="Freeform 15" id="15"/>
              <p:cNvSpPr/>
              <p:nvPr/>
            </p:nvSpPr>
            <p:spPr>
              <a:xfrm flipH="false" flipV="false" rot="0">
                <a:off x="0" y="0"/>
                <a:ext cx="828711" cy="233200"/>
              </a:xfrm>
              <a:custGeom>
                <a:avLst/>
                <a:gdLst/>
                <a:ahLst/>
                <a:cxnLst/>
                <a:rect r="r" b="b" t="t" l="l"/>
                <a:pathLst>
                  <a:path h="233200" w="828711">
                    <a:moveTo>
                      <a:pt x="73367" y="0"/>
                    </a:moveTo>
                    <a:lnTo>
                      <a:pt x="755344" y="0"/>
                    </a:lnTo>
                    <a:cubicBezTo>
                      <a:pt x="774802" y="0"/>
                      <a:pt x="793463" y="7730"/>
                      <a:pt x="807222" y="21489"/>
                    </a:cubicBezTo>
                    <a:cubicBezTo>
                      <a:pt x="820981" y="35248"/>
                      <a:pt x="828711" y="53909"/>
                      <a:pt x="828711" y="73367"/>
                    </a:cubicBezTo>
                    <a:lnTo>
                      <a:pt x="828711" y="159833"/>
                    </a:lnTo>
                    <a:cubicBezTo>
                      <a:pt x="828711" y="179291"/>
                      <a:pt x="820981" y="197952"/>
                      <a:pt x="807222" y="211711"/>
                    </a:cubicBezTo>
                    <a:cubicBezTo>
                      <a:pt x="793463" y="225470"/>
                      <a:pt x="774802" y="233200"/>
                      <a:pt x="755344" y="233200"/>
                    </a:cubicBezTo>
                    <a:lnTo>
                      <a:pt x="73367" y="233200"/>
                    </a:lnTo>
                    <a:cubicBezTo>
                      <a:pt x="53909" y="233200"/>
                      <a:pt x="35248" y="225470"/>
                      <a:pt x="21489" y="211711"/>
                    </a:cubicBezTo>
                    <a:cubicBezTo>
                      <a:pt x="7730" y="197952"/>
                      <a:pt x="0" y="179291"/>
                      <a:pt x="0" y="159833"/>
                    </a:cubicBezTo>
                    <a:lnTo>
                      <a:pt x="0" y="73367"/>
                    </a:lnTo>
                    <a:cubicBezTo>
                      <a:pt x="0" y="53909"/>
                      <a:pt x="7730" y="35248"/>
                      <a:pt x="21489" y="21489"/>
                    </a:cubicBezTo>
                    <a:cubicBezTo>
                      <a:pt x="35248" y="7730"/>
                      <a:pt x="53909" y="0"/>
                      <a:pt x="73367" y="0"/>
                    </a:cubicBezTo>
                    <a:close/>
                  </a:path>
                </a:pathLst>
              </a:custGeom>
              <a:solidFill>
                <a:srgbClr val="2A3067"/>
              </a:solidFill>
            </p:spPr>
          </p:sp>
          <p:sp>
            <p:nvSpPr>
              <p:cNvPr name="TextBox 16" id="16"/>
              <p:cNvSpPr txBox="true"/>
              <p:nvPr/>
            </p:nvSpPr>
            <p:spPr>
              <a:xfrm>
                <a:off x="0" y="-28575"/>
                <a:ext cx="828711" cy="261775"/>
              </a:xfrm>
              <a:prstGeom prst="rect">
                <a:avLst/>
              </a:prstGeom>
            </p:spPr>
            <p:txBody>
              <a:bodyPr anchor="ctr" rtlCol="false" tIns="50800" lIns="50800" bIns="50800" rIns="50800"/>
              <a:lstStyle/>
              <a:p>
                <a:pPr algn="ctr">
                  <a:lnSpc>
                    <a:spcPts val="2520"/>
                  </a:lnSpc>
                  <a:spcBef>
                    <a:spcPct val="0"/>
                  </a:spcBef>
                </a:pPr>
                <a:r>
                  <a:rPr lang="en-US" b="true" sz="1800">
                    <a:solidFill>
                      <a:srgbClr val="FFFFFF"/>
                    </a:solidFill>
                    <a:latin typeface="Open Sans Bold"/>
                    <a:ea typeface="Open Sans Bold"/>
                    <a:cs typeface="Open Sans Bold"/>
                    <a:sym typeface="Open Sans Bold"/>
                  </a:rPr>
                  <a:t>Modifier le codebook par itérations successives</a:t>
                </a:r>
              </a:p>
            </p:txBody>
          </p:sp>
        </p:grpSp>
      </p:grpSp>
      <p:sp>
        <p:nvSpPr>
          <p:cNvPr name="TextBox 17" id="17"/>
          <p:cNvSpPr txBox="true"/>
          <p:nvPr/>
        </p:nvSpPr>
        <p:spPr>
          <a:xfrm rot="0">
            <a:off x="1074686" y="1114425"/>
            <a:ext cx="15685922" cy="673100"/>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Rappel : le workflow d’un projet ActiveTigger</a:t>
            </a:r>
          </a:p>
        </p:txBody>
      </p:sp>
      <p:sp>
        <p:nvSpPr>
          <p:cNvPr name="TextBox 18" id="18"/>
          <p:cNvSpPr txBox="true"/>
          <p:nvPr/>
        </p:nvSpPr>
        <p:spPr>
          <a:xfrm rot="0">
            <a:off x="1166009" y="3167592"/>
            <a:ext cx="5945631" cy="701675"/>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19" id="19"/>
          <p:cNvSpPr txBox="true"/>
          <p:nvPr/>
        </p:nvSpPr>
        <p:spPr>
          <a:xfrm rot="0">
            <a:off x="1166009" y="2370048"/>
            <a:ext cx="5945631"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1 : Création du projet</a:t>
            </a:r>
          </a:p>
        </p:txBody>
      </p:sp>
      <p:sp>
        <p:nvSpPr>
          <p:cNvPr name="AutoShape 20" id="20"/>
          <p:cNvSpPr/>
          <p:nvPr/>
        </p:nvSpPr>
        <p:spPr>
          <a:xfrm flipH="true" flipV="true">
            <a:off x="9107863" y="2357914"/>
            <a:ext cx="45662" cy="7222837"/>
          </a:xfrm>
          <a:prstGeom prst="line">
            <a:avLst/>
          </a:prstGeom>
          <a:ln cap="flat" w="19050">
            <a:solidFill>
              <a:srgbClr val="2A3067"/>
            </a:solidFill>
            <a:prstDash val="solid"/>
            <a:headEnd type="none" len="sm" w="sm"/>
            <a:tailEnd type="none" len="sm" w="sm"/>
          </a:ln>
        </p:spPr>
      </p:sp>
      <p:sp>
        <p:nvSpPr>
          <p:cNvPr name="TextBox 21" id="21"/>
          <p:cNvSpPr txBox="true"/>
          <p:nvPr/>
        </p:nvSpPr>
        <p:spPr>
          <a:xfrm rot="0">
            <a:off x="9623691" y="2906135"/>
            <a:ext cx="7537477"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3 : Annoter les données de validation et de test</a:t>
            </a:r>
          </a:p>
        </p:txBody>
      </p:sp>
      <p:sp>
        <p:nvSpPr>
          <p:cNvPr name="TextBox 22" id="22"/>
          <p:cNvSpPr txBox="true"/>
          <p:nvPr/>
        </p:nvSpPr>
        <p:spPr>
          <a:xfrm rot="0">
            <a:off x="9623691" y="4103141"/>
            <a:ext cx="4104627"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4 : Entraîner des modèles</a:t>
            </a:r>
          </a:p>
        </p:txBody>
      </p:sp>
      <p:sp>
        <p:nvSpPr>
          <p:cNvPr name="TextBox 23" id="23"/>
          <p:cNvSpPr txBox="true"/>
          <p:nvPr/>
        </p:nvSpPr>
        <p:spPr>
          <a:xfrm rot="0">
            <a:off x="9623691" y="5386130"/>
            <a:ext cx="5209590"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5 : Sélectionner un modèle</a:t>
            </a:r>
          </a:p>
        </p:txBody>
      </p:sp>
      <p:sp>
        <p:nvSpPr>
          <p:cNvPr name="TextBox 24" id="24"/>
          <p:cNvSpPr txBox="true"/>
          <p:nvPr/>
        </p:nvSpPr>
        <p:spPr>
          <a:xfrm rot="0">
            <a:off x="9601200" y="6684284"/>
            <a:ext cx="5209590"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6 : Évaluer le modèle</a:t>
            </a:r>
          </a:p>
        </p:txBody>
      </p:sp>
      <p:sp>
        <p:nvSpPr>
          <p:cNvPr name="TextBox 25" id="25"/>
          <p:cNvSpPr txBox="true"/>
          <p:nvPr/>
        </p:nvSpPr>
        <p:spPr>
          <a:xfrm rot="0">
            <a:off x="9623691" y="8021498"/>
            <a:ext cx="6210963"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Étape 7 : Étendre la prédiction à tout le corpus</a:t>
            </a:r>
          </a:p>
        </p:txBody>
      </p:sp>
      <p:sp>
        <p:nvSpPr>
          <p:cNvPr name="Freeform 26" id="26"/>
          <p:cNvSpPr/>
          <p:nvPr/>
        </p:nvSpPr>
        <p:spPr>
          <a:xfrm flipH="false" flipV="false" rot="0">
            <a:off x="13331328" y="6494921"/>
            <a:ext cx="503604" cy="490785"/>
          </a:xfrm>
          <a:custGeom>
            <a:avLst/>
            <a:gdLst/>
            <a:ahLst/>
            <a:cxnLst/>
            <a:rect r="r" b="b" t="t" l="l"/>
            <a:pathLst>
              <a:path h="490785" w="503604">
                <a:moveTo>
                  <a:pt x="0" y="0"/>
                </a:moveTo>
                <a:lnTo>
                  <a:pt x="503603" y="0"/>
                </a:lnTo>
                <a:lnTo>
                  <a:pt x="503603" y="490785"/>
                </a:lnTo>
                <a:lnTo>
                  <a:pt x="0" y="490785"/>
                </a:lnTo>
                <a:lnTo>
                  <a:pt x="0" y="0"/>
                </a:lnTo>
                <a:close/>
              </a:path>
            </a:pathLst>
          </a:custGeom>
          <a:blipFill>
            <a:blip r:embed="rId3"/>
            <a:stretch>
              <a:fillRect l="0" t="0" r="0" b="0"/>
            </a:stretch>
          </a:blipFill>
        </p:spPr>
      </p:sp>
      <p:grpSp>
        <p:nvGrpSpPr>
          <p:cNvPr name="Group 27" id="27"/>
          <p:cNvGrpSpPr/>
          <p:nvPr/>
        </p:nvGrpSpPr>
        <p:grpSpPr>
          <a:xfrm rot="0">
            <a:off x="13240144" y="7099143"/>
            <a:ext cx="685971" cy="267121"/>
            <a:chOff x="0" y="0"/>
            <a:chExt cx="22819" cy="8886"/>
          </a:xfrm>
        </p:grpSpPr>
        <p:sp>
          <p:nvSpPr>
            <p:cNvPr name="Freeform 28" id="28"/>
            <p:cNvSpPr/>
            <p:nvPr/>
          </p:nvSpPr>
          <p:spPr>
            <a:xfrm flipH="false" flipV="false" rot="0">
              <a:off x="0" y="0"/>
              <a:ext cx="22819" cy="8886"/>
            </a:xfrm>
            <a:custGeom>
              <a:avLst/>
              <a:gdLst/>
              <a:ahLst/>
              <a:cxnLst/>
              <a:rect r="r" b="b" t="t" l="l"/>
              <a:pathLst>
                <a:path h="8886" w="22819">
                  <a:moveTo>
                    <a:pt x="0" y="0"/>
                  </a:moveTo>
                  <a:lnTo>
                    <a:pt x="22819" y="0"/>
                  </a:lnTo>
                  <a:lnTo>
                    <a:pt x="22819" y="8886"/>
                  </a:lnTo>
                  <a:lnTo>
                    <a:pt x="0" y="8886"/>
                  </a:lnTo>
                  <a:close/>
                </a:path>
              </a:pathLst>
            </a:custGeom>
            <a:solidFill>
              <a:srgbClr val="8CAD75"/>
            </a:solidFill>
          </p:spPr>
        </p:sp>
        <p:sp>
          <p:nvSpPr>
            <p:cNvPr name="TextBox 29" id="29"/>
            <p:cNvSpPr txBox="true"/>
            <p:nvPr/>
          </p:nvSpPr>
          <p:spPr>
            <a:xfrm>
              <a:off x="0" y="-28575"/>
              <a:ext cx="22819" cy="3746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Test Set</a:t>
              </a:r>
            </a:p>
          </p:txBody>
        </p:sp>
      </p:grpSp>
      <p:sp>
        <p:nvSpPr>
          <p:cNvPr name="Freeform 30" id="30"/>
          <p:cNvSpPr/>
          <p:nvPr/>
        </p:nvSpPr>
        <p:spPr>
          <a:xfrm flipH="false" flipV="false" rot="0">
            <a:off x="14334278" y="5140701"/>
            <a:ext cx="503604" cy="490785"/>
          </a:xfrm>
          <a:custGeom>
            <a:avLst/>
            <a:gdLst/>
            <a:ahLst/>
            <a:cxnLst/>
            <a:rect r="r" b="b" t="t" l="l"/>
            <a:pathLst>
              <a:path h="490785" w="503604">
                <a:moveTo>
                  <a:pt x="0" y="0"/>
                </a:moveTo>
                <a:lnTo>
                  <a:pt x="503604" y="0"/>
                </a:lnTo>
                <a:lnTo>
                  <a:pt x="503604" y="490785"/>
                </a:lnTo>
                <a:lnTo>
                  <a:pt x="0" y="490785"/>
                </a:lnTo>
                <a:lnTo>
                  <a:pt x="0" y="0"/>
                </a:lnTo>
                <a:close/>
              </a:path>
            </a:pathLst>
          </a:custGeom>
          <a:blipFill>
            <a:blip r:embed="rId3"/>
            <a:stretch>
              <a:fillRect l="0" t="0" r="0" b="0"/>
            </a:stretch>
          </a:blipFill>
        </p:spPr>
      </p:sp>
      <p:grpSp>
        <p:nvGrpSpPr>
          <p:cNvPr name="Group 31" id="31"/>
          <p:cNvGrpSpPr/>
          <p:nvPr/>
        </p:nvGrpSpPr>
        <p:grpSpPr>
          <a:xfrm rot="0">
            <a:off x="14062173" y="5735380"/>
            <a:ext cx="1047814" cy="284859"/>
            <a:chOff x="0" y="0"/>
            <a:chExt cx="34857" cy="9476"/>
          </a:xfrm>
        </p:grpSpPr>
        <p:sp>
          <p:nvSpPr>
            <p:cNvPr name="Freeform 32" id="32"/>
            <p:cNvSpPr/>
            <p:nvPr/>
          </p:nvSpPr>
          <p:spPr>
            <a:xfrm flipH="false" flipV="false" rot="0">
              <a:off x="0" y="0"/>
              <a:ext cx="34857" cy="9476"/>
            </a:xfrm>
            <a:custGeom>
              <a:avLst/>
              <a:gdLst/>
              <a:ahLst/>
              <a:cxnLst/>
              <a:rect r="r" b="b" t="t" l="l"/>
              <a:pathLst>
                <a:path h="9476" w="34857">
                  <a:moveTo>
                    <a:pt x="0" y="0"/>
                  </a:moveTo>
                  <a:lnTo>
                    <a:pt x="34857" y="0"/>
                  </a:lnTo>
                  <a:lnTo>
                    <a:pt x="34857" y="9476"/>
                  </a:lnTo>
                  <a:lnTo>
                    <a:pt x="0" y="9476"/>
                  </a:lnTo>
                  <a:close/>
                </a:path>
              </a:pathLst>
            </a:custGeom>
            <a:solidFill>
              <a:srgbClr val="8CAD75"/>
            </a:solidFill>
          </p:spPr>
        </p:sp>
        <p:sp>
          <p:nvSpPr>
            <p:cNvPr name="TextBox 33" id="33"/>
            <p:cNvSpPr txBox="true"/>
            <p:nvPr/>
          </p:nvSpPr>
          <p:spPr>
            <a:xfrm>
              <a:off x="0" y="-28575"/>
              <a:ext cx="34857" cy="3805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Validation Set</a:t>
              </a:r>
            </a:p>
          </p:txBody>
        </p:sp>
      </p:grpSp>
      <p:sp>
        <p:nvSpPr>
          <p:cNvPr name="Freeform 34" id="34"/>
          <p:cNvSpPr/>
          <p:nvPr/>
        </p:nvSpPr>
        <p:spPr>
          <a:xfrm flipH="false" flipV="false" rot="0">
            <a:off x="15734188" y="7842514"/>
            <a:ext cx="633958" cy="547284"/>
          </a:xfrm>
          <a:custGeom>
            <a:avLst/>
            <a:gdLst/>
            <a:ahLst/>
            <a:cxnLst/>
            <a:rect r="r" b="b" t="t" l="l"/>
            <a:pathLst>
              <a:path h="547284" w="633958">
                <a:moveTo>
                  <a:pt x="0" y="0"/>
                </a:moveTo>
                <a:lnTo>
                  <a:pt x="633958" y="0"/>
                </a:lnTo>
                <a:lnTo>
                  <a:pt x="633958" y="547284"/>
                </a:lnTo>
                <a:lnTo>
                  <a:pt x="0" y="547284"/>
                </a:lnTo>
                <a:lnTo>
                  <a:pt x="0" y="0"/>
                </a:lnTo>
                <a:close/>
              </a:path>
            </a:pathLst>
          </a:custGeom>
          <a:blipFill>
            <a:blip r:embed="rId4"/>
            <a:stretch>
              <a:fillRect l="0" t="0" r="0" b="0"/>
            </a:stretch>
          </a:blipFill>
        </p:spPr>
      </p:sp>
      <p:grpSp>
        <p:nvGrpSpPr>
          <p:cNvPr name="Group 35" id="35"/>
          <p:cNvGrpSpPr/>
          <p:nvPr/>
        </p:nvGrpSpPr>
        <p:grpSpPr>
          <a:xfrm rot="0">
            <a:off x="15383422" y="8502910"/>
            <a:ext cx="1377186" cy="267121"/>
            <a:chOff x="0" y="0"/>
            <a:chExt cx="45813" cy="8886"/>
          </a:xfrm>
        </p:grpSpPr>
        <p:sp>
          <p:nvSpPr>
            <p:cNvPr name="Freeform 36" id="36"/>
            <p:cNvSpPr/>
            <p:nvPr/>
          </p:nvSpPr>
          <p:spPr>
            <a:xfrm flipH="false" flipV="false" rot="0">
              <a:off x="0" y="0"/>
              <a:ext cx="45813" cy="8886"/>
            </a:xfrm>
            <a:custGeom>
              <a:avLst/>
              <a:gdLst/>
              <a:ahLst/>
              <a:cxnLst/>
              <a:rect r="r" b="b" t="t" l="l"/>
              <a:pathLst>
                <a:path h="8886" w="45813">
                  <a:moveTo>
                    <a:pt x="0" y="0"/>
                  </a:moveTo>
                  <a:lnTo>
                    <a:pt x="45813" y="0"/>
                  </a:lnTo>
                  <a:lnTo>
                    <a:pt x="45813" y="8886"/>
                  </a:lnTo>
                  <a:lnTo>
                    <a:pt x="0" y="8886"/>
                  </a:lnTo>
                  <a:close/>
                </a:path>
              </a:pathLst>
            </a:custGeom>
            <a:solidFill>
              <a:srgbClr val="8CAD75"/>
            </a:solidFill>
          </p:spPr>
        </p:sp>
        <p:sp>
          <p:nvSpPr>
            <p:cNvPr name="TextBox 37" id="37"/>
            <p:cNvSpPr txBox="true"/>
            <p:nvPr/>
          </p:nvSpPr>
          <p:spPr>
            <a:xfrm>
              <a:off x="0" y="-28575"/>
              <a:ext cx="45813" cy="3746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Données restantes</a:t>
              </a:r>
            </a:p>
          </p:txBody>
        </p:sp>
      </p:grpSp>
      <p:sp>
        <p:nvSpPr>
          <p:cNvPr name="Freeform 38" id="38"/>
          <p:cNvSpPr/>
          <p:nvPr/>
        </p:nvSpPr>
        <p:spPr>
          <a:xfrm flipH="false" flipV="false" rot="0">
            <a:off x="13857422" y="3934835"/>
            <a:ext cx="521631" cy="517555"/>
          </a:xfrm>
          <a:custGeom>
            <a:avLst/>
            <a:gdLst/>
            <a:ahLst/>
            <a:cxnLst/>
            <a:rect r="r" b="b" t="t" l="l"/>
            <a:pathLst>
              <a:path h="517555" w="521631">
                <a:moveTo>
                  <a:pt x="0" y="0"/>
                </a:moveTo>
                <a:lnTo>
                  <a:pt x="521631" y="0"/>
                </a:lnTo>
                <a:lnTo>
                  <a:pt x="521631" y="517556"/>
                </a:lnTo>
                <a:lnTo>
                  <a:pt x="0" y="517556"/>
                </a:lnTo>
                <a:lnTo>
                  <a:pt x="0" y="0"/>
                </a:lnTo>
                <a:close/>
              </a:path>
            </a:pathLst>
          </a:custGeom>
          <a:blipFill>
            <a:blip r:embed="rId5"/>
            <a:stretch>
              <a:fillRect l="0" t="0" r="0" b="0"/>
            </a:stretch>
          </a:blipFill>
        </p:spPr>
      </p:sp>
      <p:grpSp>
        <p:nvGrpSpPr>
          <p:cNvPr name="Group 39" id="39"/>
          <p:cNvGrpSpPr/>
          <p:nvPr/>
        </p:nvGrpSpPr>
        <p:grpSpPr>
          <a:xfrm rot="0">
            <a:off x="13787720" y="4544240"/>
            <a:ext cx="661036" cy="267121"/>
            <a:chOff x="0" y="0"/>
            <a:chExt cx="23103" cy="9336"/>
          </a:xfrm>
        </p:grpSpPr>
        <p:sp>
          <p:nvSpPr>
            <p:cNvPr name="Freeform 40" id="40"/>
            <p:cNvSpPr/>
            <p:nvPr/>
          </p:nvSpPr>
          <p:spPr>
            <a:xfrm flipH="false" flipV="false" rot="0">
              <a:off x="0" y="0"/>
              <a:ext cx="23103" cy="9336"/>
            </a:xfrm>
            <a:custGeom>
              <a:avLst/>
              <a:gdLst/>
              <a:ahLst/>
              <a:cxnLst/>
              <a:rect r="r" b="b" t="t" l="l"/>
              <a:pathLst>
                <a:path h="9336" w="23103">
                  <a:moveTo>
                    <a:pt x="0" y="0"/>
                  </a:moveTo>
                  <a:lnTo>
                    <a:pt x="23103" y="0"/>
                  </a:lnTo>
                  <a:lnTo>
                    <a:pt x="23103" y="9336"/>
                  </a:lnTo>
                  <a:lnTo>
                    <a:pt x="0" y="9336"/>
                  </a:lnTo>
                  <a:close/>
                </a:path>
              </a:pathLst>
            </a:custGeom>
            <a:solidFill>
              <a:srgbClr val="8CAD75"/>
            </a:solidFill>
          </p:spPr>
        </p:sp>
        <p:sp>
          <p:nvSpPr>
            <p:cNvPr name="TextBox 41" id="41"/>
            <p:cNvSpPr txBox="true"/>
            <p:nvPr/>
          </p:nvSpPr>
          <p:spPr>
            <a:xfrm>
              <a:off x="0" y="-28575"/>
              <a:ext cx="23103" cy="37911"/>
            </a:xfrm>
            <a:prstGeom prst="rect">
              <a:avLst/>
            </a:prstGeom>
          </p:spPr>
          <p:txBody>
            <a:bodyPr anchor="ctr" rtlCol="false" tIns="50487" lIns="50487" bIns="50487" rIns="50487"/>
            <a:lstStyle/>
            <a:p>
              <a:pPr algn="ctr">
                <a:lnSpc>
                  <a:spcPts val="1400"/>
                </a:lnSpc>
                <a:spcBef>
                  <a:spcPct val="0"/>
                </a:spcBef>
              </a:pPr>
              <a:r>
                <a:rPr lang="en-US" b="true" sz="1000">
                  <a:solidFill>
                    <a:srgbClr val="FFFFFF"/>
                  </a:solidFill>
                  <a:latin typeface="Gotham Bold"/>
                  <a:ea typeface="Gotham Bold"/>
                  <a:cs typeface="Gotham Bold"/>
                  <a:sym typeface="Gotham Bold"/>
                </a:rPr>
                <a:t>Train Set</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TextBox 3" id="3"/>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4" id="4"/>
          <p:cNvSpPr txBox="true"/>
          <p:nvPr/>
        </p:nvSpPr>
        <p:spPr>
          <a:xfrm rot="0">
            <a:off x="1229688" y="2921648"/>
            <a:ext cx="13160463"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Pour pouvoir annoter, il nous faut créer un premier codebook.</a:t>
            </a:r>
          </a:p>
        </p:txBody>
      </p:sp>
      <p:sp>
        <p:nvSpPr>
          <p:cNvPr name="TextBox 5" id="5"/>
          <p:cNvSpPr txBox="true"/>
          <p:nvPr/>
        </p:nvSpPr>
        <p:spPr>
          <a:xfrm rot="0">
            <a:off x="1229688" y="4259846"/>
            <a:ext cx="12423187"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Deux catégories (aussi appelées labels, étiquettes) : </a:t>
            </a:r>
          </a:p>
        </p:txBody>
      </p:sp>
      <p:sp>
        <p:nvSpPr>
          <p:cNvPr name="TextBox 6" id="6"/>
          <p:cNvSpPr txBox="true"/>
          <p:nvPr/>
        </p:nvSpPr>
        <p:spPr>
          <a:xfrm rot="0">
            <a:off x="1392439" y="6136869"/>
            <a:ext cx="12423187"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Partons d’une définition simple (et un peu naïve) :</a:t>
            </a:r>
          </a:p>
        </p:txBody>
      </p:sp>
      <p:sp>
        <p:nvSpPr>
          <p:cNvPr name="TextBox 7" id="7"/>
          <p:cNvSpPr txBox="true"/>
          <p:nvPr/>
        </p:nvSpPr>
        <p:spPr>
          <a:xfrm rot="0">
            <a:off x="2264709" y="6886020"/>
            <a:ext cx="14135973" cy="10572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Un amendement est </a:t>
            </a:r>
            <a:r>
              <a:rPr lang="en-US" b="true" sz="3000">
                <a:solidFill>
                  <a:srgbClr val="000000"/>
                </a:solidFill>
                <a:latin typeface="Open Sauce Bold"/>
                <a:ea typeface="Open Sauce Bold"/>
                <a:cs typeface="Open Sauce Bold"/>
                <a:sym typeface="Open Sauce Bold"/>
              </a:rPr>
              <a:t>source</a:t>
            </a:r>
            <a:r>
              <a:rPr lang="en-US" sz="3000">
                <a:solidFill>
                  <a:srgbClr val="000000"/>
                </a:solidFill>
                <a:latin typeface="Open Sauce"/>
                <a:ea typeface="Open Sauce"/>
                <a:cs typeface="Open Sauce"/>
                <a:sym typeface="Open Sauce"/>
              </a:rPr>
              <a:t> quand il a été travaillé avec un représentant d’intérêt et que son origine est exprimée explicitement comme telle. </a:t>
            </a:r>
          </a:p>
        </p:txBody>
      </p:sp>
      <p:sp>
        <p:nvSpPr>
          <p:cNvPr name="AutoShape 8" id="8"/>
          <p:cNvSpPr/>
          <p:nvPr/>
        </p:nvSpPr>
        <p:spPr>
          <a:xfrm flipH="true" flipV="true">
            <a:off x="1977623" y="6952762"/>
            <a:ext cx="12921" cy="1722826"/>
          </a:xfrm>
          <a:prstGeom prst="line">
            <a:avLst/>
          </a:prstGeom>
          <a:ln cap="flat" w="95250">
            <a:solidFill>
              <a:srgbClr val="EA6F26"/>
            </a:solidFill>
            <a:prstDash val="solid"/>
            <a:headEnd type="none" len="sm" w="sm"/>
            <a:tailEnd type="none" len="sm" w="sm"/>
          </a:ln>
        </p:spPr>
      </p:sp>
      <p:sp>
        <p:nvSpPr>
          <p:cNvPr name="TextBox 9" id="9"/>
          <p:cNvSpPr txBox="true"/>
          <p:nvPr/>
        </p:nvSpPr>
        <p:spPr>
          <a:xfrm rot="0">
            <a:off x="10916342" y="4265271"/>
            <a:ext cx="2736532" cy="105727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a:solidFill>
                  <a:srgbClr val="000000"/>
                </a:solidFill>
                <a:latin typeface="Open Sauce"/>
                <a:ea typeface="Open Sauce"/>
                <a:cs typeface="Open Sauce"/>
                <a:sym typeface="Open Sauce"/>
              </a:rPr>
              <a:t>source</a:t>
            </a:r>
          </a:p>
          <a:p>
            <a:pPr algn="l" marL="647700" indent="-323850" lvl="1">
              <a:lnSpc>
                <a:spcPts val="4200"/>
              </a:lnSpc>
              <a:spcBef>
                <a:spcPct val="0"/>
              </a:spcBef>
              <a:buFont typeface="Arial"/>
              <a:buChar char="•"/>
            </a:pPr>
            <a:r>
              <a:rPr lang="en-US" sz="3000">
                <a:solidFill>
                  <a:srgbClr val="000000"/>
                </a:solidFill>
                <a:latin typeface="Open Sauce"/>
                <a:ea typeface="Open Sauce"/>
                <a:cs typeface="Open Sauce"/>
                <a:sym typeface="Open Sauce"/>
              </a:rPr>
              <a:t>non-source</a:t>
            </a:r>
          </a:p>
        </p:txBody>
      </p:sp>
      <p:sp>
        <p:nvSpPr>
          <p:cNvPr name="TextBox 10" id="10"/>
          <p:cNvSpPr txBox="true"/>
          <p:nvPr/>
        </p:nvSpPr>
        <p:spPr>
          <a:xfrm rot="0">
            <a:off x="2264709" y="8171895"/>
            <a:ext cx="14135973" cy="5238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Un amendement est </a:t>
            </a:r>
            <a:r>
              <a:rPr lang="en-US" b="true" sz="3000">
                <a:solidFill>
                  <a:srgbClr val="000000"/>
                </a:solidFill>
                <a:latin typeface="Open Sauce Bold"/>
                <a:ea typeface="Open Sauce Bold"/>
                <a:cs typeface="Open Sauce Bold"/>
                <a:sym typeface="Open Sauce Bold"/>
              </a:rPr>
              <a:t>non-source</a:t>
            </a:r>
            <a:r>
              <a:rPr lang="en-US" sz="3000">
                <a:solidFill>
                  <a:srgbClr val="000000"/>
                </a:solidFill>
                <a:latin typeface="Open Sauce"/>
                <a:ea typeface="Open Sauce"/>
                <a:cs typeface="Open Sauce"/>
                <a:sym typeface="Open Sauce"/>
              </a:rPr>
              <a:t> dans tous les autres cas.</a:t>
            </a:r>
          </a:p>
        </p:txBody>
      </p:sp>
      <p:sp>
        <p:nvSpPr>
          <p:cNvPr name="TextBox 11" id="11"/>
          <p:cNvSpPr txBox="true"/>
          <p:nvPr/>
        </p:nvSpPr>
        <p:spPr>
          <a:xfrm rot="0">
            <a:off x="1402315" y="6765519"/>
            <a:ext cx="162752" cy="762000"/>
          </a:xfrm>
          <a:prstGeom prst="rect">
            <a:avLst/>
          </a:prstGeom>
        </p:spPr>
        <p:txBody>
          <a:bodyPr anchor="t" rtlCol="false" tIns="0" lIns="0" bIns="0" rIns="0">
            <a:spAutoFit/>
          </a:bodyPr>
          <a:lstStyle/>
          <a:p>
            <a:pPr algn="l">
              <a:lnSpc>
                <a:spcPts val="6299"/>
              </a:lnSpc>
            </a:pPr>
            <a:r>
              <a:rPr lang="en-US" sz="4500" b="true">
                <a:solidFill>
                  <a:srgbClr val="EA6F26"/>
                </a:solidFill>
                <a:latin typeface="Open Sauce Bold"/>
                <a:ea typeface="Open Sauce Bold"/>
                <a:cs typeface="Open Sauce Bold"/>
                <a:sym typeface="Open Sauce Bold"/>
              </a:rPr>
              <a:t>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3660969" y="4060419"/>
            <a:ext cx="10966061" cy="5448762"/>
          </a:xfrm>
          <a:custGeom>
            <a:avLst/>
            <a:gdLst/>
            <a:ahLst/>
            <a:cxnLst/>
            <a:rect r="r" b="b" t="t" l="l"/>
            <a:pathLst>
              <a:path h="5448762" w="10966061">
                <a:moveTo>
                  <a:pt x="0" y="0"/>
                </a:moveTo>
                <a:lnTo>
                  <a:pt x="10966062" y="0"/>
                </a:lnTo>
                <a:lnTo>
                  <a:pt x="10966062" y="5448761"/>
                </a:lnTo>
                <a:lnTo>
                  <a:pt x="0" y="5448761"/>
                </a:lnTo>
                <a:lnTo>
                  <a:pt x="0" y="0"/>
                </a:lnTo>
                <a:close/>
              </a:path>
            </a:pathLst>
          </a:custGeom>
          <a:blipFill>
            <a:blip r:embed="rId3"/>
            <a:stretch>
              <a:fillRect l="0" t="0" r="0" b="0"/>
            </a:stretch>
          </a:blipFill>
        </p:spPr>
      </p:sp>
      <p:sp>
        <p:nvSpPr>
          <p:cNvPr name="Freeform 4" id="4"/>
          <p:cNvSpPr/>
          <p:nvPr/>
        </p:nvSpPr>
        <p:spPr>
          <a:xfrm flipH="false" flipV="false" rot="0">
            <a:off x="8444467" y="8108558"/>
            <a:ext cx="430125" cy="534317"/>
          </a:xfrm>
          <a:custGeom>
            <a:avLst/>
            <a:gdLst/>
            <a:ahLst/>
            <a:cxnLst/>
            <a:rect r="r" b="b" t="t" l="l"/>
            <a:pathLst>
              <a:path h="534317" w="430125">
                <a:moveTo>
                  <a:pt x="0" y="0"/>
                </a:moveTo>
                <a:lnTo>
                  <a:pt x="430126" y="0"/>
                </a:lnTo>
                <a:lnTo>
                  <a:pt x="430126" y="534318"/>
                </a:lnTo>
                <a:lnTo>
                  <a:pt x="0" y="53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6" id="6"/>
          <p:cNvSpPr txBox="true"/>
          <p:nvPr/>
        </p:nvSpPr>
        <p:spPr>
          <a:xfrm rot="0">
            <a:off x="1229688" y="2498319"/>
            <a:ext cx="14887250"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1. Créons les deux labels (source et non-source) : les taper puis cliquer sur Add.</a:t>
            </a:r>
          </a:p>
          <a:p>
            <a:pPr algn="l">
              <a:lnSpc>
                <a:spcPts val="4200"/>
              </a:lnSpc>
            </a:pPr>
            <a:r>
              <a:rPr lang="en-US" sz="3000">
                <a:solidFill>
                  <a:srgbClr val="000000"/>
                </a:solidFill>
                <a:latin typeface="Open Sauce"/>
                <a:ea typeface="Open Sauce"/>
                <a:cs typeface="Open Sauce"/>
                <a:sym typeface="Open Sauce"/>
              </a:rPr>
              <a:t>2. Rentrons notre premier codebook : cliquer sur l’icône stylo et ajouter le texte.</a:t>
            </a:r>
          </a:p>
        </p:txBody>
      </p:sp>
      <p:sp>
        <p:nvSpPr>
          <p:cNvPr name="Freeform 7" id="7"/>
          <p:cNvSpPr/>
          <p:nvPr/>
        </p:nvSpPr>
        <p:spPr>
          <a:xfrm flipH="false" flipV="false" rot="0">
            <a:off x="14043962" y="5537411"/>
            <a:ext cx="430125" cy="534317"/>
          </a:xfrm>
          <a:custGeom>
            <a:avLst/>
            <a:gdLst/>
            <a:ahLst/>
            <a:cxnLst/>
            <a:rect r="r" b="b" t="t" l="l"/>
            <a:pathLst>
              <a:path h="534317" w="430125">
                <a:moveTo>
                  <a:pt x="0" y="0"/>
                </a:moveTo>
                <a:lnTo>
                  <a:pt x="430125" y="0"/>
                </a:lnTo>
                <a:lnTo>
                  <a:pt x="430125" y="534317"/>
                </a:lnTo>
                <a:lnTo>
                  <a:pt x="0" y="5343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3"/>
            <a:stretch>
              <a:fillRect l="0" t="0" r="0" b="0"/>
            </a:stretch>
          </a:blipFill>
        </p:spPr>
      </p:sp>
      <p:sp>
        <p:nvSpPr>
          <p:cNvPr name="Freeform 3" id="3"/>
          <p:cNvSpPr/>
          <p:nvPr/>
        </p:nvSpPr>
        <p:spPr>
          <a:xfrm flipH="false" flipV="false" rot="0">
            <a:off x="14733273" y="4765454"/>
            <a:ext cx="2617476" cy="5095024"/>
          </a:xfrm>
          <a:custGeom>
            <a:avLst/>
            <a:gdLst/>
            <a:ahLst/>
            <a:cxnLst/>
            <a:rect r="r" b="b" t="t" l="l"/>
            <a:pathLst>
              <a:path h="5095024" w="2617476">
                <a:moveTo>
                  <a:pt x="0" y="0"/>
                </a:moveTo>
                <a:lnTo>
                  <a:pt x="2617476" y="0"/>
                </a:lnTo>
                <a:lnTo>
                  <a:pt x="2617476" y="5095024"/>
                </a:lnTo>
                <a:lnTo>
                  <a:pt x="0" y="5095024"/>
                </a:lnTo>
                <a:lnTo>
                  <a:pt x="0" y="0"/>
                </a:lnTo>
                <a:close/>
              </a:path>
            </a:pathLst>
          </a:custGeom>
          <a:blipFill>
            <a:blip r:embed="rId4"/>
            <a:stretch>
              <a:fillRect l="0" t="0" r="0" b="0"/>
            </a:stretch>
          </a:blipFill>
        </p:spPr>
      </p:sp>
      <p:sp>
        <p:nvSpPr>
          <p:cNvPr name="Freeform 4" id="4"/>
          <p:cNvSpPr/>
          <p:nvPr/>
        </p:nvSpPr>
        <p:spPr>
          <a:xfrm flipH="false" flipV="false" rot="0">
            <a:off x="1392439" y="2482901"/>
            <a:ext cx="13084230" cy="6501227"/>
          </a:xfrm>
          <a:custGeom>
            <a:avLst/>
            <a:gdLst/>
            <a:ahLst/>
            <a:cxnLst/>
            <a:rect r="r" b="b" t="t" l="l"/>
            <a:pathLst>
              <a:path h="6501227" w="13084230">
                <a:moveTo>
                  <a:pt x="0" y="0"/>
                </a:moveTo>
                <a:lnTo>
                  <a:pt x="13084230" y="0"/>
                </a:lnTo>
                <a:lnTo>
                  <a:pt x="13084230" y="6501226"/>
                </a:lnTo>
                <a:lnTo>
                  <a:pt x="0" y="6501226"/>
                </a:lnTo>
                <a:lnTo>
                  <a:pt x="0" y="0"/>
                </a:lnTo>
                <a:close/>
              </a:path>
            </a:pathLst>
          </a:custGeom>
          <a:blipFill>
            <a:blip r:embed="rId5"/>
            <a:stretch>
              <a:fillRect l="0" t="0" r="0" b="0"/>
            </a:stretch>
          </a:blipFill>
        </p:spPr>
      </p:sp>
      <p:sp>
        <p:nvSpPr>
          <p:cNvPr name="TextBox 5" id="5"/>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6" id="6"/>
          <p:cNvSpPr txBox="true"/>
          <p:nvPr/>
        </p:nvSpPr>
        <p:spPr>
          <a:xfrm rot="0">
            <a:off x="1392439" y="8963025"/>
            <a:ext cx="12372069"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3. Pour plus de confort, changer les paramètres de configuration.</a:t>
            </a:r>
          </a:p>
        </p:txBody>
      </p:sp>
      <p:sp>
        <p:nvSpPr>
          <p:cNvPr name="Freeform 7" id="7"/>
          <p:cNvSpPr/>
          <p:nvPr/>
        </p:nvSpPr>
        <p:spPr>
          <a:xfrm flipH="false" flipV="false" rot="0">
            <a:off x="14220066" y="4127930"/>
            <a:ext cx="513207" cy="637524"/>
          </a:xfrm>
          <a:custGeom>
            <a:avLst/>
            <a:gdLst/>
            <a:ahLst/>
            <a:cxnLst/>
            <a:rect r="r" b="b" t="t" l="l"/>
            <a:pathLst>
              <a:path h="637524" w="513207">
                <a:moveTo>
                  <a:pt x="0" y="0"/>
                </a:moveTo>
                <a:lnTo>
                  <a:pt x="513207" y="0"/>
                </a:lnTo>
                <a:lnTo>
                  <a:pt x="513207" y="637524"/>
                </a:lnTo>
                <a:lnTo>
                  <a:pt x="0" y="6375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1028700" y="3780305"/>
            <a:ext cx="11636847" cy="5782058"/>
          </a:xfrm>
          <a:custGeom>
            <a:avLst/>
            <a:gdLst/>
            <a:ahLst/>
            <a:cxnLst/>
            <a:rect r="r" b="b" t="t" l="l"/>
            <a:pathLst>
              <a:path h="5782058" w="11636847">
                <a:moveTo>
                  <a:pt x="0" y="0"/>
                </a:moveTo>
                <a:lnTo>
                  <a:pt x="11636847" y="0"/>
                </a:lnTo>
                <a:lnTo>
                  <a:pt x="11636847" y="5782059"/>
                </a:lnTo>
                <a:lnTo>
                  <a:pt x="0" y="5782059"/>
                </a:lnTo>
                <a:lnTo>
                  <a:pt x="0" y="0"/>
                </a:lnTo>
                <a:close/>
              </a:path>
            </a:pathLst>
          </a:custGeom>
          <a:blipFill>
            <a:blip r:embed="rId3"/>
            <a:stretch>
              <a:fillRect l="0" t="0" r="0" b="0"/>
            </a:stretch>
          </a:blipFill>
        </p:spPr>
      </p:sp>
      <p:sp>
        <p:nvSpPr>
          <p:cNvPr name="TextBox 4" id="4"/>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5" id="5"/>
          <p:cNvSpPr txBox="true"/>
          <p:nvPr/>
        </p:nvSpPr>
        <p:spPr>
          <a:xfrm rot="0">
            <a:off x="1028700" y="2360053"/>
            <a:ext cx="14224387"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4. C’est parti : annotons une dizaine d’amendements de façon aléatoire.</a:t>
            </a:r>
          </a:p>
          <a:p>
            <a:pPr algn="l">
              <a:lnSpc>
                <a:spcPts val="4200"/>
              </a:lnSpc>
            </a:pPr>
            <a:r>
              <a:rPr lang="en-US" sz="3000">
                <a:solidFill>
                  <a:srgbClr val="000000"/>
                </a:solidFill>
                <a:latin typeface="Open Sauce"/>
                <a:ea typeface="Open Sauce"/>
                <a:cs typeface="Open Sauce"/>
                <a:sym typeface="Open Sauce"/>
              </a:rPr>
              <a:t>On apprend à connaître nos données.</a:t>
            </a:r>
          </a:p>
        </p:txBody>
      </p:sp>
      <p:sp>
        <p:nvSpPr>
          <p:cNvPr name="TextBox 6" id="6"/>
          <p:cNvSpPr txBox="true"/>
          <p:nvPr/>
        </p:nvSpPr>
        <p:spPr>
          <a:xfrm rot="0">
            <a:off x="13014316" y="3713630"/>
            <a:ext cx="4016748" cy="55911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5. Le </a:t>
            </a:r>
            <a:r>
              <a:rPr lang="en-US" sz="3000" i="true">
                <a:solidFill>
                  <a:srgbClr val="000000"/>
                </a:solidFill>
                <a:latin typeface="Open Sauce Italics"/>
                <a:ea typeface="Open Sauce Italics"/>
                <a:cs typeface="Open Sauce Italics"/>
                <a:sym typeface="Open Sauce Italics"/>
              </a:rPr>
              <a:t>sourcing</a:t>
            </a:r>
            <a:r>
              <a:rPr lang="en-US" sz="3000">
                <a:solidFill>
                  <a:srgbClr val="000000"/>
                </a:solidFill>
                <a:latin typeface="Open Sauce"/>
                <a:ea typeface="Open Sauce"/>
                <a:cs typeface="Open Sauce"/>
                <a:sym typeface="Open Sauce"/>
              </a:rPr>
              <a:t> se matérialise souvent par la présence de la phrase suivante : “Cet amendement a été travaillé avec xx”. </a:t>
            </a:r>
          </a:p>
          <a:p>
            <a:pPr algn="l">
              <a:lnSpc>
                <a:spcPts val="2100"/>
              </a:lnSpc>
            </a:pPr>
          </a:p>
          <a:p>
            <a:pPr algn="l">
              <a:lnSpc>
                <a:spcPts val="4200"/>
              </a:lnSpc>
            </a:pPr>
            <a:r>
              <a:rPr lang="en-US" sz="3000">
                <a:solidFill>
                  <a:srgbClr val="000000"/>
                </a:solidFill>
                <a:latin typeface="Open Sauce"/>
                <a:ea typeface="Open Sauce"/>
                <a:cs typeface="Open Sauce"/>
                <a:sym typeface="Open Sauce"/>
              </a:rPr>
              <a:t>Annotons les amendements qui contiennent “travaillé avec”.</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1028700" y="3954280"/>
            <a:ext cx="10674758" cy="5304020"/>
          </a:xfrm>
          <a:custGeom>
            <a:avLst/>
            <a:gdLst/>
            <a:ahLst/>
            <a:cxnLst/>
            <a:rect r="r" b="b" t="t" l="l"/>
            <a:pathLst>
              <a:path h="5304020" w="10674758">
                <a:moveTo>
                  <a:pt x="0" y="0"/>
                </a:moveTo>
                <a:lnTo>
                  <a:pt x="10674758" y="0"/>
                </a:lnTo>
                <a:lnTo>
                  <a:pt x="10674758" y="5304020"/>
                </a:lnTo>
                <a:lnTo>
                  <a:pt x="0" y="5304020"/>
                </a:lnTo>
                <a:lnTo>
                  <a:pt x="0" y="0"/>
                </a:lnTo>
                <a:close/>
              </a:path>
            </a:pathLst>
          </a:custGeom>
          <a:blipFill>
            <a:blip r:embed="rId3"/>
            <a:stretch>
              <a:fillRect l="0" t="0" r="0" b="0"/>
            </a:stretch>
          </a:blipFill>
        </p:spPr>
      </p:sp>
      <p:sp>
        <p:nvSpPr>
          <p:cNvPr name="Freeform 4" id="4"/>
          <p:cNvSpPr/>
          <p:nvPr/>
        </p:nvSpPr>
        <p:spPr>
          <a:xfrm flipH="false" flipV="false" rot="0">
            <a:off x="6366079" y="4257120"/>
            <a:ext cx="10573028" cy="5253473"/>
          </a:xfrm>
          <a:custGeom>
            <a:avLst/>
            <a:gdLst/>
            <a:ahLst/>
            <a:cxnLst/>
            <a:rect r="r" b="b" t="t" l="l"/>
            <a:pathLst>
              <a:path h="5253473" w="10573028">
                <a:moveTo>
                  <a:pt x="0" y="0"/>
                </a:moveTo>
                <a:lnTo>
                  <a:pt x="10573028" y="0"/>
                </a:lnTo>
                <a:lnTo>
                  <a:pt x="10573028" y="5253473"/>
                </a:lnTo>
                <a:lnTo>
                  <a:pt x="0" y="5253473"/>
                </a:lnTo>
                <a:lnTo>
                  <a:pt x="0" y="0"/>
                </a:lnTo>
                <a:close/>
              </a:path>
            </a:pathLst>
          </a:custGeom>
          <a:blipFill>
            <a:blip r:embed="rId4"/>
            <a:stretch>
              <a:fillRect l="0" t="0" r="0" b="0"/>
            </a:stretch>
          </a:blipFill>
        </p:spPr>
      </p:sp>
      <p:sp>
        <p:nvSpPr>
          <p:cNvPr name="TextBox 5" id="5"/>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6" id="6"/>
          <p:cNvSpPr txBox="true"/>
          <p:nvPr/>
        </p:nvSpPr>
        <p:spPr>
          <a:xfrm rot="0">
            <a:off x="1028700" y="2397880"/>
            <a:ext cx="16230600"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6. On a maintenant assez de données pour entraîner un premier modèle, qui va nous permettre d’annoter en utilisant l’</a:t>
            </a:r>
            <a:r>
              <a:rPr lang="en-US" sz="3000" b="true">
                <a:solidFill>
                  <a:srgbClr val="000000"/>
                </a:solidFill>
                <a:latin typeface="Open Sauce Bold"/>
                <a:ea typeface="Open Sauce Bold"/>
                <a:cs typeface="Open Sauce Bold"/>
                <a:sym typeface="Open Sauce Bold"/>
              </a:rPr>
              <a:t>active learning</a:t>
            </a:r>
            <a:r>
              <a:rPr lang="en-US" sz="3000">
                <a:solidFill>
                  <a:srgbClr val="000000"/>
                </a:solidFill>
                <a:latin typeface="Open Sauce"/>
                <a:ea typeface="Open Sauce"/>
                <a:cs typeface="Open Sauce"/>
                <a:sym typeface="Open Sauce"/>
              </a:rPr>
              <a:t>. </a:t>
            </a:r>
          </a:p>
        </p:txBody>
      </p:sp>
      <p:sp>
        <p:nvSpPr>
          <p:cNvPr name="Freeform 7" id="7"/>
          <p:cNvSpPr/>
          <p:nvPr/>
        </p:nvSpPr>
        <p:spPr>
          <a:xfrm flipH="false" flipV="false" rot="0">
            <a:off x="4538931" y="5589487"/>
            <a:ext cx="430125" cy="534317"/>
          </a:xfrm>
          <a:custGeom>
            <a:avLst/>
            <a:gdLst/>
            <a:ahLst/>
            <a:cxnLst/>
            <a:rect r="r" b="b" t="t" l="l"/>
            <a:pathLst>
              <a:path h="534317" w="430125">
                <a:moveTo>
                  <a:pt x="0" y="0"/>
                </a:moveTo>
                <a:lnTo>
                  <a:pt x="430125" y="0"/>
                </a:lnTo>
                <a:lnTo>
                  <a:pt x="430125" y="534318"/>
                </a:lnTo>
                <a:lnTo>
                  <a:pt x="0" y="5343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346183" y="8319541"/>
            <a:ext cx="430125" cy="534317"/>
          </a:xfrm>
          <a:custGeom>
            <a:avLst/>
            <a:gdLst/>
            <a:ahLst/>
            <a:cxnLst/>
            <a:rect r="r" b="b" t="t" l="l"/>
            <a:pathLst>
              <a:path h="534317" w="430125">
                <a:moveTo>
                  <a:pt x="0" y="0"/>
                </a:moveTo>
                <a:lnTo>
                  <a:pt x="430125" y="0"/>
                </a:lnTo>
                <a:lnTo>
                  <a:pt x="430125" y="534318"/>
                </a:lnTo>
                <a:lnTo>
                  <a:pt x="0" y="5343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1028700" y="3321805"/>
            <a:ext cx="11482638" cy="5792536"/>
          </a:xfrm>
          <a:custGeom>
            <a:avLst/>
            <a:gdLst/>
            <a:ahLst/>
            <a:cxnLst/>
            <a:rect r="r" b="b" t="t" l="l"/>
            <a:pathLst>
              <a:path h="5792536" w="11482638">
                <a:moveTo>
                  <a:pt x="0" y="0"/>
                </a:moveTo>
                <a:lnTo>
                  <a:pt x="11482638" y="0"/>
                </a:lnTo>
                <a:lnTo>
                  <a:pt x="11482638" y="5792537"/>
                </a:lnTo>
                <a:lnTo>
                  <a:pt x="0" y="5792537"/>
                </a:lnTo>
                <a:lnTo>
                  <a:pt x="0" y="0"/>
                </a:lnTo>
                <a:close/>
              </a:path>
            </a:pathLst>
          </a:custGeom>
          <a:blipFill>
            <a:blip r:embed="rId3"/>
            <a:stretch>
              <a:fillRect l="0" t="0" r="0" b="-850"/>
            </a:stretch>
          </a:blipFill>
        </p:spPr>
      </p:sp>
      <p:sp>
        <p:nvSpPr>
          <p:cNvPr name="TextBox 4" id="4"/>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5" id="5"/>
          <p:cNvSpPr txBox="true"/>
          <p:nvPr/>
        </p:nvSpPr>
        <p:spPr>
          <a:xfrm rot="0">
            <a:off x="1028700" y="2397880"/>
            <a:ext cx="16230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7. Annotons quelques d’amendements en utilisant l’active learning.</a:t>
            </a:r>
          </a:p>
        </p:txBody>
      </p:sp>
      <p:sp>
        <p:nvSpPr>
          <p:cNvPr name="TextBox 6" id="6"/>
          <p:cNvSpPr txBox="true"/>
          <p:nvPr/>
        </p:nvSpPr>
        <p:spPr>
          <a:xfrm rot="0">
            <a:off x="12233088" y="6456867"/>
            <a:ext cx="5026212" cy="26574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Nous pourrons ensuite entraîner d’autres modèles pour améliorer les prédictions et donc la sélection des cas difficiles.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AutoShape 3" id="3"/>
          <p:cNvSpPr/>
          <p:nvPr/>
        </p:nvSpPr>
        <p:spPr>
          <a:xfrm flipV="true">
            <a:off x="1846853" y="8276540"/>
            <a:ext cx="4586" cy="1000592"/>
          </a:xfrm>
          <a:prstGeom prst="line">
            <a:avLst/>
          </a:prstGeom>
          <a:ln cap="flat" w="95250">
            <a:solidFill>
              <a:srgbClr val="EA6F26"/>
            </a:solidFill>
            <a:prstDash val="solid"/>
            <a:headEnd type="none" len="sm" w="sm"/>
            <a:tailEnd type="none" len="sm" w="sm"/>
          </a:ln>
        </p:spPr>
      </p:sp>
      <p:grpSp>
        <p:nvGrpSpPr>
          <p:cNvPr name="Group 4" id="4"/>
          <p:cNvGrpSpPr/>
          <p:nvPr/>
        </p:nvGrpSpPr>
        <p:grpSpPr>
          <a:xfrm rot="0">
            <a:off x="1035819" y="6587659"/>
            <a:ext cx="7127593" cy="1239469"/>
            <a:chOff x="0" y="0"/>
            <a:chExt cx="1877226" cy="326445"/>
          </a:xfrm>
        </p:grpSpPr>
        <p:sp>
          <p:nvSpPr>
            <p:cNvPr name="Freeform 5" id="5"/>
            <p:cNvSpPr/>
            <p:nvPr/>
          </p:nvSpPr>
          <p:spPr>
            <a:xfrm flipH="false" flipV="false" rot="0">
              <a:off x="0" y="0"/>
              <a:ext cx="1877226" cy="326445"/>
            </a:xfrm>
            <a:custGeom>
              <a:avLst/>
              <a:gdLst/>
              <a:ahLst/>
              <a:cxnLst/>
              <a:rect r="r" b="b" t="t" l="l"/>
              <a:pathLst>
                <a:path h="326445" w="1877226">
                  <a:moveTo>
                    <a:pt x="55396" y="0"/>
                  </a:moveTo>
                  <a:lnTo>
                    <a:pt x="1821830" y="0"/>
                  </a:lnTo>
                  <a:cubicBezTo>
                    <a:pt x="1852425" y="0"/>
                    <a:pt x="1877226" y="24801"/>
                    <a:pt x="1877226" y="55396"/>
                  </a:cubicBezTo>
                  <a:lnTo>
                    <a:pt x="1877226" y="271049"/>
                  </a:lnTo>
                  <a:cubicBezTo>
                    <a:pt x="1877226" y="301643"/>
                    <a:pt x="1852425" y="326445"/>
                    <a:pt x="1821830" y="326445"/>
                  </a:cubicBezTo>
                  <a:lnTo>
                    <a:pt x="55396" y="326445"/>
                  </a:lnTo>
                  <a:cubicBezTo>
                    <a:pt x="24801" y="326445"/>
                    <a:pt x="0" y="301643"/>
                    <a:pt x="0" y="271049"/>
                  </a:cubicBezTo>
                  <a:lnTo>
                    <a:pt x="0" y="55396"/>
                  </a:lnTo>
                  <a:cubicBezTo>
                    <a:pt x="0" y="24801"/>
                    <a:pt x="24801" y="0"/>
                    <a:pt x="55396" y="0"/>
                  </a:cubicBezTo>
                  <a:close/>
                </a:path>
              </a:pathLst>
            </a:custGeom>
            <a:ln w="28575" cap="rnd">
              <a:solidFill>
                <a:srgbClr val="EA6F26"/>
              </a:solidFill>
              <a:prstDash val="solid"/>
              <a:round/>
            </a:ln>
          </p:spPr>
        </p:sp>
        <p:sp>
          <p:nvSpPr>
            <p:cNvPr name="TextBox 6" id="6"/>
            <p:cNvSpPr txBox="true"/>
            <p:nvPr/>
          </p:nvSpPr>
          <p:spPr>
            <a:xfrm>
              <a:off x="0" y="-38100"/>
              <a:ext cx="1877226" cy="364545"/>
            </a:xfrm>
            <a:prstGeom prst="rect">
              <a:avLst/>
            </a:prstGeom>
          </p:spPr>
          <p:txBody>
            <a:bodyPr anchor="ctr" rtlCol="false" tIns="304800" lIns="304800" bIns="304800" rIns="304800"/>
            <a:lstStyle/>
            <a:p>
              <a:pPr algn="ctr">
                <a:lnSpc>
                  <a:spcPts val="2659"/>
                </a:lnSpc>
                <a:spcBef>
                  <a:spcPct val="0"/>
                </a:spcBef>
              </a:pPr>
              <a:r>
                <a:rPr lang="en-US" sz="1899">
                  <a:solidFill>
                    <a:srgbClr val="000000"/>
                  </a:solidFill>
                  <a:latin typeface="Open Sans"/>
                  <a:ea typeface="Open Sans"/>
                  <a:cs typeface="Open Sans"/>
                  <a:sym typeface="Open Sans"/>
                </a:rPr>
                <a:t> (...) </a:t>
              </a:r>
              <a:r>
                <a:rPr lang="en-US" b="true" sz="1899">
                  <a:solidFill>
                    <a:srgbClr val="000000"/>
                  </a:solidFill>
                  <a:latin typeface="Open Sans Bold"/>
                  <a:ea typeface="Open Sans Bold"/>
                  <a:cs typeface="Open Sans Bold"/>
                  <a:sym typeface="Open Sans Bold"/>
                </a:rPr>
                <a:t>Cet amendement a été suggéré par la Fondation pour la Nature et l’Homme.</a:t>
              </a:r>
            </a:p>
          </p:txBody>
        </p:sp>
      </p:grpSp>
      <p:sp>
        <p:nvSpPr>
          <p:cNvPr name="AutoShape 7" id="7"/>
          <p:cNvSpPr/>
          <p:nvPr/>
        </p:nvSpPr>
        <p:spPr>
          <a:xfrm flipH="true" flipV="true">
            <a:off x="2437622" y="3787733"/>
            <a:ext cx="12921" cy="1722826"/>
          </a:xfrm>
          <a:prstGeom prst="line">
            <a:avLst/>
          </a:prstGeom>
          <a:ln cap="flat" w="95250">
            <a:solidFill>
              <a:srgbClr val="EA6F26"/>
            </a:solidFill>
            <a:prstDash val="solid"/>
            <a:headEnd type="none" len="sm" w="sm"/>
            <a:tailEnd type="none" len="sm" w="sm"/>
          </a:ln>
        </p:spPr>
      </p:sp>
      <p:grpSp>
        <p:nvGrpSpPr>
          <p:cNvPr name="Group 8" id="8"/>
          <p:cNvGrpSpPr/>
          <p:nvPr/>
        </p:nvGrpSpPr>
        <p:grpSpPr>
          <a:xfrm rot="0">
            <a:off x="1622003" y="3530491"/>
            <a:ext cx="15238678" cy="2304692"/>
            <a:chOff x="0" y="0"/>
            <a:chExt cx="4013479" cy="606997"/>
          </a:xfrm>
        </p:grpSpPr>
        <p:sp>
          <p:nvSpPr>
            <p:cNvPr name="Freeform 9" id="9"/>
            <p:cNvSpPr/>
            <p:nvPr/>
          </p:nvSpPr>
          <p:spPr>
            <a:xfrm flipH="false" flipV="false" rot="0">
              <a:off x="0" y="0"/>
              <a:ext cx="4013479" cy="606997"/>
            </a:xfrm>
            <a:custGeom>
              <a:avLst/>
              <a:gdLst/>
              <a:ahLst/>
              <a:cxnLst/>
              <a:rect r="r" b="b" t="t" l="l"/>
              <a:pathLst>
                <a:path h="606997" w="4013479">
                  <a:moveTo>
                    <a:pt x="7113" y="0"/>
                  </a:moveTo>
                  <a:lnTo>
                    <a:pt x="4006366" y="0"/>
                  </a:lnTo>
                  <a:cubicBezTo>
                    <a:pt x="4008253" y="0"/>
                    <a:pt x="4010062" y="749"/>
                    <a:pt x="4011396" y="2083"/>
                  </a:cubicBezTo>
                  <a:cubicBezTo>
                    <a:pt x="4012730" y="3417"/>
                    <a:pt x="4013479" y="5226"/>
                    <a:pt x="4013479" y="7113"/>
                  </a:cubicBezTo>
                  <a:lnTo>
                    <a:pt x="4013479" y="599885"/>
                  </a:lnTo>
                  <a:cubicBezTo>
                    <a:pt x="4013479" y="601771"/>
                    <a:pt x="4012730" y="603580"/>
                    <a:pt x="4011396" y="604914"/>
                  </a:cubicBezTo>
                  <a:cubicBezTo>
                    <a:pt x="4010062" y="606248"/>
                    <a:pt x="4008253" y="606997"/>
                    <a:pt x="4006366" y="606997"/>
                  </a:cubicBezTo>
                  <a:lnTo>
                    <a:pt x="7113" y="606997"/>
                  </a:lnTo>
                  <a:cubicBezTo>
                    <a:pt x="5226" y="606997"/>
                    <a:pt x="3417" y="606248"/>
                    <a:pt x="2083" y="604914"/>
                  </a:cubicBezTo>
                  <a:cubicBezTo>
                    <a:pt x="749" y="603580"/>
                    <a:pt x="0" y="601771"/>
                    <a:pt x="0" y="599885"/>
                  </a:cubicBezTo>
                  <a:lnTo>
                    <a:pt x="0" y="7113"/>
                  </a:lnTo>
                  <a:cubicBezTo>
                    <a:pt x="0" y="5226"/>
                    <a:pt x="749" y="3417"/>
                    <a:pt x="2083" y="2083"/>
                  </a:cubicBezTo>
                  <a:cubicBezTo>
                    <a:pt x="3417" y="749"/>
                    <a:pt x="5226" y="0"/>
                    <a:pt x="7113" y="0"/>
                  </a:cubicBezTo>
                  <a:close/>
                </a:path>
              </a:pathLst>
            </a:custGeom>
            <a:ln w="19050" cap="sq">
              <a:solidFill>
                <a:srgbClr val="000000"/>
              </a:solidFill>
              <a:prstDash val="solid"/>
              <a:miter/>
            </a:ln>
          </p:spPr>
        </p:sp>
        <p:sp>
          <p:nvSpPr>
            <p:cNvPr name="TextBox 10" id="10"/>
            <p:cNvSpPr txBox="true"/>
            <p:nvPr/>
          </p:nvSpPr>
          <p:spPr>
            <a:xfrm>
              <a:off x="0" y="-38100"/>
              <a:ext cx="4013479" cy="64509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12" id="12"/>
          <p:cNvSpPr txBox="true"/>
          <p:nvPr/>
        </p:nvSpPr>
        <p:spPr>
          <a:xfrm rot="0">
            <a:off x="1028700" y="2397880"/>
            <a:ext cx="16230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Au fil des annotations, on rencontre des cas difficiles qui font évoluer notre codebook.</a:t>
            </a:r>
          </a:p>
        </p:txBody>
      </p:sp>
      <p:sp>
        <p:nvSpPr>
          <p:cNvPr name="TextBox 13" id="13"/>
          <p:cNvSpPr txBox="true"/>
          <p:nvPr/>
        </p:nvSpPr>
        <p:spPr>
          <a:xfrm rot="0">
            <a:off x="2138525" y="8209798"/>
            <a:ext cx="15120775" cy="1057275"/>
          </a:xfrm>
          <a:prstGeom prst="rect">
            <a:avLst/>
          </a:prstGeom>
        </p:spPr>
        <p:txBody>
          <a:bodyPr anchor="t" rtlCol="false" tIns="0" lIns="0" bIns="0" rIns="0">
            <a:spAutoFit/>
          </a:bodyPr>
          <a:lstStyle/>
          <a:p>
            <a:pPr algn="l">
              <a:lnSpc>
                <a:spcPts val="4200"/>
              </a:lnSpc>
              <a:spcBef>
                <a:spcPct val="0"/>
              </a:spcBef>
            </a:pPr>
            <a:r>
              <a:rPr lang="en-US" sz="3000" i="true">
                <a:solidFill>
                  <a:srgbClr val="000000"/>
                </a:solidFill>
                <a:latin typeface="Open Sauce Italics"/>
                <a:ea typeface="Open Sauce Italics"/>
                <a:cs typeface="Open Sauce Italics"/>
                <a:sym typeface="Open Sauce Italics"/>
              </a:rPr>
              <a:t>Modif</a:t>
            </a:r>
            <a:r>
              <a:rPr lang="en-US" sz="3000">
                <a:solidFill>
                  <a:srgbClr val="000000"/>
                </a:solidFill>
                <a:latin typeface="Open Sauce"/>
                <a:ea typeface="Open Sauce"/>
                <a:cs typeface="Open Sauce"/>
                <a:sym typeface="Open Sauce"/>
              </a:rPr>
              <a:t>:</a:t>
            </a:r>
            <a:r>
              <a:rPr lang="en-US" sz="3000">
                <a:solidFill>
                  <a:srgbClr val="000000"/>
                </a:solidFill>
                <a:latin typeface="Open Sauce"/>
                <a:ea typeface="Open Sauce"/>
                <a:cs typeface="Open Sauce"/>
                <a:sym typeface="Open Sauce"/>
              </a:rPr>
              <a:t> Un amendement est </a:t>
            </a:r>
            <a:r>
              <a:rPr lang="en-US" sz="3000">
                <a:solidFill>
                  <a:srgbClr val="000000"/>
                </a:solidFill>
                <a:latin typeface="Open Sauce"/>
                <a:ea typeface="Open Sauce"/>
                <a:cs typeface="Open Sauce"/>
                <a:sym typeface="Open Sauce"/>
              </a:rPr>
              <a:t>source</a:t>
            </a:r>
            <a:r>
              <a:rPr lang="en-US" sz="3000">
                <a:solidFill>
                  <a:srgbClr val="000000"/>
                </a:solidFill>
                <a:latin typeface="Open Sauce"/>
                <a:ea typeface="Open Sauce"/>
                <a:cs typeface="Open Sauce"/>
                <a:sym typeface="Open Sauce"/>
              </a:rPr>
              <a:t> quand il a été </a:t>
            </a:r>
            <a:r>
              <a:rPr lang="en-US" b="true" sz="3000">
                <a:solidFill>
                  <a:srgbClr val="000000"/>
                </a:solidFill>
                <a:latin typeface="Open Sauce Bold"/>
                <a:ea typeface="Open Sauce Bold"/>
                <a:cs typeface="Open Sauce Bold"/>
                <a:sym typeface="Open Sauce Bold"/>
              </a:rPr>
              <a:t>suggéré par ou</a:t>
            </a:r>
            <a:r>
              <a:rPr lang="en-US" sz="3000">
                <a:solidFill>
                  <a:srgbClr val="000000"/>
                </a:solidFill>
                <a:latin typeface="Open Sauce"/>
                <a:ea typeface="Open Sauce"/>
                <a:cs typeface="Open Sauce"/>
                <a:sym typeface="Open Sauce"/>
              </a:rPr>
              <a:t> travaillé avec un représentant d’intérêt et que son origine est exprimée explicitement comme telle. </a:t>
            </a:r>
          </a:p>
        </p:txBody>
      </p:sp>
      <p:sp>
        <p:nvSpPr>
          <p:cNvPr name="TextBox 14" id="14"/>
          <p:cNvSpPr txBox="true"/>
          <p:nvPr/>
        </p:nvSpPr>
        <p:spPr>
          <a:xfrm rot="0">
            <a:off x="1276131" y="8089296"/>
            <a:ext cx="370364" cy="762000"/>
          </a:xfrm>
          <a:prstGeom prst="rect">
            <a:avLst/>
          </a:prstGeom>
        </p:spPr>
        <p:txBody>
          <a:bodyPr anchor="t" rtlCol="false" tIns="0" lIns="0" bIns="0" rIns="0">
            <a:spAutoFit/>
          </a:bodyPr>
          <a:lstStyle/>
          <a:p>
            <a:pPr algn="l">
              <a:lnSpc>
                <a:spcPts val="6299"/>
              </a:lnSpc>
            </a:pPr>
            <a:r>
              <a:rPr lang="en-US" sz="4500" b="true">
                <a:solidFill>
                  <a:srgbClr val="EA6F26"/>
                </a:solidFill>
                <a:latin typeface="Open Sauce Bold"/>
                <a:ea typeface="Open Sauce Bold"/>
                <a:cs typeface="Open Sauce Bold"/>
                <a:sym typeface="Open Sauce Bold"/>
              </a:rPr>
              <a:t>2</a:t>
            </a:r>
          </a:p>
        </p:txBody>
      </p:sp>
      <p:sp>
        <p:nvSpPr>
          <p:cNvPr name="TextBox 15" id="15"/>
          <p:cNvSpPr txBox="true"/>
          <p:nvPr/>
        </p:nvSpPr>
        <p:spPr>
          <a:xfrm rot="0">
            <a:off x="8655158" y="6912118"/>
            <a:ext cx="6148867" cy="5238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PB : suggérer ≠ travailler avec</a:t>
            </a:r>
          </a:p>
        </p:txBody>
      </p:sp>
      <p:sp>
        <p:nvSpPr>
          <p:cNvPr name="TextBox 16" id="16"/>
          <p:cNvSpPr txBox="true"/>
          <p:nvPr/>
        </p:nvSpPr>
        <p:spPr>
          <a:xfrm rot="0">
            <a:off x="2724708" y="3720991"/>
            <a:ext cx="14135973" cy="10572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Un amendement est </a:t>
            </a:r>
            <a:r>
              <a:rPr lang="en-US" b="true" sz="3000">
                <a:solidFill>
                  <a:srgbClr val="000000"/>
                </a:solidFill>
                <a:latin typeface="Open Sauce Bold"/>
                <a:ea typeface="Open Sauce Bold"/>
                <a:cs typeface="Open Sauce Bold"/>
                <a:sym typeface="Open Sauce Bold"/>
              </a:rPr>
              <a:t>source</a:t>
            </a:r>
            <a:r>
              <a:rPr lang="en-US" sz="3000">
                <a:solidFill>
                  <a:srgbClr val="000000"/>
                </a:solidFill>
                <a:latin typeface="Open Sauce"/>
                <a:ea typeface="Open Sauce"/>
                <a:cs typeface="Open Sauce"/>
                <a:sym typeface="Open Sauce"/>
              </a:rPr>
              <a:t> quand il a été travaillé avec un représentant d’intérêt et que son origine est exprimée explicitement comme telle. </a:t>
            </a:r>
          </a:p>
        </p:txBody>
      </p:sp>
      <p:sp>
        <p:nvSpPr>
          <p:cNvPr name="TextBox 17" id="17"/>
          <p:cNvSpPr txBox="true"/>
          <p:nvPr/>
        </p:nvSpPr>
        <p:spPr>
          <a:xfrm rot="0">
            <a:off x="2724708" y="5006866"/>
            <a:ext cx="14135973" cy="523875"/>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Open Sauce"/>
                <a:ea typeface="Open Sauce"/>
                <a:cs typeface="Open Sauce"/>
                <a:sym typeface="Open Sauce"/>
              </a:rPr>
              <a:t>Un amendement est </a:t>
            </a:r>
            <a:r>
              <a:rPr lang="en-US" b="true" sz="3000">
                <a:solidFill>
                  <a:srgbClr val="000000"/>
                </a:solidFill>
                <a:latin typeface="Open Sauce Bold"/>
                <a:ea typeface="Open Sauce Bold"/>
                <a:cs typeface="Open Sauce Bold"/>
                <a:sym typeface="Open Sauce Bold"/>
              </a:rPr>
              <a:t>non-source</a:t>
            </a:r>
            <a:r>
              <a:rPr lang="en-US" sz="3000">
                <a:solidFill>
                  <a:srgbClr val="000000"/>
                </a:solidFill>
                <a:latin typeface="Open Sauce"/>
                <a:ea typeface="Open Sauce"/>
                <a:cs typeface="Open Sauce"/>
                <a:sym typeface="Open Sauce"/>
              </a:rPr>
              <a:t> dans tous les autres cas.</a:t>
            </a:r>
          </a:p>
        </p:txBody>
      </p:sp>
      <p:sp>
        <p:nvSpPr>
          <p:cNvPr name="TextBox 18" id="18"/>
          <p:cNvSpPr txBox="true"/>
          <p:nvPr/>
        </p:nvSpPr>
        <p:spPr>
          <a:xfrm rot="0">
            <a:off x="1862314" y="3600490"/>
            <a:ext cx="162752" cy="762000"/>
          </a:xfrm>
          <a:prstGeom prst="rect">
            <a:avLst/>
          </a:prstGeom>
        </p:spPr>
        <p:txBody>
          <a:bodyPr anchor="t" rtlCol="false" tIns="0" lIns="0" bIns="0" rIns="0">
            <a:spAutoFit/>
          </a:bodyPr>
          <a:lstStyle/>
          <a:p>
            <a:pPr algn="l">
              <a:lnSpc>
                <a:spcPts val="6299"/>
              </a:lnSpc>
            </a:pPr>
            <a:r>
              <a:rPr lang="en-US" sz="4500" b="true">
                <a:solidFill>
                  <a:srgbClr val="EA6F26"/>
                </a:solidFill>
                <a:latin typeface="Open Sauce Bold"/>
                <a:ea typeface="Open Sauce Bold"/>
                <a:cs typeface="Open Sauce Bold"/>
                <a:sym typeface="Open Sauce Bold"/>
              </a:rPr>
              <a:t>1</a:t>
            </a:r>
          </a:p>
        </p:txBody>
      </p:sp>
      <p:sp>
        <p:nvSpPr>
          <p:cNvPr name="TextBox 19" id="19"/>
          <p:cNvSpPr txBox="true"/>
          <p:nvPr/>
        </p:nvSpPr>
        <p:spPr>
          <a:xfrm rot="-5400000">
            <a:off x="87750" y="4404766"/>
            <a:ext cx="2272424" cy="523875"/>
          </a:xfrm>
          <a:prstGeom prst="rect">
            <a:avLst/>
          </a:prstGeom>
        </p:spPr>
        <p:txBody>
          <a:bodyPr anchor="t" rtlCol="false" tIns="0" lIns="0" bIns="0" rIns="0">
            <a:spAutoFit/>
          </a:bodyPr>
          <a:lstStyle/>
          <a:p>
            <a:pPr algn="ctr">
              <a:lnSpc>
                <a:spcPts val="4200"/>
              </a:lnSpc>
            </a:pPr>
            <a:r>
              <a:rPr lang="en-US" sz="3000">
                <a:solidFill>
                  <a:srgbClr val="000000"/>
                </a:solidFill>
                <a:latin typeface="Open Sauce"/>
                <a:ea typeface="Open Sauce"/>
                <a:cs typeface="Open Sauce"/>
                <a:sym typeface="Open Sauce"/>
              </a:rPr>
              <a:t>DÉPART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AutoShape 3" id="3"/>
          <p:cNvSpPr/>
          <p:nvPr/>
        </p:nvSpPr>
        <p:spPr>
          <a:xfrm flipH="true" flipV="true">
            <a:off x="2063940" y="7793611"/>
            <a:ext cx="1431" cy="1486031"/>
          </a:xfrm>
          <a:prstGeom prst="line">
            <a:avLst/>
          </a:prstGeom>
          <a:ln cap="flat" w="95250">
            <a:solidFill>
              <a:srgbClr val="EA6F26"/>
            </a:solidFill>
            <a:prstDash val="solid"/>
            <a:headEnd type="none" len="sm" w="sm"/>
            <a:tailEnd type="none" len="sm" w="sm"/>
          </a:ln>
        </p:spPr>
      </p:sp>
      <p:grpSp>
        <p:nvGrpSpPr>
          <p:cNvPr name="Group 4" id="4"/>
          <p:cNvGrpSpPr/>
          <p:nvPr/>
        </p:nvGrpSpPr>
        <p:grpSpPr>
          <a:xfrm rot="0">
            <a:off x="1488632" y="3542081"/>
            <a:ext cx="4465771" cy="1572844"/>
            <a:chOff x="0" y="0"/>
            <a:chExt cx="1176170" cy="414247"/>
          </a:xfrm>
        </p:grpSpPr>
        <p:sp>
          <p:nvSpPr>
            <p:cNvPr name="Freeform 5" id="5"/>
            <p:cNvSpPr/>
            <p:nvPr/>
          </p:nvSpPr>
          <p:spPr>
            <a:xfrm flipH="false" flipV="false" rot="0">
              <a:off x="0" y="0"/>
              <a:ext cx="1176170" cy="414247"/>
            </a:xfrm>
            <a:custGeom>
              <a:avLst/>
              <a:gdLst/>
              <a:ahLst/>
              <a:cxnLst/>
              <a:rect r="r" b="b" t="t" l="l"/>
              <a:pathLst>
                <a:path h="414247" w="1176170">
                  <a:moveTo>
                    <a:pt x="88414" y="0"/>
                  </a:moveTo>
                  <a:lnTo>
                    <a:pt x="1087756" y="0"/>
                  </a:lnTo>
                  <a:cubicBezTo>
                    <a:pt x="1111205" y="0"/>
                    <a:pt x="1133693" y="9315"/>
                    <a:pt x="1150274" y="25896"/>
                  </a:cubicBezTo>
                  <a:cubicBezTo>
                    <a:pt x="1166855" y="42477"/>
                    <a:pt x="1176170" y="64965"/>
                    <a:pt x="1176170" y="88414"/>
                  </a:cubicBezTo>
                  <a:lnTo>
                    <a:pt x="1176170" y="325833"/>
                  </a:lnTo>
                  <a:cubicBezTo>
                    <a:pt x="1176170" y="349282"/>
                    <a:pt x="1166855" y="371770"/>
                    <a:pt x="1150274" y="388351"/>
                  </a:cubicBezTo>
                  <a:cubicBezTo>
                    <a:pt x="1133693" y="404932"/>
                    <a:pt x="1111205" y="414247"/>
                    <a:pt x="1087756" y="414247"/>
                  </a:cubicBezTo>
                  <a:lnTo>
                    <a:pt x="88414" y="414247"/>
                  </a:lnTo>
                  <a:cubicBezTo>
                    <a:pt x="64965" y="414247"/>
                    <a:pt x="42477" y="404932"/>
                    <a:pt x="25896" y="388351"/>
                  </a:cubicBezTo>
                  <a:cubicBezTo>
                    <a:pt x="9315" y="371770"/>
                    <a:pt x="0" y="349282"/>
                    <a:pt x="0" y="325833"/>
                  </a:cubicBezTo>
                  <a:lnTo>
                    <a:pt x="0" y="88414"/>
                  </a:lnTo>
                  <a:cubicBezTo>
                    <a:pt x="0" y="64965"/>
                    <a:pt x="9315" y="42477"/>
                    <a:pt x="25896" y="25896"/>
                  </a:cubicBezTo>
                  <a:cubicBezTo>
                    <a:pt x="42477" y="9315"/>
                    <a:pt x="64965" y="0"/>
                    <a:pt x="88414" y="0"/>
                  </a:cubicBezTo>
                  <a:close/>
                </a:path>
              </a:pathLst>
            </a:custGeom>
            <a:ln w="28575" cap="rnd">
              <a:solidFill>
                <a:srgbClr val="EA6F26"/>
              </a:solidFill>
              <a:prstDash val="solid"/>
              <a:round/>
            </a:ln>
          </p:spPr>
        </p:sp>
        <p:sp>
          <p:nvSpPr>
            <p:cNvPr name="TextBox 6" id="6"/>
            <p:cNvSpPr txBox="true"/>
            <p:nvPr/>
          </p:nvSpPr>
          <p:spPr>
            <a:xfrm>
              <a:off x="0" y="-38100"/>
              <a:ext cx="1176170" cy="452347"/>
            </a:xfrm>
            <a:prstGeom prst="rect">
              <a:avLst/>
            </a:prstGeom>
          </p:spPr>
          <p:txBody>
            <a:bodyPr anchor="ctr" rtlCol="false" tIns="304800" lIns="304800" bIns="304800" rIns="304800"/>
            <a:lstStyle/>
            <a:p>
              <a:pPr algn="ctr">
                <a:lnSpc>
                  <a:spcPts val="2659"/>
                </a:lnSpc>
                <a:spcBef>
                  <a:spcPct val="0"/>
                </a:spcBef>
              </a:pPr>
              <a:r>
                <a:rPr lang="en-US" sz="1899">
                  <a:solidFill>
                    <a:srgbClr val="000000"/>
                  </a:solidFill>
                  <a:latin typeface="Open Sans"/>
                  <a:ea typeface="Open Sans"/>
                  <a:cs typeface="Open Sans"/>
                  <a:sym typeface="Open Sans"/>
                </a:rPr>
                <a:t>Cet amendement </a:t>
              </a:r>
              <a:r>
                <a:rPr lang="en-US" b="true" sz="1899">
                  <a:solidFill>
                    <a:srgbClr val="000000"/>
                  </a:solidFill>
                  <a:latin typeface="Open Sans Bold"/>
                  <a:ea typeface="Open Sans Bold"/>
                  <a:cs typeface="Open Sans Bold"/>
                  <a:sym typeface="Open Sans Bold"/>
                </a:rPr>
                <a:t>adopté en commission du développement durable</a:t>
              </a:r>
              <a:r>
                <a:rPr lang="en-US" sz="1899">
                  <a:solidFill>
                    <a:srgbClr val="000000"/>
                  </a:solidFill>
                  <a:latin typeface="Open Sans"/>
                  <a:ea typeface="Open Sans"/>
                  <a:cs typeface="Open Sans"/>
                  <a:sym typeface="Open Sans"/>
                </a:rPr>
                <a:t> propose (...)</a:t>
              </a:r>
            </a:p>
          </p:txBody>
        </p:sp>
      </p:grpSp>
      <p:grpSp>
        <p:nvGrpSpPr>
          <p:cNvPr name="Group 7" id="7"/>
          <p:cNvGrpSpPr/>
          <p:nvPr/>
        </p:nvGrpSpPr>
        <p:grpSpPr>
          <a:xfrm rot="0">
            <a:off x="1488632" y="5574051"/>
            <a:ext cx="5383355" cy="1572844"/>
            <a:chOff x="0" y="0"/>
            <a:chExt cx="1417838" cy="414247"/>
          </a:xfrm>
        </p:grpSpPr>
        <p:sp>
          <p:nvSpPr>
            <p:cNvPr name="Freeform 8" id="8"/>
            <p:cNvSpPr/>
            <p:nvPr/>
          </p:nvSpPr>
          <p:spPr>
            <a:xfrm flipH="false" flipV="false" rot="0">
              <a:off x="0" y="0"/>
              <a:ext cx="1417838" cy="414247"/>
            </a:xfrm>
            <a:custGeom>
              <a:avLst/>
              <a:gdLst/>
              <a:ahLst/>
              <a:cxnLst/>
              <a:rect r="r" b="b" t="t" l="l"/>
              <a:pathLst>
                <a:path h="414247" w="1417838">
                  <a:moveTo>
                    <a:pt x="73344" y="0"/>
                  </a:moveTo>
                  <a:lnTo>
                    <a:pt x="1344494" y="0"/>
                  </a:lnTo>
                  <a:cubicBezTo>
                    <a:pt x="1385001" y="0"/>
                    <a:pt x="1417838" y="32837"/>
                    <a:pt x="1417838" y="73344"/>
                  </a:cubicBezTo>
                  <a:lnTo>
                    <a:pt x="1417838" y="340903"/>
                  </a:lnTo>
                  <a:cubicBezTo>
                    <a:pt x="1417838" y="360355"/>
                    <a:pt x="1410111" y="379010"/>
                    <a:pt x="1396356" y="392765"/>
                  </a:cubicBezTo>
                  <a:cubicBezTo>
                    <a:pt x="1382602" y="406520"/>
                    <a:pt x="1363946" y="414247"/>
                    <a:pt x="1344494" y="414247"/>
                  </a:cubicBezTo>
                  <a:lnTo>
                    <a:pt x="73344" y="414247"/>
                  </a:lnTo>
                  <a:cubicBezTo>
                    <a:pt x="32837" y="414247"/>
                    <a:pt x="0" y="381410"/>
                    <a:pt x="0" y="340903"/>
                  </a:cubicBezTo>
                  <a:lnTo>
                    <a:pt x="0" y="73344"/>
                  </a:lnTo>
                  <a:cubicBezTo>
                    <a:pt x="0" y="32837"/>
                    <a:pt x="32837" y="0"/>
                    <a:pt x="73344" y="0"/>
                  </a:cubicBezTo>
                  <a:close/>
                </a:path>
              </a:pathLst>
            </a:custGeom>
            <a:ln w="28575" cap="rnd">
              <a:solidFill>
                <a:srgbClr val="EA6F26"/>
              </a:solidFill>
              <a:prstDash val="solid"/>
              <a:round/>
            </a:ln>
          </p:spPr>
        </p:sp>
        <p:sp>
          <p:nvSpPr>
            <p:cNvPr name="TextBox 9" id="9"/>
            <p:cNvSpPr txBox="true"/>
            <p:nvPr/>
          </p:nvSpPr>
          <p:spPr>
            <a:xfrm>
              <a:off x="0" y="-38100"/>
              <a:ext cx="1417838" cy="452347"/>
            </a:xfrm>
            <a:prstGeom prst="rect">
              <a:avLst/>
            </a:prstGeom>
          </p:spPr>
          <p:txBody>
            <a:bodyPr anchor="ctr" rtlCol="false" tIns="304800" lIns="304800" bIns="304800" rIns="304800"/>
            <a:lstStyle/>
            <a:p>
              <a:pPr algn="ctr">
                <a:lnSpc>
                  <a:spcPts val="2659"/>
                </a:lnSpc>
                <a:spcBef>
                  <a:spcPct val="0"/>
                </a:spcBef>
              </a:pPr>
              <a:r>
                <a:rPr lang="en-US" sz="1899">
                  <a:solidFill>
                    <a:srgbClr val="000000"/>
                  </a:solidFill>
                  <a:latin typeface="Open Sans"/>
                  <a:ea typeface="Open Sans"/>
                  <a:cs typeface="Open Sans"/>
                  <a:sym typeface="Open Sans"/>
                </a:rPr>
                <a:t>Le présent amendement, </a:t>
              </a:r>
              <a:r>
                <a:rPr lang="en-US" b="true" sz="1899">
                  <a:solidFill>
                    <a:srgbClr val="000000"/>
                  </a:solidFill>
                  <a:latin typeface="Open Sans Bold"/>
                  <a:ea typeface="Open Sans Bold"/>
                  <a:cs typeface="Open Sans Bold"/>
                  <a:sym typeface="Open Sans Bold"/>
                </a:rPr>
                <a:t>soutenu par l’Association des maires de France (AMF)</a:t>
              </a:r>
              <a:r>
                <a:rPr lang="en-US" sz="1899">
                  <a:solidFill>
                    <a:srgbClr val="000000"/>
                  </a:solidFill>
                  <a:latin typeface="Open Sans"/>
                  <a:ea typeface="Open Sans"/>
                  <a:cs typeface="Open Sans"/>
                  <a:sym typeface="Open Sans"/>
                </a:rPr>
                <a:t>, vise à supprimer (...)</a:t>
              </a:r>
            </a:p>
          </p:txBody>
        </p:sp>
      </p:grpSp>
      <p:sp>
        <p:nvSpPr>
          <p:cNvPr name="TextBox 10" id="10"/>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11" id="11"/>
          <p:cNvSpPr txBox="true"/>
          <p:nvPr/>
        </p:nvSpPr>
        <p:spPr>
          <a:xfrm rot="0">
            <a:off x="1028700" y="2397880"/>
            <a:ext cx="16230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Au fil des annotations, on rencontre des cas difficiles qui font évoluer notre codebook.</a:t>
            </a:r>
          </a:p>
        </p:txBody>
      </p:sp>
      <p:sp>
        <p:nvSpPr>
          <p:cNvPr name="TextBox 12" id="12"/>
          <p:cNvSpPr txBox="true"/>
          <p:nvPr/>
        </p:nvSpPr>
        <p:spPr>
          <a:xfrm rot="0">
            <a:off x="2351026" y="7726869"/>
            <a:ext cx="15217269" cy="1590675"/>
          </a:xfrm>
          <a:prstGeom prst="rect">
            <a:avLst/>
          </a:prstGeom>
        </p:spPr>
        <p:txBody>
          <a:bodyPr anchor="t" rtlCol="false" tIns="0" lIns="0" bIns="0" rIns="0">
            <a:spAutoFit/>
          </a:bodyPr>
          <a:lstStyle/>
          <a:p>
            <a:pPr algn="l">
              <a:lnSpc>
                <a:spcPts val="4200"/>
              </a:lnSpc>
              <a:spcBef>
                <a:spcPct val="0"/>
              </a:spcBef>
            </a:pPr>
            <a:r>
              <a:rPr lang="en-US" sz="3000" i="true">
                <a:solidFill>
                  <a:srgbClr val="000000"/>
                </a:solidFill>
                <a:latin typeface="Open Sauce Italics"/>
                <a:ea typeface="Open Sauce Italics"/>
                <a:cs typeface="Open Sauce Italics"/>
                <a:sym typeface="Open Sauce Italics"/>
              </a:rPr>
              <a:t>Ajout:</a:t>
            </a:r>
            <a:r>
              <a:rPr lang="en-US" sz="3000">
                <a:solidFill>
                  <a:srgbClr val="000000"/>
                </a:solidFill>
                <a:latin typeface="Open Sauce"/>
                <a:ea typeface="Open Sauce"/>
                <a:cs typeface="Open Sauce"/>
                <a:sym typeface="Open Sauce"/>
              </a:rPr>
              <a:t> O</a:t>
            </a:r>
            <a:r>
              <a:rPr lang="en-US" sz="3000">
                <a:solidFill>
                  <a:srgbClr val="000000"/>
                </a:solidFill>
                <a:latin typeface="Open Sauce"/>
                <a:ea typeface="Open Sauce"/>
                <a:cs typeface="Open Sauce"/>
                <a:sym typeface="Open Sauce"/>
              </a:rPr>
              <a:t>n entend par "rep</a:t>
            </a:r>
            <a:r>
              <a:rPr lang="en-US" sz="3000">
                <a:solidFill>
                  <a:srgbClr val="000000"/>
                </a:solidFill>
                <a:latin typeface="Open Sauce"/>
                <a:ea typeface="Open Sauce"/>
                <a:cs typeface="Open Sauce"/>
                <a:sym typeface="Open Sauce"/>
              </a:rPr>
              <a:t>résent</a:t>
            </a:r>
            <a:r>
              <a:rPr lang="en-US" sz="3000">
                <a:solidFill>
                  <a:srgbClr val="000000"/>
                </a:solidFill>
                <a:latin typeface="Open Sauce"/>
                <a:ea typeface="Open Sauce"/>
                <a:cs typeface="Open Sauce"/>
                <a:sym typeface="Open Sauce"/>
              </a:rPr>
              <a:t>ant d’intérêt" u</a:t>
            </a:r>
            <a:r>
              <a:rPr lang="en-US" sz="3000">
                <a:solidFill>
                  <a:srgbClr val="000000"/>
                </a:solidFill>
                <a:latin typeface="Open Sauce"/>
                <a:ea typeface="Open Sauce"/>
                <a:cs typeface="Open Sauce"/>
                <a:sym typeface="Open Sauce"/>
              </a:rPr>
              <a:t>n </a:t>
            </a:r>
            <a:r>
              <a:rPr lang="en-US" sz="3000">
                <a:solidFill>
                  <a:srgbClr val="000000"/>
                </a:solidFill>
                <a:latin typeface="Open Sauce"/>
                <a:ea typeface="Open Sauce"/>
                <a:cs typeface="Open Sauce"/>
                <a:sym typeface="Open Sauce"/>
              </a:rPr>
              <a:t>gr</a:t>
            </a:r>
            <a:r>
              <a:rPr lang="en-US" sz="3000">
                <a:solidFill>
                  <a:srgbClr val="000000"/>
                </a:solidFill>
                <a:latin typeface="Open Sauce"/>
                <a:ea typeface="Open Sauce"/>
                <a:cs typeface="Open Sauce"/>
                <a:sym typeface="Open Sauce"/>
              </a:rPr>
              <a:t>ou</a:t>
            </a:r>
            <a:r>
              <a:rPr lang="en-US" sz="3000">
                <a:solidFill>
                  <a:srgbClr val="000000"/>
                </a:solidFill>
                <a:latin typeface="Open Sauce"/>
                <a:ea typeface="Open Sauce"/>
                <a:cs typeface="Open Sauce"/>
                <a:sym typeface="Open Sauce"/>
              </a:rPr>
              <a:t>p</a:t>
            </a:r>
            <a:r>
              <a:rPr lang="en-US" sz="3000">
                <a:solidFill>
                  <a:srgbClr val="000000"/>
                </a:solidFill>
                <a:latin typeface="Open Sauce"/>
                <a:ea typeface="Open Sauce"/>
                <a:cs typeface="Open Sauce"/>
                <a:sym typeface="Open Sauce"/>
              </a:rPr>
              <a:t>e</a:t>
            </a:r>
            <a:r>
              <a:rPr lang="en-US" sz="3000">
                <a:solidFill>
                  <a:srgbClr val="000000"/>
                </a:solidFill>
                <a:latin typeface="Open Sauce"/>
                <a:ea typeface="Open Sauce"/>
                <a:cs typeface="Open Sauce"/>
                <a:sym typeface="Open Sauce"/>
              </a:rPr>
              <a:t> ou une institution extérieure à la représentation politique, représentant des intérêts privés, conformément à la définition de la HATVP. </a:t>
            </a:r>
          </a:p>
        </p:txBody>
      </p:sp>
      <p:sp>
        <p:nvSpPr>
          <p:cNvPr name="TextBox 13" id="13"/>
          <p:cNvSpPr txBox="true"/>
          <p:nvPr/>
        </p:nvSpPr>
        <p:spPr>
          <a:xfrm rot="0">
            <a:off x="1488632" y="7606367"/>
            <a:ext cx="378301" cy="762000"/>
          </a:xfrm>
          <a:prstGeom prst="rect">
            <a:avLst/>
          </a:prstGeom>
        </p:spPr>
        <p:txBody>
          <a:bodyPr anchor="t" rtlCol="false" tIns="0" lIns="0" bIns="0" rIns="0">
            <a:spAutoFit/>
          </a:bodyPr>
          <a:lstStyle/>
          <a:p>
            <a:pPr algn="l">
              <a:lnSpc>
                <a:spcPts val="6299"/>
              </a:lnSpc>
            </a:pPr>
            <a:r>
              <a:rPr lang="en-US" sz="4500" b="true">
                <a:solidFill>
                  <a:srgbClr val="EA6F26"/>
                </a:solidFill>
                <a:latin typeface="Open Sauce Bold"/>
                <a:ea typeface="Open Sauce Bold"/>
                <a:cs typeface="Open Sauce Bold"/>
                <a:sym typeface="Open Sauce Bold"/>
              </a:rPr>
              <a:t>3</a:t>
            </a:r>
          </a:p>
        </p:txBody>
      </p:sp>
      <p:sp>
        <p:nvSpPr>
          <p:cNvPr name="TextBox 14" id="14"/>
          <p:cNvSpPr txBox="true"/>
          <p:nvPr/>
        </p:nvSpPr>
        <p:spPr>
          <a:xfrm rot="0">
            <a:off x="6518540" y="3600793"/>
            <a:ext cx="11008391" cy="1407795"/>
          </a:xfrm>
          <a:prstGeom prst="rect">
            <a:avLst/>
          </a:prstGeom>
        </p:spPr>
        <p:txBody>
          <a:bodyPr anchor="t" rtlCol="false" tIns="0" lIns="0" bIns="0" rIns="0">
            <a:spAutoFit/>
          </a:bodyPr>
          <a:lstStyle/>
          <a:p>
            <a:pPr algn="l">
              <a:lnSpc>
                <a:spcPts val="3780"/>
              </a:lnSpc>
            </a:pPr>
            <a:r>
              <a:rPr lang="en-US" sz="2700">
                <a:solidFill>
                  <a:srgbClr val="000000"/>
                </a:solidFill>
                <a:latin typeface="Open Sauce"/>
                <a:ea typeface="Open Sauce"/>
                <a:cs typeface="Open Sauce"/>
                <a:sym typeface="Open Sauce"/>
              </a:rPr>
              <a:t>PB : source explicite mais pas un représentant d’intérêt. </a:t>
            </a:r>
          </a:p>
          <a:p>
            <a:pPr algn="l">
              <a:lnSpc>
                <a:spcPts val="3780"/>
              </a:lnSpc>
            </a:pPr>
            <a:r>
              <a:rPr lang="en-US" sz="2700">
                <a:solidFill>
                  <a:srgbClr val="000000"/>
                </a:solidFill>
                <a:latin typeface="Open Sauce"/>
                <a:ea typeface="Open Sauce"/>
                <a:cs typeface="Open Sauce"/>
                <a:sym typeface="Open Sauce"/>
              </a:rPr>
              <a:t>        =&gt; Redéfinir la RQ vers l’identification de l’origine des     </a:t>
            </a:r>
          </a:p>
          <a:p>
            <a:pPr algn="l">
              <a:lnSpc>
                <a:spcPts val="3780"/>
              </a:lnSpc>
              <a:spcBef>
                <a:spcPct val="0"/>
              </a:spcBef>
            </a:pPr>
            <a:r>
              <a:rPr lang="en-US" sz="2700">
                <a:solidFill>
                  <a:srgbClr val="000000"/>
                </a:solidFill>
                <a:latin typeface="Open Sauce"/>
                <a:ea typeface="Open Sauce"/>
                <a:cs typeface="Open Sauce"/>
                <a:sym typeface="Open Sauce"/>
              </a:rPr>
              <a:t>       amendements, quelle qu’elle soit ? Choix : non.</a:t>
            </a:r>
          </a:p>
        </p:txBody>
      </p:sp>
      <p:sp>
        <p:nvSpPr>
          <p:cNvPr name="TextBox 15" id="15"/>
          <p:cNvSpPr txBox="true"/>
          <p:nvPr/>
        </p:nvSpPr>
        <p:spPr>
          <a:xfrm rot="0">
            <a:off x="7529212" y="5817548"/>
            <a:ext cx="8913003" cy="9315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Open Sauce"/>
                <a:ea typeface="Open Sauce"/>
                <a:cs typeface="Open Sauce"/>
                <a:sym typeface="Open Sauce"/>
              </a:rPr>
              <a:t>PB : associations d’élus et élues sont-elles des “lobbies” ? Choix : non (appui sur HATVP).</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AutoShape 3" id="3"/>
          <p:cNvSpPr/>
          <p:nvPr/>
        </p:nvSpPr>
        <p:spPr>
          <a:xfrm flipV="true">
            <a:off x="1967747" y="7212108"/>
            <a:ext cx="0" cy="2270348"/>
          </a:xfrm>
          <a:prstGeom prst="line">
            <a:avLst/>
          </a:prstGeom>
          <a:ln cap="flat" w="95250">
            <a:solidFill>
              <a:srgbClr val="EA6F26"/>
            </a:solidFill>
            <a:prstDash val="solid"/>
            <a:headEnd type="none" len="sm" w="sm"/>
            <a:tailEnd type="none" len="sm" w="sm"/>
          </a:ln>
        </p:spPr>
      </p:sp>
      <p:sp>
        <p:nvSpPr>
          <p:cNvPr name="TextBox 4" id="4"/>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5" id="5"/>
          <p:cNvSpPr txBox="true"/>
          <p:nvPr/>
        </p:nvSpPr>
        <p:spPr>
          <a:xfrm rot="0">
            <a:off x="1028700" y="2397880"/>
            <a:ext cx="16230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Au fil des annotations, on rencontre des cas difficiles qui font évoluer notre codebook.</a:t>
            </a:r>
          </a:p>
        </p:txBody>
      </p:sp>
      <p:sp>
        <p:nvSpPr>
          <p:cNvPr name="TextBox 6" id="6"/>
          <p:cNvSpPr txBox="true"/>
          <p:nvPr/>
        </p:nvSpPr>
        <p:spPr>
          <a:xfrm rot="0">
            <a:off x="2254833" y="7145366"/>
            <a:ext cx="15217269" cy="1057275"/>
          </a:xfrm>
          <a:prstGeom prst="rect">
            <a:avLst/>
          </a:prstGeom>
        </p:spPr>
        <p:txBody>
          <a:bodyPr anchor="t" rtlCol="false" tIns="0" lIns="0" bIns="0" rIns="0">
            <a:spAutoFit/>
          </a:bodyPr>
          <a:lstStyle/>
          <a:p>
            <a:pPr algn="l">
              <a:lnSpc>
                <a:spcPts val="4200"/>
              </a:lnSpc>
              <a:spcBef>
                <a:spcPct val="0"/>
              </a:spcBef>
            </a:pPr>
            <a:r>
              <a:rPr lang="en-US" sz="3000" i="true">
                <a:solidFill>
                  <a:srgbClr val="000000"/>
                </a:solidFill>
                <a:latin typeface="Open Sauce Italics"/>
                <a:ea typeface="Open Sauce Italics"/>
                <a:cs typeface="Open Sauce Italics"/>
                <a:sym typeface="Open Sauce Italics"/>
              </a:rPr>
              <a:t>Modif:</a:t>
            </a:r>
            <a:r>
              <a:rPr lang="en-US" sz="3000">
                <a:solidFill>
                  <a:srgbClr val="000000"/>
                </a:solidFill>
                <a:latin typeface="Open Sauce"/>
                <a:ea typeface="Open Sauce"/>
                <a:cs typeface="Open Sauce"/>
                <a:sym typeface="Open Sauce"/>
              </a:rPr>
              <a:t> O</a:t>
            </a:r>
            <a:r>
              <a:rPr lang="en-US" sz="3000">
                <a:solidFill>
                  <a:srgbClr val="000000"/>
                </a:solidFill>
                <a:latin typeface="Open Sauce"/>
                <a:ea typeface="Open Sauce"/>
                <a:cs typeface="Open Sauce"/>
                <a:sym typeface="Open Sauce"/>
              </a:rPr>
              <a:t>n entend par "rep</a:t>
            </a:r>
            <a:r>
              <a:rPr lang="en-US" sz="3000">
                <a:solidFill>
                  <a:srgbClr val="000000"/>
                </a:solidFill>
                <a:latin typeface="Open Sauce"/>
                <a:ea typeface="Open Sauce"/>
                <a:cs typeface="Open Sauce"/>
                <a:sym typeface="Open Sauce"/>
              </a:rPr>
              <a:t>résent</a:t>
            </a:r>
            <a:r>
              <a:rPr lang="en-US" sz="3000">
                <a:solidFill>
                  <a:srgbClr val="000000"/>
                </a:solidFill>
                <a:latin typeface="Open Sauce"/>
                <a:ea typeface="Open Sauce"/>
                <a:cs typeface="Open Sauce"/>
                <a:sym typeface="Open Sauce"/>
              </a:rPr>
              <a:t>ant d’intérêt" u</a:t>
            </a:r>
            <a:r>
              <a:rPr lang="en-US" sz="3000">
                <a:solidFill>
                  <a:srgbClr val="000000"/>
                </a:solidFill>
                <a:latin typeface="Open Sauce"/>
                <a:ea typeface="Open Sauce"/>
                <a:cs typeface="Open Sauce"/>
                <a:sym typeface="Open Sauce"/>
              </a:rPr>
              <a:t>n </a:t>
            </a:r>
            <a:r>
              <a:rPr lang="en-US" sz="3000">
                <a:solidFill>
                  <a:srgbClr val="000000"/>
                </a:solidFill>
                <a:latin typeface="Open Sauce"/>
                <a:ea typeface="Open Sauce"/>
                <a:cs typeface="Open Sauce"/>
                <a:sym typeface="Open Sauce"/>
              </a:rPr>
              <a:t>gr</a:t>
            </a:r>
            <a:r>
              <a:rPr lang="en-US" sz="3000">
                <a:solidFill>
                  <a:srgbClr val="000000"/>
                </a:solidFill>
                <a:latin typeface="Open Sauce"/>
                <a:ea typeface="Open Sauce"/>
                <a:cs typeface="Open Sauce"/>
                <a:sym typeface="Open Sauce"/>
              </a:rPr>
              <a:t>ou</a:t>
            </a:r>
            <a:r>
              <a:rPr lang="en-US" sz="3000">
                <a:solidFill>
                  <a:srgbClr val="000000"/>
                </a:solidFill>
                <a:latin typeface="Open Sauce"/>
                <a:ea typeface="Open Sauce"/>
                <a:cs typeface="Open Sauce"/>
                <a:sym typeface="Open Sauce"/>
              </a:rPr>
              <a:t>p</a:t>
            </a:r>
            <a:r>
              <a:rPr lang="en-US" sz="3000">
                <a:solidFill>
                  <a:srgbClr val="000000"/>
                </a:solidFill>
                <a:latin typeface="Open Sauce"/>
                <a:ea typeface="Open Sauce"/>
                <a:cs typeface="Open Sauce"/>
                <a:sym typeface="Open Sauce"/>
              </a:rPr>
              <a:t>e</a:t>
            </a:r>
            <a:r>
              <a:rPr lang="en-US" sz="3000">
                <a:solidFill>
                  <a:srgbClr val="000000"/>
                </a:solidFill>
                <a:latin typeface="Open Sauce"/>
                <a:ea typeface="Open Sauce"/>
                <a:cs typeface="Open Sauce"/>
                <a:sym typeface="Open Sauce"/>
              </a:rPr>
              <a:t> ou une institution extérieure à la représentation politique, représentant des intérêts privés. </a:t>
            </a:r>
          </a:p>
        </p:txBody>
      </p:sp>
      <p:sp>
        <p:nvSpPr>
          <p:cNvPr name="TextBox 7" id="7"/>
          <p:cNvSpPr txBox="true"/>
          <p:nvPr/>
        </p:nvSpPr>
        <p:spPr>
          <a:xfrm rot="0">
            <a:off x="1392439" y="7024864"/>
            <a:ext cx="369729" cy="762000"/>
          </a:xfrm>
          <a:prstGeom prst="rect">
            <a:avLst/>
          </a:prstGeom>
        </p:spPr>
        <p:txBody>
          <a:bodyPr anchor="t" rtlCol="false" tIns="0" lIns="0" bIns="0" rIns="0">
            <a:spAutoFit/>
          </a:bodyPr>
          <a:lstStyle/>
          <a:p>
            <a:pPr algn="l">
              <a:lnSpc>
                <a:spcPts val="6299"/>
              </a:lnSpc>
            </a:pPr>
            <a:r>
              <a:rPr lang="en-US" sz="4500" b="true">
                <a:solidFill>
                  <a:srgbClr val="EA6F26"/>
                </a:solidFill>
                <a:latin typeface="Open Sauce Bold"/>
                <a:ea typeface="Open Sauce Bold"/>
                <a:cs typeface="Open Sauce Bold"/>
                <a:sym typeface="Open Sauce Bold"/>
              </a:rPr>
              <a:t>4</a:t>
            </a:r>
          </a:p>
        </p:txBody>
      </p:sp>
      <p:sp>
        <p:nvSpPr>
          <p:cNvPr name="TextBox 8" id="8"/>
          <p:cNvSpPr txBox="true"/>
          <p:nvPr/>
        </p:nvSpPr>
        <p:spPr>
          <a:xfrm rot="0">
            <a:off x="6107091" y="4092396"/>
            <a:ext cx="10822004" cy="9315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Open Sauce"/>
                <a:ea typeface="Open Sauce"/>
                <a:cs typeface="Open Sauce"/>
                <a:sym typeface="Open Sauce"/>
              </a:rPr>
              <a:t>PB : “profession” et “collectif” ne rentrent pas dans la définition de la HATVP.</a:t>
            </a:r>
          </a:p>
        </p:txBody>
      </p:sp>
      <p:grpSp>
        <p:nvGrpSpPr>
          <p:cNvPr name="Group 9" id="9"/>
          <p:cNvGrpSpPr/>
          <p:nvPr/>
        </p:nvGrpSpPr>
        <p:grpSpPr>
          <a:xfrm rot="0">
            <a:off x="1551507" y="3321805"/>
            <a:ext cx="4034633" cy="1596472"/>
            <a:chOff x="0" y="0"/>
            <a:chExt cx="1062619" cy="420470"/>
          </a:xfrm>
        </p:grpSpPr>
        <p:sp>
          <p:nvSpPr>
            <p:cNvPr name="Freeform 10" id="10"/>
            <p:cNvSpPr/>
            <p:nvPr/>
          </p:nvSpPr>
          <p:spPr>
            <a:xfrm flipH="false" flipV="false" rot="0">
              <a:off x="0" y="0"/>
              <a:ext cx="1062619" cy="420470"/>
            </a:xfrm>
            <a:custGeom>
              <a:avLst/>
              <a:gdLst/>
              <a:ahLst/>
              <a:cxnLst/>
              <a:rect r="r" b="b" t="t" l="l"/>
              <a:pathLst>
                <a:path h="420470" w="1062619">
                  <a:moveTo>
                    <a:pt x="97862" y="0"/>
                  </a:moveTo>
                  <a:lnTo>
                    <a:pt x="964757" y="0"/>
                  </a:lnTo>
                  <a:cubicBezTo>
                    <a:pt x="1018805" y="0"/>
                    <a:pt x="1062619" y="43814"/>
                    <a:pt x="1062619" y="97862"/>
                  </a:cubicBezTo>
                  <a:lnTo>
                    <a:pt x="1062619" y="322608"/>
                  </a:lnTo>
                  <a:cubicBezTo>
                    <a:pt x="1062619" y="348563"/>
                    <a:pt x="1052309" y="373454"/>
                    <a:pt x="1033956" y="391807"/>
                  </a:cubicBezTo>
                  <a:cubicBezTo>
                    <a:pt x="1015603" y="410160"/>
                    <a:pt x="990712" y="420470"/>
                    <a:pt x="964757" y="420470"/>
                  </a:cubicBezTo>
                  <a:lnTo>
                    <a:pt x="97862" y="420470"/>
                  </a:lnTo>
                  <a:cubicBezTo>
                    <a:pt x="71908" y="420470"/>
                    <a:pt x="47016" y="410160"/>
                    <a:pt x="28663" y="391807"/>
                  </a:cubicBezTo>
                  <a:cubicBezTo>
                    <a:pt x="10310" y="373454"/>
                    <a:pt x="0" y="348563"/>
                    <a:pt x="0" y="322608"/>
                  </a:cubicBezTo>
                  <a:lnTo>
                    <a:pt x="0" y="97862"/>
                  </a:lnTo>
                  <a:cubicBezTo>
                    <a:pt x="0" y="71908"/>
                    <a:pt x="10310" y="47016"/>
                    <a:pt x="28663" y="28663"/>
                  </a:cubicBezTo>
                  <a:cubicBezTo>
                    <a:pt x="47016" y="10310"/>
                    <a:pt x="71908" y="0"/>
                    <a:pt x="97862" y="0"/>
                  </a:cubicBezTo>
                  <a:close/>
                </a:path>
              </a:pathLst>
            </a:custGeom>
            <a:ln w="28575" cap="rnd">
              <a:solidFill>
                <a:srgbClr val="EA6F26"/>
              </a:solidFill>
              <a:prstDash val="solid"/>
              <a:round/>
            </a:ln>
          </p:spPr>
        </p:sp>
        <p:sp>
          <p:nvSpPr>
            <p:cNvPr name="TextBox 11" id="11"/>
            <p:cNvSpPr txBox="true"/>
            <p:nvPr/>
          </p:nvSpPr>
          <p:spPr>
            <a:xfrm>
              <a:off x="0" y="-38100"/>
              <a:ext cx="1062619" cy="458570"/>
            </a:xfrm>
            <a:prstGeom prst="rect">
              <a:avLst/>
            </a:prstGeom>
          </p:spPr>
          <p:txBody>
            <a:bodyPr anchor="ctr" rtlCol="false" tIns="304800" lIns="304800" bIns="304800" rIns="304800"/>
            <a:lstStyle/>
            <a:p>
              <a:pPr algn="ctr">
                <a:lnSpc>
                  <a:spcPts val="2659"/>
                </a:lnSpc>
                <a:spcBef>
                  <a:spcPct val="0"/>
                </a:spcBef>
              </a:pPr>
              <a:r>
                <a:rPr lang="en-US" sz="1899">
                  <a:solidFill>
                    <a:srgbClr val="000000"/>
                  </a:solidFill>
                  <a:latin typeface="Open Sans"/>
                  <a:ea typeface="Open Sans"/>
                  <a:cs typeface="Open Sans"/>
                  <a:sym typeface="Open Sans"/>
                </a:rPr>
                <a:t>(...) Cet amendement a été élaboré en concertation </a:t>
              </a:r>
              <a:r>
                <a:rPr lang="en-US" b="true" sz="1899">
                  <a:solidFill>
                    <a:srgbClr val="000000"/>
                  </a:solidFill>
                  <a:latin typeface="Open Sans Bold"/>
                  <a:ea typeface="Open Sans Bold"/>
                  <a:cs typeface="Open Sans Bold"/>
                  <a:sym typeface="Open Sans Bold"/>
                </a:rPr>
                <a:t>avec la profession.</a:t>
              </a:r>
            </a:p>
          </p:txBody>
        </p:sp>
      </p:grpSp>
      <p:sp>
        <p:nvSpPr>
          <p:cNvPr name="TextBox 12" id="12"/>
          <p:cNvSpPr txBox="true"/>
          <p:nvPr/>
        </p:nvSpPr>
        <p:spPr>
          <a:xfrm rot="0">
            <a:off x="2254833" y="8425181"/>
            <a:ext cx="15217269" cy="1057275"/>
          </a:xfrm>
          <a:prstGeom prst="rect">
            <a:avLst/>
          </a:prstGeom>
        </p:spPr>
        <p:txBody>
          <a:bodyPr anchor="t" rtlCol="false" tIns="0" lIns="0" bIns="0" rIns="0">
            <a:spAutoFit/>
          </a:bodyPr>
          <a:lstStyle/>
          <a:p>
            <a:pPr algn="l">
              <a:lnSpc>
                <a:spcPts val="4200"/>
              </a:lnSpc>
              <a:spcBef>
                <a:spcPct val="0"/>
              </a:spcBef>
            </a:pPr>
            <a:r>
              <a:rPr lang="en-US" sz="3000" i="true">
                <a:solidFill>
                  <a:srgbClr val="000000"/>
                </a:solidFill>
                <a:latin typeface="Open Sauce Italics"/>
                <a:ea typeface="Open Sauce Italics"/>
                <a:cs typeface="Open Sauce Italics"/>
                <a:sym typeface="Open Sauce Italics"/>
              </a:rPr>
              <a:t>Ajout:</a:t>
            </a:r>
            <a:r>
              <a:rPr lang="en-US" sz="3000">
                <a:solidFill>
                  <a:srgbClr val="000000"/>
                </a:solidFill>
                <a:latin typeface="Open Sauce"/>
                <a:ea typeface="Open Sauce"/>
                <a:cs typeface="Open Sauce"/>
                <a:sym typeface="Open Sauce"/>
              </a:rPr>
              <a:t> Cette</a:t>
            </a:r>
            <a:r>
              <a:rPr lang="en-US" sz="3000">
                <a:solidFill>
                  <a:srgbClr val="000000"/>
                </a:solidFill>
                <a:latin typeface="Open Sauce"/>
                <a:ea typeface="Open Sauce"/>
                <a:cs typeface="Open Sauce"/>
                <a:sym typeface="Open Sauce"/>
              </a:rPr>
              <a:t> définition rep</a:t>
            </a:r>
            <a:r>
              <a:rPr lang="en-US" sz="3000">
                <a:solidFill>
                  <a:srgbClr val="000000"/>
                </a:solidFill>
                <a:latin typeface="Open Sauce"/>
                <a:ea typeface="Open Sauce"/>
                <a:cs typeface="Open Sauce"/>
                <a:sym typeface="Open Sauce"/>
              </a:rPr>
              <a:t>rend celle de l</a:t>
            </a:r>
            <a:r>
              <a:rPr lang="en-US" sz="3000">
                <a:solidFill>
                  <a:srgbClr val="000000"/>
                </a:solidFill>
                <a:latin typeface="Open Sauce"/>
                <a:ea typeface="Open Sauce"/>
                <a:cs typeface="Open Sauce"/>
                <a:sym typeface="Open Sauce"/>
              </a:rPr>
              <a:t>a HATVP mais élargit so</a:t>
            </a:r>
            <a:r>
              <a:rPr lang="en-US" sz="3000">
                <a:solidFill>
                  <a:srgbClr val="000000"/>
                </a:solidFill>
                <a:latin typeface="Open Sauce"/>
                <a:ea typeface="Open Sauce"/>
                <a:cs typeface="Open Sauce"/>
                <a:sym typeface="Open Sauce"/>
              </a:rPr>
              <a:t>n cham</a:t>
            </a:r>
            <a:r>
              <a:rPr lang="en-US" sz="3000">
                <a:solidFill>
                  <a:srgbClr val="000000"/>
                </a:solidFill>
                <a:latin typeface="Open Sauce"/>
                <a:ea typeface="Open Sauce"/>
                <a:cs typeface="Open Sauce"/>
                <a:sym typeface="Open Sauce"/>
              </a:rPr>
              <a:t>p en n'exigeant pas une personnalité morale du représentant d'intérêt. </a:t>
            </a:r>
          </a:p>
        </p:txBody>
      </p:sp>
      <p:grpSp>
        <p:nvGrpSpPr>
          <p:cNvPr name="Group 13" id="13"/>
          <p:cNvGrpSpPr/>
          <p:nvPr/>
        </p:nvGrpSpPr>
        <p:grpSpPr>
          <a:xfrm rot="0">
            <a:off x="1551507" y="5139637"/>
            <a:ext cx="4034633" cy="1596472"/>
            <a:chOff x="0" y="0"/>
            <a:chExt cx="1062619" cy="420470"/>
          </a:xfrm>
        </p:grpSpPr>
        <p:sp>
          <p:nvSpPr>
            <p:cNvPr name="Freeform 14" id="14"/>
            <p:cNvSpPr/>
            <p:nvPr/>
          </p:nvSpPr>
          <p:spPr>
            <a:xfrm flipH="false" flipV="false" rot="0">
              <a:off x="0" y="0"/>
              <a:ext cx="1062619" cy="420470"/>
            </a:xfrm>
            <a:custGeom>
              <a:avLst/>
              <a:gdLst/>
              <a:ahLst/>
              <a:cxnLst/>
              <a:rect r="r" b="b" t="t" l="l"/>
              <a:pathLst>
                <a:path h="420470" w="1062619">
                  <a:moveTo>
                    <a:pt x="97862" y="0"/>
                  </a:moveTo>
                  <a:lnTo>
                    <a:pt x="964757" y="0"/>
                  </a:lnTo>
                  <a:cubicBezTo>
                    <a:pt x="1018805" y="0"/>
                    <a:pt x="1062619" y="43814"/>
                    <a:pt x="1062619" y="97862"/>
                  </a:cubicBezTo>
                  <a:lnTo>
                    <a:pt x="1062619" y="322608"/>
                  </a:lnTo>
                  <a:cubicBezTo>
                    <a:pt x="1062619" y="348563"/>
                    <a:pt x="1052309" y="373454"/>
                    <a:pt x="1033956" y="391807"/>
                  </a:cubicBezTo>
                  <a:cubicBezTo>
                    <a:pt x="1015603" y="410160"/>
                    <a:pt x="990712" y="420470"/>
                    <a:pt x="964757" y="420470"/>
                  </a:cubicBezTo>
                  <a:lnTo>
                    <a:pt x="97862" y="420470"/>
                  </a:lnTo>
                  <a:cubicBezTo>
                    <a:pt x="71908" y="420470"/>
                    <a:pt x="47016" y="410160"/>
                    <a:pt x="28663" y="391807"/>
                  </a:cubicBezTo>
                  <a:cubicBezTo>
                    <a:pt x="10310" y="373454"/>
                    <a:pt x="0" y="348563"/>
                    <a:pt x="0" y="322608"/>
                  </a:cubicBezTo>
                  <a:lnTo>
                    <a:pt x="0" y="97862"/>
                  </a:lnTo>
                  <a:cubicBezTo>
                    <a:pt x="0" y="71908"/>
                    <a:pt x="10310" y="47016"/>
                    <a:pt x="28663" y="28663"/>
                  </a:cubicBezTo>
                  <a:cubicBezTo>
                    <a:pt x="47016" y="10310"/>
                    <a:pt x="71908" y="0"/>
                    <a:pt x="97862" y="0"/>
                  </a:cubicBezTo>
                  <a:close/>
                </a:path>
              </a:pathLst>
            </a:custGeom>
            <a:ln w="28575" cap="rnd">
              <a:solidFill>
                <a:srgbClr val="EA6F26"/>
              </a:solidFill>
              <a:prstDash val="solid"/>
              <a:round/>
            </a:ln>
          </p:spPr>
        </p:sp>
        <p:sp>
          <p:nvSpPr>
            <p:cNvPr name="TextBox 15" id="15"/>
            <p:cNvSpPr txBox="true"/>
            <p:nvPr/>
          </p:nvSpPr>
          <p:spPr>
            <a:xfrm>
              <a:off x="0" y="-38100"/>
              <a:ext cx="1062619" cy="458570"/>
            </a:xfrm>
            <a:prstGeom prst="rect">
              <a:avLst/>
            </a:prstGeom>
          </p:spPr>
          <p:txBody>
            <a:bodyPr anchor="ctr" rtlCol="false" tIns="304800" lIns="304800" bIns="304800" rIns="304800"/>
            <a:lstStyle/>
            <a:p>
              <a:pPr algn="ctr">
                <a:lnSpc>
                  <a:spcPts val="2659"/>
                </a:lnSpc>
                <a:spcBef>
                  <a:spcPct val="0"/>
                </a:spcBef>
              </a:pPr>
              <a:r>
                <a:rPr lang="en-US" sz="1899">
                  <a:solidFill>
                    <a:srgbClr val="000000"/>
                  </a:solidFill>
                  <a:latin typeface="Open Sans"/>
                  <a:ea typeface="Open Sans"/>
                  <a:cs typeface="Open Sans"/>
                  <a:sym typeface="Open Sans"/>
                </a:rPr>
                <a:t>(...) Cet amendement a été travaillé </a:t>
              </a:r>
              <a:r>
                <a:rPr lang="en-US" b="true" sz="1899">
                  <a:solidFill>
                    <a:srgbClr val="000000"/>
                  </a:solidFill>
                  <a:latin typeface="Open Sans Bold"/>
                  <a:ea typeface="Open Sans Bold"/>
                  <a:cs typeface="Open Sans Bold"/>
                  <a:sym typeface="Open Sans Bold"/>
                </a:rPr>
                <a:t>avec le collectif </a:t>
              </a:r>
              <a:r>
                <a:rPr lang="en-US" sz="1899">
                  <a:solidFill>
                    <a:srgbClr val="000000"/>
                  </a:solidFill>
                  <a:latin typeface="Open Sans"/>
                  <a:ea typeface="Open Sans"/>
                  <a:cs typeface="Open Sans"/>
                  <a:sym typeface="Open Sans"/>
                </a:rPr>
                <a:t>oui </a:t>
              </a:r>
              <a:r>
                <a:rPr lang="en-US" sz="1899">
                  <a:solidFill>
                    <a:srgbClr val="000000"/>
                  </a:solidFill>
                  <a:latin typeface="Open Sans"/>
                  <a:ea typeface="Open Sans"/>
                  <a:cs typeface="Open Sans"/>
                  <a:sym typeface="Open Sans"/>
                </a:rPr>
                <a:t>a</a:t>
              </a:r>
              <a:r>
                <a:rPr lang="en-US" sz="1899">
                  <a:solidFill>
                    <a:srgbClr val="000000"/>
                  </a:solidFill>
                  <a:latin typeface="Open Sans"/>
                  <a:ea typeface="Open Sans"/>
                  <a:cs typeface="Open Sans"/>
                  <a:sym typeface="Open Sans"/>
                </a:rPr>
                <a:t>u</a:t>
              </a:r>
              <a:r>
                <a:rPr lang="en-US" sz="1899">
                  <a:solidFill>
                    <a:srgbClr val="000000"/>
                  </a:solidFill>
                  <a:latin typeface="Open Sans"/>
                  <a:ea typeface="Open Sans"/>
                  <a:cs typeface="Open Sans"/>
                  <a:sym typeface="Open Sans"/>
                </a:rPr>
                <a:t> </a:t>
              </a:r>
              <a:r>
                <a:rPr lang="en-US" sz="1899">
                  <a:solidFill>
                    <a:srgbClr val="000000"/>
                  </a:solidFill>
                  <a:latin typeface="Open Sans"/>
                  <a:ea typeface="Open Sans"/>
                  <a:cs typeface="Open Sans"/>
                  <a:sym typeface="Open Sans"/>
                </a:rPr>
                <a:t>tr</a:t>
              </a:r>
              <a:r>
                <a:rPr lang="en-US" sz="1899">
                  <a:solidFill>
                    <a:srgbClr val="000000"/>
                  </a:solidFill>
                  <a:latin typeface="Open Sans"/>
                  <a:ea typeface="Open Sans"/>
                  <a:cs typeface="Open Sans"/>
                  <a:sym typeface="Open Sans"/>
                </a:rPr>
                <a:t>a</a:t>
              </a:r>
              <a:r>
                <a:rPr lang="en-US" sz="1899">
                  <a:solidFill>
                    <a:srgbClr val="000000"/>
                  </a:solidFill>
                  <a:latin typeface="Open Sans"/>
                  <a:ea typeface="Open Sans"/>
                  <a:cs typeface="Open Sans"/>
                  <a:sym typeface="Open Sans"/>
                </a:rPr>
                <a:t>in</a:t>
              </a:r>
              <a:r>
                <a:rPr lang="en-US" sz="1899">
                  <a:solidFill>
                    <a:srgbClr val="000000"/>
                  </a:solidFill>
                  <a:latin typeface="Open Sans"/>
                  <a:ea typeface="Open Sans"/>
                  <a:cs typeface="Open Sans"/>
                  <a:sym typeface="Open Sans"/>
                </a:rPr>
                <a:t> </a:t>
              </a:r>
              <a:r>
                <a:rPr lang="en-US" sz="1899">
                  <a:solidFill>
                    <a:srgbClr val="000000"/>
                  </a:solidFill>
                  <a:latin typeface="Open Sans"/>
                  <a:ea typeface="Open Sans"/>
                  <a:cs typeface="Open Sans"/>
                  <a:sym typeface="Open Sans"/>
                </a:rPr>
                <a:t>d</a:t>
              </a:r>
              <a:r>
                <a:rPr lang="en-US" sz="1899">
                  <a:solidFill>
                    <a:srgbClr val="000000"/>
                  </a:solidFill>
                  <a:latin typeface="Open Sans"/>
                  <a:ea typeface="Open Sans"/>
                  <a:cs typeface="Open Sans"/>
                  <a:sym typeface="Open Sans"/>
                </a:rPr>
                <a:t>e</a:t>
              </a:r>
              <a:r>
                <a:rPr lang="en-US" sz="1899">
                  <a:solidFill>
                    <a:srgbClr val="000000"/>
                  </a:solidFill>
                  <a:latin typeface="Open Sans"/>
                  <a:ea typeface="Open Sans"/>
                  <a:cs typeface="Open Sans"/>
                  <a:sym typeface="Open Sans"/>
                </a:rPr>
                <a:t> nu</a:t>
              </a:r>
              <a:r>
                <a:rPr lang="en-US" sz="1899">
                  <a:solidFill>
                    <a:srgbClr val="000000"/>
                  </a:solidFill>
                  <a:latin typeface="Open Sans"/>
                  <a:ea typeface="Open Sans"/>
                  <a:cs typeface="Open Sans"/>
                  <a:sym typeface="Open Sans"/>
                </a:rPr>
                <a:t>i</a:t>
              </a:r>
              <a:r>
                <a:rPr lang="en-US" sz="1899">
                  <a:solidFill>
                    <a:srgbClr val="000000"/>
                  </a:solidFill>
                  <a:latin typeface="Open Sans"/>
                  <a:ea typeface="Open Sans"/>
                  <a:cs typeface="Open Sans"/>
                  <a:sym typeface="Open Sans"/>
                </a:rPr>
                <a:t>t</a:t>
              </a:r>
              <a:r>
                <a:rPr lang="en-US" sz="1899">
                  <a:solidFill>
                    <a:srgbClr val="000000"/>
                  </a:solidFill>
                  <a:latin typeface="Open Sans"/>
                  <a:ea typeface="Open Sans"/>
                  <a:cs typeface="Open Sans"/>
                  <a:sym typeface="Open Sans"/>
                </a:rPr>
                <a:t>.</a:t>
              </a:r>
            </a:p>
          </p:txBody>
        </p:sp>
      </p:grpSp>
      <p:sp>
        <p:nvSpPr>
          <p:cNvPr name="TextBox 16" id="16"/>
          <p:cNvSpPr txBox="true"/>
          <p:nvPr/>
        </p:nvSpPr>
        <p:spPr>
          <a:xfrm rot="0">
            <a:off x="6539552" y="5092012"/>
            <a:ext cx="10822004" cy="455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Open Sauce"/>
                <a:ea typeface="Open Sauce"/>
                <a:cs typeface="Open Sauce"/>
                <a:sym typeface="Open Sauce"/>
              </a:rPr>
              <a:t>=&gt; Les inclure ? Choix : oui.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6675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3289242" y="2523717"/>
            <a:ext cx="14326678" cy="6608180"/>
          </a:xfrm>
          <a:custGeom>
            <a:avLst/>
            <a:gdLst/>
            <a:ahLst/>
            <a:cxnLst/>
            <a:rect r="r" b="b" t="t" l="l"/>
            <a:pathLst>
              <a:path h="6608180" w="14326678">
                <a:moveTo>
                  <a:pt x="0" y="0"/>
                </a:moveTo>
                <a:lnTo>
                  <a:pt x="14326678" y="0"/>
                </a:lnTo>
                <a:lnTo>
                  <a:pt x="14326678" y="6608181"/>
                </a:lnTo>
                <a:lnTo>
                  <a:pt x="0" y="6608181"/>
                </a:lnTo>
                <a:lnTo>
                  <a:pt x="0" y="0"/>
                </a:lnTo>
                <a:close/>
              </a:path>
            </a:pathLst>
          </a:custGeom>
          <a:blipFill>
            <a:blip r:embed="rId3"/>
            <a:stretch>
              <a:fillRect l="0" t="0" r="0" b="0"/>
            </a:stretch>
          </a:blipFill>
        </p:spPr>
      </p:sp>
      <p:sp>
        <p:nvSpPr>
          <p:cNvPr name="TextBox 4" id="4"/>
          <p:cNvSpPr txBox="true"/>
          <p:nvPr/>
        </p:nvSpPr>
        <p:spPr>
          <a:xfrm rot="0">
            <a:off x="1929998" y="752475"/>
            <a:ext cx="15685922" cy="1311275"/>
          </a:xfrm>
          <a:prstGeom prst="rect">
            <a:avLst/>
          </a:prstGeom>
        </p:spPr>
        <p:txBody>
          <a:bodyPr anchor="t" rtlCol="false" tIns="0" lIns="0" bIns="0" rIns="0">
            <a:spAutoFit/>
          </a:bodyPr>
          <a:lstStyle/>
          <a:p>
            <a:pPr algn="l">
              <a:lnSpc>
                <a:spcPts val="5050"/>
              </a:lnSpc>
            </a:pPr>
            <a:r>
              <a:rPr lang="en-US" sz="5000" b="true">
                <a:solidFill>
                  <a:srgbClr val="000000"/>
                </a:solidFill>
                <a:latin typeface="Open Sauce Bold"/>
                <a:ea typeface="Open Sauce Bold"/>
                <a:cs typeface="Open Sauce Bold"/>
                <a:sym typeface="Open Sauce Bold"/>
              </a:rPr>
              <a:t>Étape 2 : annoter les données d’entraînement et fixer son codebook</a:t>
            </a:r>
          </a:p>
        </p:txBody>
      </p:sp>
      <p:sp>
        <p:nvSpPr>
          <p:cNvPr name="TextBox 5" id="5"/>
          <p:cNvSpPr txBox="true"/>
          <p:nvPr/>
        </p:nvSpPr>
        <p:spPr>
          <a:xfrm rot="0">
            <a:off x="1028700" y="2538984"/>
            <a:ext cx="2095277"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Codebook final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3444263" y="2863040"/>
            <a:ext cx="12800076" cy="6680040"/>
          </a:xfrm>
          <a:custGeom>
            <a:avLst/>
            <a:gdLst/>
            <a:ahLst/>
            <a:cxnLst/>
            <a:rect r="r" b="b" t="t" l="l"/>
            <a:pathLst>
              <a:path h="6680040" w="12800076">
                <a:moveTo>
                  <a:pt x="0" y="0"/>
                </a:moveTo>
                <a:lnTo>
                  <a:pt x="12800077" y="0"/>
                </a:lnTo>
                <a:lnTo>
                  <a:pt x="12800077" y="6680040"/>
                </a:lnTo>
                <a:lnTo>
                  <a:pt x="0" y="6680040"/>
                </a:lnTo>
                <a:lnTo>
                  <a:pt x="0" y="0"/>
                </a:lnTo>
                <a:close/>
              </a:path>
            </a:pathLst>
          </a:custGeom>
          <a:blipFill>
            <a:blip r:embed="rId3"/>
            <a:stretch>
              <a:fillRect l="0" t="0" r="0" b="0"/>
            </a:stretch>
          </a:blipFill>
        </p:spPr>
      </p:sp>
      <p:sp>
        <p:nvSpPr>
          <p:cNvPr name="TextBox 4" id="4"/>
          <p:cNvSpPr txBox="true"/>
          <p:nvPr/>
        </p:nvSpPr>
        <p:spPr>
          <a:xfrm rot="0">
            <a:off x="1099110" y="2078641"/>
            <a:ext cx="15736322" cy="10572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Maintenant que notre codebook est fixé, on peut annoter les données de validation et de test.</a:t>
            </a:r>
          </a:p>
        </p:txBody>
      </p:sp>
      <p:sp>
        <p:nvSpPr>
          <p:cNvPr name="TextBox 5" id="5"/>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3 : annoter les validation et test sets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14035355" y="3300161"/>
            <a:ext cx="2849060" cy="757382"/>
          </a:xfrm>
          <a:custGeom>
            <a:avLst/>
            <a:gdLst/>
            <a:ahLst/>
            <a:cxnLst/>
            <a:rect r="r" b="b" t="t" l="l"/>
            <a:pathLst>
              <a:path h="757382" w="2849060">
                <a:moveTo>
                  <a:pt x="0" y="0"/>
                </a:moveTo>
                <a:lnTo>
                  <a:pt x="2849059" y="0"/>
                </a:lnTo>
                <a:lnTo>
                  <a:pt x="2849059" y="757382"/>
                </a:lnTo>
                <a:lnTo>
                  <a:pt x="0" y="757382"/>
                </a:lnTo>
                <a:lnTo>
                  <a:pt x="0" y="0"/>
                </a:lnTo>
                <a:close/>
              </a:path>
            </a:pathLst>
          </a:custGeom>
          <a:blipFill>
            <a:blip r:embed="rId3"/>
            <a:stretch>
              <a:fillRect l="0" t="0" r="0" b="0"/>
            </a:stretch>
          </a:blipFill>
        </p:spPr>
      </p:sp>
      <p:sp>
        <p:nvSpPr>
          <p:cNvPr name="Freeform 4" id="4"/>
          <p:cNvSpPr/>
          <p:nvPr/>
        </p:nvSpPr>
        <p:spPr>
          <a:xfrm>
            <a:off x="12847532" y="2942638"/>
            <a:ext cx="1069561" cy="419714"/>
          </a:xfrm>
          <a:custGeom>
            <a:avLst/>
            <a:gdLst/>
            <a:ahLst/>
            <a:cxnLst/>
            <a:rect r="r" b="b" t="t" l="l"/>
            <a:pathLst>
              <a:path h="419714" w="1069561">
                <a:moveTo>
                  <a:pt x="0" y="0"/>
                </a:moveTo>
                <a:quadBezTo>
                  <a:pt x="395968" y="620904"/>
                  <a:pt x="1069561" y="323273"/>
                </a:quadBezTo>
              </a:path>
            </a:pathLst>
          </a:custGeom>
          <a:ln cap="flat" w="28575">
            <a:solidFill>
              <a:srgbClr val="000000"/>
            </a:solidFill>
            <a:prstDash val="solid"/>
            <a:headEnd type="none" len="sm" w="sm"/>
            <a:tailEnd type="none" len="sm" w="sm"/>
          </a:ln>
        </p:spPr>
      </p:sp>
      <p:grpSp>
        <p:nvGrpSpPr>
          <p:cNvPr name="Group 5" id="5"/>
          <p:cNvGrpSpPr/>
          <p:nvPr/>
        </p:nvGrpSpPr>
        <p:grpSpPr>
          <a:xfrm rot="-3443471">
            <a:off x="12755141" y="2934328"/>
            <a:ext cx="324660" cy="283652"/>
            <a:chOff x="0" y="0"/>
            <a:chExt cx="432881" cy="378203"/>
          </a:xfrm>
        </p:grpSpPr>
        <p:sp>
          <p:nvSpPr>
            <p:cNvPr name="AutoShape 6" id="6"/>
            <p:cNvSpPr/>
            <p:nvPr/>
          </p:nvSpPr>
          <p:spPr>
            <a:xfrm flipV="true">
              <a:off x="8480" y="12417"/>
              <a:ext cx="319420" cy="218148"/>
            </a:xfrm>
            <a:prstGeom prst="line">
              <a:avLst/>
            </a:prstGeom>
            <a:ln cap="flat" w="30073">
              <a:solidFill>
                <a:srgbClr val="000000"/>
              </a:solidFill>
              <a:prstDash val="solid"/>
              <a:headEnd type="none" len="sm" w="sm"/>
              <a:tailEnd type="none" len="sm" w="sm"/>
            </a:ln>
          </p:spPr>
        </p:sp>
        <p:sp>
          <p:nvSpPr>
            <p:cNvPr name="AutoShape 7" id="7"/>
            <p:cNvSpPr/>
            <p:nvPr/>
          </p:nvSpPr>
          <p:spPr>
            <a:xfrm flipH="true" flipV="true">
              <a:off x="306196" y="21560"/>
              <a:ext cx="112360" cy="352072"/>
            </a:xfrm>
            <a:prstGeom prst="line">
              <a:avLst/>
            </a:prstGeom>
            <a:ln cap="flat" w="30073">
              <a:solidFill>
                <a:srgbClr val="000000"/>
              </a:solidFill>
              <a:prstDash val="solid"/>
              <a:headEnd type="none" len="sm" w="sm"/>
              <a:tailEnd type="none" len="sm" w="sm"/>
            </a:ln>
          </p:spPr>
        </p:sp>
      </p:grpSp>
      <p:sp>
        <p:nvSpPr>
          <p:cNvPr name="Freeform 8" id="8"/>
          <p:cNvSpPr/>
          <p:nvPr/>
        </p:nvSpPr>
        <p:spPr>
          <a:xfrm flipH="false" flipV="false" rot="0">
            <a:off x="1028700" y="3429569"/>
            <a:ext cx="9058526" cy="5661579"/>
          </a:xfrm>
          <a:custGeom>
            <a:avLst/>
            <a:gdLst/>
            <a:ahLst/>
            <a:cxnLst/>
            <a:rect r="r" b="b" t="t" l="l"/>
            <a:pathLst>
              <a:path h="5661579" w="9058526">
                <a:moveTo>
                  <a:pt x="0" y="0"/>
                </a:moveTo>
                <a:lnTo>
                  <a:pt x="9058526" y="0"/>
                </a:lnTo>
                <a:lnTo>
                  <a:pt x="9058526" y="5661578"/>
                </a:lnTo>
                <a:lnTo>
                  <a:pt x="0" y="5661578"/>
                </a:lnTo>
                <a:lnTo>
                  <a:pt x="0" y="0"/>
                </a:lnTo>
                <a:close/>
              </a:path>
            </a:pathLst>
          </a:custGeom>
          <a:blipFill>
            <a:blip r:embed="rId4"/>
            <a:stretch>
              <a:fillRect l="0" t="0" r="0" b="0"/>
            </a:stretch>
          </a:blipFill>
        </p:spPr>
      </p:sp>
      <p:sp>
        <p:nvSpPr>
          <p:cNvPr name="TextBox 9" id="9"/>
          <p:cNvSpPr txBox="true"/>
          <p:nvPr/>
        </p:nvSpPr>
        <p:spPr>
          <a:xfrm rot="0">
            <a:off x="10521898" y="5238643"/>
            <a:ext cx="7766102" cy="247205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On essaie </a:t>
            </a:r>
            <a:r>
              <a:rPr lang="en-US" sz="2799" b="true">
                <a:solidFill>
                  <a:srgbClr val="000000"/>
                </a:solidFill>
                <a:latin typeface="Open Sauce Bold"/>
                <a:ea typeface="Open Sauce Bold"/>
                <a:cs typeface="Open Sauce Bold"/>
                <a:sym typeface="Open Sauce Bold"/>
              </a:rPr>
              <a:t>CamembertaV2base </a:t>
            </a:r>
          </a:p>
          <a:p>
            <a:pPr algn="l">
              <a:lnSpc>
                <a:spcPts val="3919"/>
              </a:lnSpc>
            </a:pPr>
            <a:r>
              <a:rPr lang="en-US" sz="2799">
                <a:solidFill>
                  <a:srgbClr val="000000"/>
                </a:solidFill>
                <a:latin typeface="Open Sauce"/>
                <a:ea typeface="Open Sauce"/>
                <a:cs typeface="Open Sauce"/>
                <a:sym typeface="Open Sauce"/>
              </a:rPr>
              <a:t>et </a:t>
            </a:r>
            <a:r>
              <a:rPr lang="en-US" sz="2799" b="true">
                <a:solidFill>
                  <a:srgbClr val="000000"/>
                </a:solidFill>
                <a:latin typeface="Open Sauce Bold"/>
                <a:ea typeface="Open Sauce Bold"/>
                <a:cs typeface="Open Sauce Bold"/>
                <a:sym typeface="Open Sauce Bold"/>
              </a:rPr>
              <a:t>ModernCamemBERTbase</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Francophones</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Fenêtre de contexte de +1024 tokens</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Données d’entraînement conviennent</a:t>
            </a:r>
          </a:p>
        </p:txBody>
      </p:sp>
      <p:sp>
        <p:nvSpPr>
          <p:cNvPr name="TextBox 10" id="10"/>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4 : entraîner des modèles</a:t>
            </a:r>
          </a:p>
        </p:txBody>
      </p:sp>
      <p:sp>
        <p:nvSpPr>
          <p:cNvPr name="TextBox 11" id="11"/>
          <p:cNvSpPr txBox="true"/>
          <p:nvPr/>
        </p:nvSpPr>
        <p:spPr>
          <a:xfrm rot="0">
            <a:off x="1028700" y="2234617"/>
            <a:ext cx="15539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Choisir un ou des modèles dont les caractéristiques correspondent à nos données.</a:t>
            </a:r>
          </a:p>
        </p:txBody>
      </p:sp>
      <p:sp>
        <p:nvSpPr>
          <p:cNvPr name="TextBox 12" id="12"/>
          <p:cNvSpPr txBox="true"/>
          <p:nvPr/>
        </p:nvSpPr>
        <p:spPr>
          <a:xfrm rot="0">
            <a:off x="14163586" y="2989011"/>
            <a:ext cx="2768453" cy="349250"/>
          </a:xfrm>
          <a:prstGeom prst="rect">
            <a:avLst/>
          </a:prstGeom>
        </p:spPr>
        <p:txBody>
          <a:bodyPr anchor="t" rtlCol="false" tIns="0" lIns="0" bIns="0" rIns="0">
            <a:spAutoFit/>
          </a:bodyPr>
          <a:lstStyle/>
          <a:p>
            <a:pPr algn="l">
              <a:lnSpc>
                <a:spcPts val="2800"/>
              </a:lnSpc>
            </a:pPr>
            <a:r>
              <a:rPr lang="en-US" sz="2000">
                <a:solidFill>
                  <a:srgbClr val="000000"/>
                </a:solidFill>
                <a:latin typeface="Open Sauce"/>
                <a:ea typeface="Open Sauce"/>
                <a:cs typeface="Open Sauce"/>
                <a:sym typeface="Open Sauce"/>
              </a:rPr>
              <a:t>cf. documentation sur</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6514480" y="2344285"/>
            <a:ext cx="10690564" cy="6681602"/>
          </a:xfrm>
          <a:custGeom>
            <a:avLst/>
            <a:gdLst/>
            <a:ahLst/>
            <a:cxnLst/>
            <a:rect r="r" b="b" t="t" l="l"/>
            <a:pathLst>
              <a:path h="6681602" w="10690564">
                <a:moveTo>
                  <a:pt x="0" y="0"/>
                </a:moveTo>
                <a:lnTo>
                  <a:pt x="10690564" y="0"/>
                </a:lnTo>
                <a:lnTo>
                  <a:pt x="10690564" y="6681602"/>
                </a:lnTo>
                <a:lnTo>
                  <a:pt x="0" y="6681602"/>
                </a:lnTo>
                <a:lnTo>
                  <a:pt x="0" y="0"/>
                </a:lnTo>
                <a:close/>
              </a:path>
            </a:pathLst>
          </a:custGeom>
          <a:blipFill>
            <a:blip r:embed="rId3"/>
            <a:stretch>
              <a:fillRect l="0" t="0" r="0" b="0"/>
            </a:stretch>
          </a:blipFill>
        </p:spPr>
      </p:sp>
      <p:sp>
        <p:nvSpPr>
          <p:cNvPr name="TextBox 4" id="4"/>
          <p:cNvSpPr txBox="true"/>
          <p:nvPr/>
        </p:nvSpPr>
        <p:spPr>
          <a:xfrm rot="0">
            <a:off x="1150821" y="2644429"/>
            <a:ext cx="4948809" cy="1976755"/>
          </a:xfrm>
          <a:prstGeom prst="rect">
            <a:avLst/>
          </a:prstGeom>
        </p:spPr>
        <p:txBody>
          <a:bodyPr anchor="t" rtlCol="false" tIns="0" lIns="0" bIns="0" rIns="0">
            <a:spAutoFit/>
          </a:bodyPr>
          <a:lstStyle/>
          <a:p>
            <a:pPr algn="l">
              <a:lnSpc>
                <a:spcPts val="3919"/>
              </a:lnSpc>
            </a:pPr>
            <a:r>
              <a:rPr lang="en-US" sz="2799">
                <a:solidFill>
                  <a:srgbClr val="000000"/>
                </a:solidFill>
                <a:latin typeface="Open Sauce"/>
                <a:ea typeface="Open Sauce"/>
                <a:cs typeface="Open Sauce"/>
                <a:sym typeface="Open Sauce"/>
              </a:rPr>
              <a:t>Augmenter </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Batch Size*</a:t>
            </a:r>
          </a:p>
          <a:p>
            <a:pPr algn="l" marL="604519" indent="-302260" lvl="1">
              <a:lnSpc>
                <a:spcPts val="3919"/>
              </a:lnSpc>
              <a:buFont typeface="Arial"/>
              <a:buChar char="•"/>
            </a:pPr>
            <a:r>
              <a:rPr lang="en-US" sz="2799">
                <a:solidFill>
                  <a:srgbClr val="000000"/>
                </a:solidFill>
                <a:latin typeface="Open Sauce"/>
                <a:ea typeface="Open Sauce"/>
                <a:cs typeface="Open Sauce"/>
                <a:sym typeface="Open Sauce"/>
              </a:rPr>
              <a:t>Gradient Accumulation**</a:t>
            </a:r>
          </a:p>
          <a:p>
            <a:pPr algn="l">
              <a:lnSpc>
                <a:spcPts val="3919"/>
              </a:lnSpc>
            </a:pPr>
            <a:r>
              <a:rPr lang="en-US" sz="2799">
                <a:solidFill>
                  <a:srgbClr val="000000"/>
                </a:solidFill>
                <a:latin typeface="Open Sauce"/>
                <a:ea typeface="Open Sauce"/>
                <a:cs typeface="Open Sauce"/>
                <a:sym typeface="Open Sauce"/>
              </a:rPr>
              <a:t>car 1024 tokens par texte.</a:t>
            </a:r>
          </a:p>
        </p:txBody>
      </p:sp>
      <p:sp>
        <p:nvSpPr>
          <p:cNvPr name="TextBox 5" id="5"/>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4 : entraîner des modèles</a:t>
            </a:r>
          </a:p>
        </p:txBody>
      </p:sp>
      <p:sp>
        <p:nvSpPr>
          <p:cNvPr name="TextBox 6" id="6"/>
          <p:cNvSpPr txBox="true"/>
          <p:nvPr/>
        </p:nvSpPr>
        <p:spPr>
          <a:xfrm rot="0">
            <a:off x="1028700" y="7266937"/>
            <a:ext cx="5206745" cy="1758950"/>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Open Sauce"/>
                <a:ea typeface="Open Sauce"/>
                <a:cs typeface="Open Sauce"/>
                <a:sym typeface="Open Sauce"/>
              </a:rPr>
              <a:t>*</a:t>
            </a:r>
            <a:r>
              <a:rPr lang="en-US" sz="2000">
                <a:solidFill>
                  <a:srgbClr val="000000"/>
                </a:solidFill>
                <a:latin typeface="Open Sauce"/>
                <a:ea typeface="Open Sauce"/>
                <a:cs typeface="Open Sauce"/>
                <a:sym typeface="Open Sauce"/>
              </a:rPr>
              <a:t>Batch Size = nombre d’exemples que le modèle traite à la fois (en mémoire).</a:t>
            </a:r>
          </a:p>
          <a:p>
            <a:pPr algn="l">
              <a:lnSpc>
                <a:spcPts val="2800"/>
              </a:lnSpc>
              <a:spcBef>
                <a:spcPct val="0"/>
              </a:spcBef>
            </a:pPr>
          </a:p>
          <a:p>
            <a:pPr algn="l">
              <a:lnSpc>
                <a:spcPts val="2800"/>
              </a:lnSpc>
              <a:spcBef>
                <a:spcPct val="0"/>
              </a:spcBef>
            </a:pPr>
            <a:r>
              <a:rPr lang="en-US" sz="2000">
                <a:solidFill>
                  <a:srgbClr val="000000"/>
                </a:solidFill>
                <a:latin typeface="Open Sauce"/>
                <a:ea typeface="Open Sauce"/>
                <a:cs typeface="Open Sauce"/>
                <a:sym typeface="Open Sauce"/>
              </a:rPr>
              <a:t>**Gradient Accumulation = nombre de batch additionnés pour modifier les poids.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3"/>
            <a:stretch>
              <a:fillRect l="0" t="0" r="0" b="0"/>
            </a:stretch>
          </a:blipFill>
        </p:spPr>
      </p:sp>
      <p:sp>
        <p:nvSpPr>
          <p:cNvPr name="Freeform 3" id="3"/>
          <p:cNvSpPr/>
          <p:nvPr/>
        </p:nvSpPr>
        <p:spPr>
          <a:xfrm flipH="false" flipV="false" rot="0">
            <a:off x="8507738" y="5787157"/>
            <a:ext cx="7172141" cy="3662275"/>
          </a:xfrm>
          <a:custGeom>
            <a:avLst/>
            <a:gdLst/>
            <a:ahLst/>
            <a:cxnLst/>
            <a:rect r="r" b="b" t="t" l="l"/>
            <a:pathLst>
              <a:path h="3662275" w="7172141">
                <a:moveTo>
                  <a:pt x="0" y="0"/>
                </a:moveTo>
                <a:lnTo>
                  <a:pt x="7172141" y="0"/>
                </a:lnTo>
                <a:lnTo>
                  <a:pt x="7172141" y="3662274"/>
                </a:lnTo>
                <a:lnTo>
                  <a:pt x="0" y="3662274"/>
                </a:lnTo>
                <a:lnTo>
                  <a:pt x="0" y="0"/>
                </a:lnTo>
                <a:close/>
              </a:path>
            </a:pathLst>
          </a:custGeom>
          <a:blipFill>
            <a:blip r:embed="rId4"/>
            <a:stretch>
              <a:fillRect l="0" t="0" r="0" b="0"/>
            </a:stretch>
          </a:blipFill>
        </p:spPr>
      </p:sp>
      <p:sp>
        <p:nvSpPr>
          <p:cNvPr name="Freeform 4" id="4"/>
          <p:cNvSpPr/>
          <p:nvPr/>
        </p:nvSpPr>
        <p:spPr>
          <a:xfrm flipH="false" flipV="false" rot="0">
            <a:off x="4430102" y="2261533"/>
            <a:ext cx="10911842" cy="3580448"/>
          </a:xfrm>
          <a:custGeom>
            <a:avLst/>
            <a:gdLst/>
            <a:ahLst/>
            <a:cxnLst/>
            <a:rect r="r" b="b" t="t" l="l"/>
            <a:pathLst>
              <a:path h="3580448" w="10911842">
                <a:moveTo>
                  <a:pt x="0" y="0"/>
                </a:moveTo>
                <a:lnTo>
                  <a:pt x="10911842" y="0"/>
                </a:lnTo>
                <a:lnTo>
                  <a:pt x="10911842" y="3580449"/>
                </a:lnTo>
                <a:lnTo>
                  <a:pt x="0" y="3580449"/>
                </a:lnTo>
                <a:lnTo>
                  <a:pt x="0" y="0"/>
                </a:lnTo>
                <a:close/>
              </a:path>
            </a:pathLst>
          </a:custGeom>
          <a:blipFill>
            <a:blip r:embed="rId5"/>
            <a:stretch>
              <a:fillRect l="0" t="0" r="0" b="0"/>
            </a:stretch>
          </a:blipFill>
        </p:spPr>
      </p:sp>
      <p:sp>
        <p:nvSpPr>
          <p:cNvPr name="TextBox 5" id="5"/>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4 : entraîner des modèles</a:t>
            </a:r>
          </a:p>
        </p:txBody>
      </p:sp>
      <p:sp>
        <p:nvSpPr>
          <p:cNvPr name="TextBox 6" id="6"/>
          <p:cNvSpPr txBox="true"/>
          <p:nvPr/>
        </p:nvSpPr>
        <p:spPr>
          <a:xfrm rot="0">
            <a:off x="1278257" y="6811635"/>
            <a:ext cx="6406996" cy="9315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Open Sauce"/>
                <a:ea typeface="Open Sauce"/>
                <a:cs typeface="Open Sauce"/>
                <a:sym typeface="Open Sauce"/>
              </a:rPr>
              <a:t>Bons choix, mais il semblerait que le modèle pourrait encore apprendre.</a:t>
            </a:r>
          </a:p>
        </p:txBody>
      </p:sp>
      <p:sp>
        <p:nvSpPr>
          <p:cNvPr name="TextBox 7" id="7"/>
          <p:cNvSpPr txBox="true"/>
          <p:nvPr/>
        </p:nvSpPr>
        <p:spPr>
          <a:xfrm rot="0">
            <a:off x="1278257" y="8315994"/>
            <a:ext cx="6406996" cy="455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Open Sauce"/>
                <a:ea typeface="Open Sauce"/>
                <a:cs typeface="Open Sauce"/>
                <a:sym typeface="Open Sauce"/>
              </a:rPr>
              <a:t>=&gt; Augmenter le nombre d’époques.</a:t>
            </a:r>
          </a:p>
        </p:txBody>
      </p:sp>
      <p:sp>
        <p:nvSpPr>
          <p:cNvPr name="TextBox 8" id="8"/>
          <p:cNvSpPr txBox="true"/>
          <p:nvPr/>
        </p:nvSpPr>
        <p:spPr>
          <a:xfrm rot="0">
            <a:off x="1392439" y="2350303"/>
            <a:ext cx="1303480" cy="349250"/>
          </a:xfrm>
          <a:prstGeom prst="rect">
            <a:avLst/>
          </a:prstGeom>
        </p:spPr>
        <p:txBody>
          <a:bodyPr anchor="t" rtlCol="false" tIns="0" lIns="0" bIns="0" rIns="0">
            <a:spAutoFit/>
          </a:bodyPr>
          <a:lstStyle/>
          <a:p>
            <a:pPr algn="just">
              <a:lnSpc>
                <a:spcPts val="2800"/>
              </a:lnSpc>
              <a:spcBef>
                <a:spcPct val="0"/>
              </a:spcBef>
            </a:pPr>
            <a:r>
              <a:rPr lang="en-US" b="true" sz="2000" i="true">
                <a:solidFill>
                  <a:srgbClr val="FFFFFF"/>
                </a:solidFill>
                <a:latin typeface="Open Sauce Bold Italics"/>
                <a:ea typeface="Open Sauce Bold Italics"/>
                <a:cs typeface="Open Sauce Bold Italics"/>
                <a:sym typeface="Open Sauce Bold Italics"/>
              </a:rPr>
              <a:t>Modèle A</a:t>
            </a:r>
          </a:p>
        </p:txBody>
      </p:sp>
      <p:sp>
        <p:nvSpPr>
          <p:cNvPr name="TextBox 9" id="9"/>
          <p:cNvSpPr txBox="true"/>
          <p:nvPr/>
        </p:nvSpPr>
        <p:spPr>
          <a:xfrm rot="0">
            <a:off x="1278257" y="4994474"/>
            <a:ext cx="2620346" cy="1054100"/>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Vérifier que l’erreur ne provient pas d’une erreur d’annotation</a:t>
            </a:r>
          </a:p>
        </p:txBody>
      </p:sp>
      <p:sp>
        <p:nvSpPr>
          <p:cNvPr name="AutoShape 10" id="10"/>
          <p:cNvSpPr/>
          <p:nvPr/>
        </p:nvSpPr>
        <p:spPr>
          <a:xfrm flipV="true">
            <a:off x="3898603" y="5237162"/>
            <a:ext cx="417138" cy="2659"/>
          </a:xfrm>
          <a:prstGeom prst="line">
            <a:avLst/>
          </a:prstGeom>
          <a:ln cap="flat" w="19050">
            <a:solidFill>
              <a:srgbClr val="000000"/>
            </a:solidFill>
            <a:prstDash val="solid"/>
            <a:headEnd type="none" len="sm" w="sm"/>
            <a:tailEnd type="triangle" len="med" w="lg"/>
          </a:ln>
        </p:spPr>
      </p:sp>
      <p:sp>
        <p:nvSpPr>
          <p:cNvPr name="TextBox 11" id="11"/>
          <p:cNvSpPr txBox="true"/>
          <p:nvPr/>
        </p:nvSpPr>
        <p:spPr>
          <a:xfrm rot="0">
            <a:off x="1335407" y="2793741"/>
            <a:ext cx="2980334" cy="1369060"/>
          </a:xfrm>
          <a:prstGeom prst="rect">
            <a:avLst/>
          </a:prstGeom>
        </p:spPr>
        <p:txBody>
          <a:bodyPr anchor="t" rtlCol="false" tIns="0" lIns="0" bIns="0" rIns="0">
            <a:spAutoFit/>
          </a:bodyPr>
          <a:lstStyle/>
          <a:p>
            <a:pPr algn="l">
              <a:lnSpc>
                <a:spcPts val="2240"/>
              </a:lnSpc>
            </a:pPr>
            <a:r>
              <a:rPr lang="en-US" sz="1600">
                <a:solidFill>
                  <a:srgbClr val="000000"/>
                </a:solidFill>
                <a:latin typeface="Open Sans"/>
                <a:ea typeface="Open Sans"/>
                <a:cs typeface="Open Sans"/>
                <a:sym typeface="Open Sans"/>
              </a:rPr>
              <a:t>CamembertaV2base</a:t>
            </a:r>
          </a:p>
          <a:p>
            <a:pPr algn="l">
              <a:lnSpc>
                <a:spcPts val="2240"/>
              </a:lnSpc>
            </a:pPr>
            <a:r>
              <a:rPr lang="en-US" sz="1600">
                <a:solidFill>
                  <a:srgbClr val="000000"/>
                </a:solidFill>
                <a:latin typeface="Open Sans"/>
                <a:ea typeface="Open Sans"/>
                <a:cs typeface="Open Sans"/>
                <a:sym typeface="Open Sans"/>
              </a:rPr>
              <a:t>1024 tokens</a:t>
            </a:r>
          </a:p>
          <a:p>
            <a:pPr algn="l">
              <a:lnSpc>
                <a:spcPts val="2240"/>
              </a:lnSpc>
            </a:pPr>
            <a:r>
              <a:rPr lang="en-US" sz="1600">
                <a:solidFill>
                  <a:srgbClr val="000000"/>
                </a:solidFill>
                <a:latin typeface="Open Sans"/>
                <a:ea typeface="Open Sans"/>
                <a:cs typeface="Open Sans"/>
                <a:sym typeface="Open Sans"/>
              </a:rPr>
              <a:t>8 batch size</a:t>
            </a:r>
          </a:p>
          <a:p>
            <a:pPr algn="l">
              <a:lnSpc>
                <a:spcPts val="2240"/>
              </a:lnSpc>
            </a:pPr>
            <a:r>
              <a:rPr lang="en-US" sz="1600">
                <a:solidFill>
                  <a:srgbClr val="000000"/>
                </a:solidFill>
                <a:latin typeface="Open Sans"/>
                <a:ea typeface="Open Sans"/>
                <a:cs typeface="Open Sans"/>
                <a:sym typeface="Open Sans"/>
              </a:rPr>
              <a:t>2 gradient acc</a:t>
            </a:r>
          </a:p>
          <a:p>
            <a:pPr algn="l">
              <a:lnSpc>
                <a:spcPts val="2240"/>
              </a:lnSpc>
            </a:pPr>
            <a:r>
              <a:rPr lang="en-US" sz="1600">
                <a:solidFill>
                  <a:srgbClr val="000000"/>
                </a:solidFill>
                <a:latin typeface="Open Sans"/>
                <a:ea typeface="Open Sans"/>
                <a:cs typeface="Open Sans"/>
                <a:sym typeface="Open Sans"/>
              </a:rPr>
              <a:t>4 époques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4430102" y="2242483"/>
            <a:ext cx="10911842" cy="3580448"/>
          </a:xfrm>
          <a:custGeom>
            <a:avLst/>
            <a:gdLst/>
            <a:ahLst/>
            <a:cxnLst/>
            <a:rect r="r" b="b" t="t" l="l"/>
            <a:pathLst>
              <a:path h="3580448" w="10911842">
                <a:moveTo>
                  <a:pt x="0" y="0"/>
                </a:moveTo>
                <a:lnTo>
                  <a:pt x="10911842" y="0"/>
                </a:lnTo>
                <a:lnTo>
                  <a:pt x="10911842" y="3580449"/>
                </a:lnTo>
                <a:lnTo>
                  <a:pt x="0" y="3580449"/>
                </a:lnTo>
                <a:lnTo>
                  <a:pt x="0" y="0"/>
                </a:lnTo>
                <a:close/>
              </a:path>
            </a:pathLst>
          </a:custGeom>
          <a:blipFill>
            <a:blip r:embed="rId3"/>
            <a:stretch>
              <a:fillRect l="0" t="0" r="0" b="0"/>
            </a:stretch>
          </a:blipFill>
        </p:spPr>
      </p:sp>
      <p:sp>
        <p:nvSpPr>
          <p:cNvPr name="Freeform 4" id="4"/>
          <p:cNvSpPr/>
          <p:nvPr/>
        </p:nvSpPr>
        <p:spPr>
          <a:xfrm flipH="false" flipV="false" rot="0">
            <a:off x="8565595" y="5545337"/>
            <a:ext cx="8234151" cy="4204563"/>
          </a:xfrm>
          <a:custGeom>
            <a:avLst/>
            <a:gdLst/>
            <a:ahLst/>
            <a:cxnLst/>
            <a:rect r="r" b="b" t="t" l="l"/>
            <a:pathLst>
              <a:path h="4204563" w="8234151">
                <a:moveTo>
                  <a:pt x="0" y="0"/>
                </a:moveTo>
                <a:lnTo>
                  <a:pt x="8234151" y="0"/>
                </a:lnTo>
                <a:lnTo>
                  <a:pt x="8234151" y="4204563"/>
                </a:lnTo>
                <a:lnTo>
                  <a:pt x="0" y="4204563"/>
                </a:lnTo>
                <a:lnTo>
                  <a:pt x="0" y="0"/>
                </a:lnTo>
                <a:close/>
              </a:path>
            </a:pathLst>
          </a:custGeom>
          <a:blipFill>
            <a:blip r:embed="rId4"/>
            <a:stretch>
              <a:fillRect l="0" t="0" r="0" b="0"/>
            </a:stretch>
          </a:blipFill>
        </p:spPr>
      </p:sp>
      <p:sp>
        <p:nvSpPr>
          <p:cNvPr name="TextBox 5" id="5"/>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4 : entraîner des modèles</a:t>
            </a:r>
          </a:p>
        </p:txBody>
      </p:sp>
      <p:sp>
        <p:nvSpPr>
          <p:cNvPr name="TextBox 6" id="6"/>
          <p:cNvSpPr txBox="true"/>
          <p:nvPr/>
        </p:nvSpPr>
        <p:spPr>
          <a:xfrm rot="0">
            <a:off x="1392439" y="2350303"/>
            <a:ext cx="1303480" cy="349250"/>
          </a:xfrm>
          <a:prstGeom prst="rect">
            <a:avLst/>
          </a:prstGeom>
        </p:spPr>
        <p:txBody>
          <a:bodyPr anchor="t" rtlCol="false" tIns="0" lIns="0" bIns="0" rIns="0">
            <a:spAutoFit/>
          </a:bodyPr>
          <a:lstStyle/>
          <a:p>
            <a:pPr algn="just">
              <a:lnSpc>
                <a:spcPts val="2800"/>
              </a:lnSpc>
              <a:spcBef>
                <a:spcPct val="0"/>
              </a:spcBef>
            </a:pPr>
            <a:r>
              <a:rPr lang="en-US" b="true" sz="2000" i="true">
                <a:solidFill>
                  <a:srgbClr val="FFFFFF"/>
                </a:solidFill>
                <a:latin typeface="Open Sauce Bold Italics"/>
                <a:ea typeface="Open Sauce Bold Italics"/>
                <a:cs typeface="Open Sauce Bold Italics"/>
                <a:sym typeface="Open Sauce Bold Italics"/>
              </a:rPr>
              <a:t>Modèle B</a:t>
            </a:r>
          </a:p>
        </p:txBody>
      </p:sp>
      <p:sp>
        <p:nvSpPr>
          <p:cNvPr name="TextBox 7" id="7"/>
          <p:cNvSpPr txBox="true"/>
          <p:nvPr/>
        </p:nvSpPr>
        <p:spPr>
          <a:xfrm rot="0">
            <a:off x="1335407" y="2793741"/>
            <a:ext cx="3094695" cy="1369060"/>
          </a:xfrm>
          <a:prstGeom prst="rect">
            <a:avLst/>
          </a:prstGeom>
        </p:spPr>
        <p:txBody>
          <a:bodyPr anchor="t" rtlCol="false" tIns="0" lIns="0" bIns="0" rIns="0">
            <a:spAutoFit/>
          </a:bodyPr>
          <a:lstStyle/>
          <a:p>
            <a:pPr algn="l">
              <a:lnSpc>
                <a:spcPts val="2240"/>
              </a:lnSpc>
            </a:pPr>
            <a:r>
              <a:rPr lang="en-US" sz="1600">
                <a:solidFill>
                  <a:srgbClr val="000000"/>
                </a:solidFill>
                <a:latin typeface="Open Sans"/>
                <a:ea typeface="Open Sans"/>
                <a:cs typeface="Open Sans"/>
                <a:sym typeface="Open Sans"/>
              </a:rPr>
              <a:t>CamembertaV2base</a:t>
            </a:r>
          </a:p>
          <a:p>
            <a:pPr algn="l">
              <a:lnSpc>
                <a:spcPts val="2240"/>
              </a:lnSpc>
            </a:pPr>
            <a:r>
              <a:rPr lang="en-US" sz="1600">
                <a:solidFill>
                  <a:srgbClr val="000000"/>
                </a:solidFill>
                <a:latin typeface="Open Sans"/>
                <a:ea typeface="Open Sans"/>
                <a:cs typeface="Open Sans"/>
                <a:sym typeface="Open Sans"/>
              </a:rPr>
              <a:t>1024 tokens</a:t>
            </a:r>
          </a:p>
          <a:p>
            <a:pPr algn="l">
              <a:lnSpc>
                <a:spcPts val="2240"/>
              </a:lnSpc>
            </a:pPr>
            <a:r>
              <a:rPr lang="en-US" sz="1600">
                <a:solidFill>
                  <a:srgbClr val="000000"/>
                </a:solidFill>
                <a:latin typeface="Open Sans"/>
                <a:ea typeface="Open Sans"/>
                <a:cs typeface="Open Sans"/>
                <a:sym typeface="Open Sans"/>
              </a:rPr>
              <a:t>8 batch size</a:t>
            </a:r>
          </a:p>
          <a:p>
            <a:pPr algn="l">
              <a:lnSpc>
                <a:spcPts val="2240"/>
              </a:lnSpc>
            </a:pPr>
            <a:r>
              <a:rPr lang="en-US" sz="1600">
                <a:solidFill>
                  <a:srgbClr val="000000"/>
                </a:solidFill>
                <a:latin typeface="Open Sans"/>
                <a:ea typeface="Open Sans"/>
                <a:cs typeface="Open Sans"/>
                <a:sym typeface="Open Sans"/>
              </a:rPr>
              <a:t>2 gradient acc</a:t>
            </a:r>
          </a:p>
          <a:p>
            <a:pPr algn="l">
              <a:lnSpc>
                <a:spcPts val="2240"/>
              </a:lnSpc>
            </a:pPr>
            <a:r>
              <a:rPr lang="en-US" sz="1600">
                <a:solidFill>
                  <a:srgbClr val="000000"/>
                </a:solidFill>
                <a:latin typeface="Open Sans"/>
                <a:ea typeface="Open Sans"/>
                <a:cs typeface="Open Sans"/>
                <a:sym typeface="Open Sans"/>
              </a:rPr>
              <a:t>6 époques</a:t>
            </a:r>
          </a:p>
        </p:txBody>
      </p:sp>
      <p:sp>
        <p:nvSpPr>
          <p:cNvPr name="TextBox 8" id="8"/>
          <p:cNvSpPr txBox="true"/>
          <p:nvPr/>
        </p:nvSpPr>
        <p:spPr>
          <a:xfrm rot="0">
            <a:off x="1392439" y="7039339"/>
            <a:ext cx="6406996" cy="455295"/>
          </a:xfrm>
          <a:prstGeom prst="rect">
            <a:avLst/>
          </a:prstGeom>
        </p:spPr>
        <p:txBody>
          <a:bodyPr anchor="t" rtlCol="false" tIns="0" lIns="0" bIns="0" rIns="0">
            <a:spAutoFit/>
          </a:bodyPr>
          <a:lstStyle/>
          <a:p>
            <a:pPr algn="just">
              <a:lnSpc>
                <a:spcPts val="3780"/>
              </a:lnSpc>
              <a:spcBef>
                <a:spcPct val="0"/>
              </a:spcBef>
            </a:pPr>
            <a:r>
              <a:rPr lang="en-US" sz="2700">
                <a:solidFill>
                  <a:srgbClr val="000000"/>
                </a:solidFill>
                <a:latin typeface="Open Sauce"/>
                <a:ea typeface="Open Sauce"/>
                <a:cs typeface="Open Sauce"/>
                <a:sym typeface="Open Sauce"/>
              </a:rPr>
              <a:t>Il a effectivement davantage appris.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12417825" y="6211555"/>
            <a:ext cx="4842124" cy="2517904"/>
          </a:xfrm>
          <a:custGeom>
            <a:avLst/>
            <a:gdLst/>
            <a:ahLst/>
            <a:cxnLst/>
            <a:rect r="r" b="b" t="t" l="l"/>
            <a:pathLst>
              <a:path h="2517904" w="4842124">
                <a:moveTo>
                  <a:pt x="0" y="0"/>
                </a:moveTo>
                <a:lnTo>
                  <a:pt x="4842124" y="0"/>
                </a:lnTo>
                <a:lnTo>
                  <a:pt x="4842124" y="2517905"/>
                </a:lnTo>
                <a:lnTo>
                  <a:pt x="0" y="2517905"/>
                </a:lnTo>
                <a:lnTo>
                  <a:pt x="0" y="0"/>
                </a:lnTo>
                <a:close/>
              </a:path>
            </a:pathLst>
          </a:custGeom>
          <a:blipFill>
            <a:blip r:embed="rId3"/>
            <a:stretch>
              <a:fillRect l="0" t="0" r="0" b="0"/>
            </a:stretch>
          </a:blipFill>
        </p:spPr>
      </p:sp>
      <p:sp>
        <p:nvSpPr>
          <p:cNvPr name="Freeform 4" id="4"/>
          <p:cNvSpPr/>
          <p:nvPr/>
        </p:nvSpPr>
        <p:spPr>
          <a:xfrm flipH="false" flipV="false" rot="0">
            <a:off x="6488266" y="6150620"/>
            <a:ext cx="4959308" cy="2578840"/>
          </a:xfrm>
          <a:custGeom>
            <a:avLst/>
            <a:gdLst/>
            <a:ahLst/>
            <a:cxnLst/>
            <a:rect r="r" b="b" t="t" l="l"/>
            <a:pathLst>
              <a:path h="2578840" w="4959308">
                <a:moveTo>
                  <a:pt x="0" y="0"/>
                </a:moveTo>
                <a:lnTo>
                  <a:pt x="4959307" y="0"/>
                </a:lnTo>
                <a:lnTo>
                  <a:pt x="4959307" y="2578840"/>
                </a:lnTo>
                <a:lnTo>
                  <a:pt x="0" y="2578840"/>
                </a:lnTo>
                <a:lnTo>
                  <a:pt x="0" y="0"/>
                </a:lnTo>
                <a:close/>
              </a:path>
            </a:pathLst>
          </a:custGeom>
          <a:blipFill>
            <a:blip r:embed="rId4"/>
            <a:stretch>
              <a:fillRect l="0" t="0" r="0" b="0"/>
            </a:stretch>
          </a:blipFill>
        </p:spPr>
      </p:sp>
      <p:sp>
        <p:nvSpPr>
          <p:cNvPr name="Freeform 5" id="5"/>
          <p:cNvSpPr/>
          <p:nvPr/>
        </p:nvSpPr>
        <p:spPr>
          <a:xfrm flipH="false" flipV="false" rot="0">
            <a:off x="674592" y="6150620"/>
            <a:ext cx="4842124" cy="2517904"/>
          </a:xfrm>
          <a:custGeom>
            <a:avLst/>
            <a:gdLst/>
            <a:ahLst/>
            <a:cxnLst/>
            <a:rect r="r" b="b" t="t" l="l"/>
            <a:pathLst>
              <a:path h="2517904" w="4842124">
                <a:moveTo>
                  <a:pt x="0" y="0"/>
                </a:moveTo>
                <a:lnTo>
                  <a:pt x="4842124" y="0"/>
                </a:lnTo>
                <a:lnTo>
                  <a:pt x="4842124" y="2517904"/>
                </a:lnTo>
                <a:lnTo>
                  <a:pt x="0" y="2517904"/>
                </a:lnTo>
                <a:lnTo>
                  <a:pt x="0" y="0"/>
                </a:lnTo>
                <a:close/>
              </a:path>
            </a:pathLst>
          </a:custGeom>
          <a:blipFill>
            <a:blip r:embed="rId5"/>
            <a:stretch>
              <a:fillRect l="0" t="0" r="0" b="0"/>
            </a:stretch>
          </a:blipFill>
        </p:spPr>
      </p:sp>
      <p:sp>
        <p:nvSpPr>
          <p:cNvPr name="TextBox 6" id="6"/>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4 : entraîner des modèles</a:t>
            </a:r>
          </a:p>
        </p:txBody>
      </p:sp>
      <p:sp>
        <p:nvSpPr>
          <p:cNvPr name="TextBox 7" id="7"/>
          <p:cNvSpPr txBox="true"/>
          <p:nvPr/>
        </p:nvSpPr>
        <p:spPr>
          <a:xfrm rot="0">
            <a:off x="1392439" y="2331616"/>
            <a:ext cx="7169690" cy="455295"/>
          </a:xfrm>
          <a:prstGeom prst="rect">
            <a:avLst/>
          </a:prstGeom>
        </p:spPr>
        <p:txBody>
          <a:bodyPr anchor="t" rtlCol="false" tIns="0" lIns="0" bIns="0" rIns="0">
            <a:spAutoFit/>
          </a:bodyPr>
          <a:lstStyle/>
          <a:p>
            <a:pPr algn="just">
              <a:lnSpc>
                <a:spcPts val="3780"/>
              </a:lnSpc>
              <a:spcBef>
                <a:spcPct val="0"/>
              </a:spcBef>
            </a:pPr>
            <a:r>
              <a:rPr lang="en-US" sz="2700">
                <a:solidFill>
                  <a:srgbClr val="000000"/>
                </a:solidFill>
                <a:latin typeface="Open Sauce"/>
                <a:ea typeface="Open Sauce"/>
                <a:cs typeface="Open Sauce"/>
                <a:sym typeface="Open Sauce"/>
              </a:rPr>
              <a:t>On peut essayer quelques autres modèles.</a:t>
            </a:r>
          </a:p>
        </p:txBody>
      </p:sp>
      <p:sp>
        <p:nvSpPr>
          <p:cNvPr name="TextBox 8" id="8"/>
          <p:cNvSpPr txBox="true"/>
          <p:nvPr/>
        </p:nvSpPr>
        <p:spPr>
          <a:xfrm rot="0">
            <a:off x="2313866" y="3666037"/>
            <a:ext cx="1303480" cy="349250"/>
          </a:xfrm>
          <a:prstGeom prst="rect">
            <a:avLst/>
          </a:prstGeom>
        </p:spPr>
        <p:txBody>
          <a:bodyPr anchor="t" rtlCol="false" tIns="0" lIns="0" bIns="0" rIns="0">
            <a:spAutoFit/>
          </a:bodyPr>
          <a:lstStyle/>
          <a:p>
            <a:pPr algn="just">
              <a:lnSpc>
                <a:spcPts val="2800"/>
              </a:lnSpc>
              <a:spcBef>
                <a:spcPct val="0"/>
              </a:spcBef>
            </a:pPr>
            <a:r>
              <a:rPr lang="en-US" b="true" sz="2000" i="true">
                <a:solidFill>
                  <a:srgbClr val="FFFFFF"/>
                </a:solidFill>
                <a:latin typeface="Open Sauce Bold Italics"/>
                <a:ea typeface="Open Sauce Bold Italics"/>
                <a:cs typeface="Open Sauce Bold Italics"/>
                <a:sym typeface="Open Sauce Bold Italics"/>
              </a:rPr>
              <a:t>Modèle C</a:t>
            </a:r>
          </a:p>
        </p:txBody>
      </p:sp>
      <p:sp>
        <p:nvSpPr>
          <p:cNvPr name="TextBox 9" id="9"/>
          <p:cNvSpPr txBox="true"/>
          <p:nvPr/>
        </p:nvSpPr>
        <p:spPr>
          <a:xfrm rot="0">
            <a:off x="2256835" y="4109475"/>
            <a:ext cx="3256369" cy="1369060"/>
          </a:xfrm>
          <a:prstGeom prst="rect">
            <a:avLst/>
          </a:prstGeom>
        </p:spPr>
        <p:txBody>
          <a:bodyPr anchor="t" rtlCol="false" tIns="0" lIns="0" bIns="0" rIns="0">
            <a:spAutoFit/>
          </a:bodyPr>
          <a:lstStyle/>
          <a:p>
            <a:pPr algn="l">
              <a:lnSpc>
                <a:spcPts val="2240"/>
              </a:lnSpc>
            </a:pPr>
            <a:r>
              <a:rPr lang="en-US" sz="1600">
                <a:solidFill>
                  <a:srgbClr val="000000"/>
                </a:solidFill>
                <a:latin typeface="Open Sans"/>
                <a:ea typeface="Open Sans"/>
                <a:cs typeface="Open Sans"/>
                <a:sym typeface="Open Sans"/>
              </a:rPr>
              <a:t>CamembertaV2base</a:t>
            </a:r>
          </a:p>
          <a:p>
            <a:pPr algn="l">
              <a:lnSpc>
                <a:spcPts val="2240"/>
              </a:lnSpc>
            </a:pPr>
            <a:r>
              <a:rPr lang="en-US" sz="1600">
                <a:solidFill>
                  <a:srgbClr val="000000"/>
                </a:solidFill>
                <a:latin typeface="Open Sans"/>
                <a:ea typeface="Open Sans"/>
                <a:cs typeface="Open Sans"/>
                <a:sym typeface="Open Sans"/>
              </a:rPr>
              <a:t>1024 tokens</a:t>
            </a:r>
          </a:p>
          <a:p>
            <a:pPr algn="l">
              <a:lnSpc>
                <a:spcPts val="2240"/>
              </a:lnSpc>
            </a:pPr>
            <a:r>
              <a:rPr lang="en-US" sz="1600">
                <a:solidFill>
                  <a:srgbClr val="000000"/>
                </a:solidFill>
                <a:latin typeface="Open Sans"/>
                <a:ea typeface="Open Sans"/>
                <a:cs typeface="Open Sans"/>
                <a:sym typeface="Open Sans"/>
              </a:rPr>
              <a:t>8 batch size</a:t>
            </a:r>
          </a:p>
          <a:p>
            <a:pPr algn="l">
              <a:lnSpc>
                <a:spcPts val="2240"/>
              </a:lnSpc>
            </a:pPr>
            <a:r>
              <a:rPr lang="en-US" sz="1600">
                <a:solidFill>
                  <a:srgbClr val="000000"/>
                </a:solidFill>
                <a:latin typeface="Open Sans"/>
                <a:ea typeface="Open Sans"/>
                <a:cs typeface="Open Sans"/>
                <a:sym typeface="Open Sans"/>
              </a:rPr>
              <a:t>1 gradient acc</a:t>
            </a:r>
          </a:p>
          <a:p>
            <a:pPr algn="l">
              <a:lnSpc>
                <a:spcPts val="2240"/>
              </a:lnSpc>
            </a:pPr>
            <a:r>
              <a:rPr lang="en-US" sz="1600">
                <a:solidFill>
                  <a:srgbClr val="000000"/>
                </a:solidFill>
                <a:latin typeface="Open Sans"/>
                <a:ea typeface="Open Sans"/>
                <a:cs typeface="Open Sans"/>
                <a:sym typeface="Open Sans"/>
              </a:rPr>
              <a:t>5 époques</a:t>
            </a:r>
          </a:p>
        </p:txBody>
      </p:sp>
      <p:sp>
        <p:nvSpPr>
          <p:cNvPr name="TextBox 10" id="10"/>
          <p:cNvSpPr txBox="true"/>
          <p:nvPr/>
        </p:nvSpPr>
        <p:spPr>
          <a:xfrm rot="0">
            <a:off x="8158351" y="3666037"/>
            <a:ext cx="1303480" cy="349250"/>
          </a:xfrm>
          <a:prstGeom prst="rect">
            <a:avLst/>
          </a:prstGeom>
        </p:spPr>
        <p:txBody>
          <a:bodyPr anchor="t" rtlCol="false" tIns="0" lIns="0" bIns="0" rIns="0">
            <a:spAutoFit/>
          </a:bodyPr>
          <a:lstStyle/>
          <a:p>
            <a:pPr algn="just">
              <a:lnSpc>
                <a:spcPts val="2800"/>
              </a:lnSpc>
              <a:spcBef>
                <a:spcPct val="0"/>
              </a:spcBef>
            </a:pPr>
            <a:r>
              <a:rPr lang="en-US" b="true" sz="2000" i="true">
                <a:solidFill>
                  <a:srgbClr val="FFFFFF"/>
                </a:solidFill>
                <a:latin typeface="Open Sauce Bold Italics"/>
                <a:ea typeface="Open Sauce Bold Italics"/>
                <a:cs typeface="Open Sauce Bold Italics"/>
                <a:sym typeface="Open Sauce Bold Italics"/>
              </a:rPr>
              <a:t>Modèle D</a:t>
            </a:r>
          </a:p>
        </p:txBody>
      </p:sp>
      <p:sp>
        <p:nvSpPr>
          <p:cNvPr name="TextBox 11" id="11"/>
          <p:cNvSpPr txBox="true"/>
          <p:nvPr/>
        </p:nvSpPr>
        <p:spPr>
          <a:xfrm rot="0">
            <a:off x="8101320" y="4109475"/>
            <a:ext cx="2620346" cy="1369060"/>
          </a:xfrm>
          <a:prstGeom prst="rect">
            <a:avLst/>
          </a:prstGeom>
        </p:spPr>
        <p:txBody>
          <a:bodyPr anchor="t" rtlCol="false" tIns="0" lIns="0" bIns="0" rIns="0">
            <a:spAutoFit/>
          </a:bodyPr>
          <a:lstStyle/>
          <a:p>
            <a:pPr algn="l">
              <a:lnSpc>
                <a:spcPts val="2240"/>
              </a:lnSpc>
            </a:pPr>
            <a:r>
              <a:rPr lang="en-US" sz="1600">
                <a:solidFill>
                  <a:srgbClr val="000000"/>
                </a:solidFill>
                <a:latin typeface="Open Sans"/>
                <a:ea typeface="Open Sans"/>
                <a:cs typeface="Open Sans"/>
                <a:sym typeface="Open Sans"/>
              </a:rPr>
              <a:t>ModernCamemBERTbase</a:t>
            </a:r>
          </a:p>
          <a:p>
            <a:pPr algn="l">
              <a:lnSpc>
                <a:spcPts val="2240"/>
              </a:lnSpc>
            </a:pPr>
            <a:r>
              <a:rPr lang="en-US" sz="1600">
                <a:solidFill>
                  <a:srgbClr val="000000"/>
                </a:solidFill>
                <a:latin typeface="Open Sans"/>
                <a:ea typeface="Open Sans"/>
                <a:cs typeface="Open Sans"/>
                <a:sym typeface="Open Sans"/>
              </a:rPr>
              <a:t>1024 tokens</a:t>
            </a:r>
          </a:p>
          <a:p>
            <a:pPr algn="l">
              <a:lnSpc>
                <a:spcPts val="2240"/>
              </a:lnSpc>
            </a:pPr>
            <a:r>
              <a:rPr lang="en-US" sz="1600">
                <a:solidFill>
                  <a:srgbClr val="000000"/>
                </a:solidFill>
                <a:latin typeface="Open Sans"/>
                <a:ea typeface="Open Sans"/>
                <a:cs typeface="Open Sans"/>
                <a:sym typeface="Open Sans"/>
              </a:rPr>
              <a:t>8 batch size</a:t>
            </a:r>
          </a:p>
          <a:p>
            <a:pPr algn="l">
              <a:lnSpc>
                <a:spcPts val="2240"/>
              </a:lnSpc>
            </a:pPr>
            <a:r>
              <a:rPr lang="en-US" sz="1600">
                <a:solidFill>
                  <a:srgbClr val="000000"/>
                </a:solidFill>
                <a:latin typeface="Open Sans"/>
                <a:ea typeface="Open Sans"/>
                <a:cs typeface="Open Sans"/>
                <a:sym typeface="Open Sans"/>
              </a:rPr>
              <a:t>2 gradient acc</a:t>
            </a:r>
          </a:p>
          <a:p>
            <a:pPr algn="l">
              <a:lnSpc>
                <a:spcPts val="2240"/>
              </a:lnSpc>
            </a:pPr>
            <a:r>
              <a:rPr lang="en-US" sz="1600">
                <a:solidFill>
                  <a:srgbClr val="000000"/>
                </a:solidFill>
                <a:latin typeface="Open Sans"/>
                <a:ea typeface="Open Sans"/>
                <a:cs typeface="Open Sans"/>
                <a:sym typeface="Open Sans"/>
              </a:rPr>
              <a:t>8 époques</a:t>
            </a:r>
          </a:p>
        </p:txBody>
      </p:sp>
      <p:sp>
        <p:nvSpPr>
          <p:cNvPr name="TextBox 12" id="12"/>
          <p:cNvSpPr txBox="true"/>
          <p:nvPr/>
        </p:nvSpPr>
        <p:spPr>
          <a:xfrm rot="0">
            <a:off x="13984065" y="3666037"/>
            <a:ext cx="1303480" cy="349250"/>
          </a:xfrm>
          <a:prstGeom prst="rect">
            <a:avLst/>
          </a:prstGeom>
        </p:spPr>
        <p:txBody>
          <a:bodyPr anchor="t" rtlCol="false" tIns="0" lIns="0" bIns="0" rIns="0">
            <a:spAutoFit/>
          </a:bodyPr>
          <a:lstStyle/>
          <a:p>
            <a:pPr algn="just">
              <a:lnSpc>
                <a:spcPts val="2800"/>
              </a:lnSpc>
              <a:spcBef>
                <a:spcPct val="0"/>
              </a:spcBef>
            </a:pPr>
            <a:r>
              <a:rPr lang="en-US" b="true" sz="2000" i="true">
                <a:solidFill>
                  <a:srgbClr val="FFFFFF"/>
                </a:solidFill>
                <a:latin typeface="Open Sauce Bold Italics"/>
                <a:ea typeface="Open Sauce Bold Italics"/>
                <a:cs typeface="Open Sauce Bold Italics"/>
                <a:sym typeface="Open Sauce Bold Italics"/>
              </a:rPr>
              <a:t>Modèle E</a:t>
            </a:r>
          </a:p>
        </p:txBody>
      </p:sp>
      <p:sp>
        <p:nvSpPr>
          <p:cNvPr name="TextBox 13" id="13"/>
          <p:cNvSpPr txBox="true"/>
          <p:nvPr/>
        </p:nvSpPr>
        <p:spPr>
          <a:xfrm rot="0">
            <a:off x="13927033" y="4109475"/>
            <a:ext cx="2620346" cy="1369060"/>
          </a:xfrm>
          <a:prstGeom prst="rect">
            <a:avLst/>
          </a:prstGeom>
        </p:spPr>
        <p:txBody>
          <a:bodyPr anchor="t" rtlCol="false" tIns="0" lIns="0" bIns="0" rIns="0">
            <a:spAutoFit/>
          </a:bodyPr>
          <a:lstStyle/>
          <a:p>
            <a:pPr algn="l">
              <a:lnSpc>
                <a:spcPts val="2240"/>
              </a:lnSpc>
            </a:pPr>
            <a:r>
              <a:rPr lang="en-US" sz="1600">
                <a:solidFill>
                  <a:srgbClr val="000000"/>
                </a:solidFill>
                <a:latin typeface="Open Sans"/>
                <a:ea typeface="Open Sans"/>
                <a:cs typeface="Open Sans"/>
                <a:sym typeface="Open Sans"/>
              </a:rPr>
              <a:t>ModernCamemBERTbase</a:t>
            </a:r>
          </a:p>
          <a:p>
            <a:pPr algn="l">
              <a:lnSpc>
                <a:spcPts val="2240"/>
              </a:lnSpc>
            </a:pPr>
            <a:r>
              <a:rPr lang="en-US" sz="1600">
                <a:solidFill>
                  <a:srgbClr val="000000"/>
                </a:solidFill>
                <a:latin typeface="Open Sans"/>
                <a:ea typeface="Open Sans"/>
                <a:cs typeface="Open Sans"/>
                <a:sym typeface="Open Sans"/>
              </a:rPr>
              <a:t>1024 tokens</a:t>
            </a:r>
          </a:p>
          <a:p>
            <a:pPr algn="l">
              <a:lnSpc>
                <a:spcPts val="2240"/>
              </a:lnSpc>
            </a:pPr>
            <a:r>
              <a:rPr lang="en-US" sz="1600">
                <a:solidFill>
                  <a:srgbClr val="000000"/>
                </a:solidFill>
                <a:latin typeface="Open Sans"/>
                <a:ea typeface="Open Sans"/>
                <a:cs typeface="Open Sans"/>
                <a:sym typeface="Open Sans"/>
              </a:rPr>
              <a:t>8 batch size</a:t>
            </a:r>
          </a:p>
          <a:p>
            <a:pPr algn="l">
              <a:lnSpc>
                <a:spcPts val="2240"/>
              </a:lnSpc>
            </a:pPr>
            <a:r>
              <a:rPr lang="en-US" sz="1600">
                <a:solidFill>
                  <a:srgbClr val="000000"/>
                </a:solidFill>
                <a:latin typeface="Open Sans"/>
                <a:ea typeface="Open Sans"/>
                <a:cs typeface="Open Sans"/>
                <a:sym typeface="Open Sans"/>
              </a:rPr>
              <a:t>1 gradient acc</a:t>
            </a:r>
          </a:p>
          <a:p>
            <a:pPr algn="l">
              <a:lnSpc>
                <a:spcPts val="2240"/>
              </a:lnSpc>
            </a:pPr>
            <a:r>
              <a:rPr lang="en-US" sz="1600">
                <a:solidFill>
                  <a:srgbClr val="000000"/>
                </a:solidFill>
                <a:latin typeface="Open Sans"/>
                <a:ea typeface="Open Sans"/>
                <a:cs typeface="Open Sans"/>
                <a:sym typeface="Open Sans"/>
              </a:rPr>
              <a:t>8 époques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2952149" y="3272842"/>
            <a:ext cx="11692702" cy="6145976"/>
          </a:xfrm>
          <a:custGeom>
            <a:avLst/>
            <a:gdLst/>
            <a:ahLst/>
            <a:cxnLst/>
            <a:rect r="r" b="b" t="t" l="l"/>
            <a:pathLst>
              <a:path h="6145976" w="11692702">
                <a:moveTo>
                  <a:pt x="0" y="0"/>
                </a:moveTo>
                <a:lnTo>
                  <a:pt x="11692702" y="0"/>
                </a:lnTo>
                <a:lnTo>
                  <a:pt x="11692702" y="6145977"/>
                </a:lnTo>
                <a:lnTo>
                  <a:pt x="0" y="6145977"/>
                </a:lnTo>
                <a:lnTo>
                  <a:pt x="0" y="0"/>
                </a:lnTo>
                <a:close/>
              </a:path>
            </a:pathLst>
          </a:custGeom>
          <a:blipFill>
            <a:blip r:embed="rId3"/>
            <a:stretch>
              <a:fillRect l="0" t="0" r="0" b="0"/>
            </a:stretch>
          </a:blipFill>
        </p:spPr>
      </p:sp>
      <p:sp>
        <p:nvSpPr>
          <p:cNvPr name="TextBox 4" id="4"/>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5 : sélectionner un modèle</a:t>
            </a:r>
          </a:p>
        </p:txBody>
      </p:sp>
      <p:sp>
        <p:nvSpPr>
          <p:cNvPr name="TextBox 5" id="5"/>
          <p:cNvSpPr txBox="true"/>
          <p:nvPr/>
        </p:nvSpPr>
        <p:spPr>
          <a:xfrm rot="0">
            <a:off x="1028700" y="2234617"/>
            <a:ext cx="15539600"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Comparer les scores sur le set de validation.</a:t>
            </a:r>
          </a:p>
        </p:txBody>
      </p:sp>
      <p:sp>
        <p:nvSpPr>
          <p:cNvPr name="Freeform 6" id="6"/>
          <p:cNvSpPr/>
          <p:nvPr/>
        </p:nvSpPr>
        <p:spPr>
          <a:xfrm flipH="false" flipV="false" rot="0">
            <a:off x="7111773" y="6345831"/>
            <a:ext cx="430125" cy="534317"/>
          </a:xfrm>
          <a:custGeom>
            <a:avLst/>
            <a:gdLst/>
            <a:ahLst/>
            <a:cxnLst/>
            <a:rect r="r" b="b" t="t" l="l"/>
            <a:pathLst>
              <a:path h="534317" w="430125">
                <a:moveTo>
                  <a:pt x="0" y="0"/>
                </a:moveTo>
                <a:lnTo>
                  <a:pt x="430126" y="0"/>
                </a:lnTo>
                <a:lnTo>
                  <a:pt x="430126" y="534317"/>
                </a:lnTo>
                <a:lnTo>
                  <a:pt x="0" y="5343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5161233" y="6802934"/>
            <a:ext cx="6100055" cy="2380098"/>
          </a:xfrm>
          <a:custGeom>
            <a:avLst/>
            <a:gdLst/>
            <a:ahLst/>
            <a:cxnLst/>
            <a:rect r="r" b="b" t="t" l="l"/>
            <a:pathLst>
              <a:path h="2380098" w="6100055">
                <a:moveTo>
                  <a:pt x="0" y="0"/>
                </a:moveTo>
                <a:lnTo>
                  <a:pt x="6100056" y="0"/>
                </a:lnTo>
                <a:lnTo>
                  <a:pt x="6100056" y="2380097"/>
                </a:lnTo>
                <a:lnTo>
                  <a:pt x="0" y="2380097"/>
                </a:lnTo>
                <a:lnTo>
                  <a:pt x="0" y="0"/>
                </a:lnTo>
                <a:close/>
              </a:path>
            </a:pathLst>
          </a:custGeom>
          <a:blipFill>
            <a:blip r:embed="rId3"/>
            <a:stretch>
              <a:fillRect l="-204304" t="-61085" r="0" b="-94824"/>
            </a:stretch>
          </a:blipFill>
        </p:spPr>
      </p:sp>
      <p:grpSp>
        <p:nvGrpSpPr>
          <p:cNvPr name="Group 4" id="4"/>
          <p:cNvGrpSpPr/>
          <p:nvPr/>
        </p:nvGrpSpPr>
        <p:grpSpPr>
          <a:xfrm rot="6396356">
            <a:off x="11143419" y="6603086"/>
            <a:ext cx="401263" cy="829113"/>
            <a:chOff x="0" y="0"/>
            <a:chExt cx="535018" cy="1105484"/>
          </a:xfrm>
        </p:grpSpPr>
        <p:sp>
          <p:nvSpPr>
            <p:cNvPr name="Freeform 5" id="5"/>
            <p:cNvSpPr/>
            <p:nvPr/>
          </p:nvSpPr>
          <p:spPr>
            <a:xfrm>
              <a:off x="135771" y="11149"/>
              <a:ext cx="387109" cy="1020352"/>
            </a:xfrm>
            <a:custGeom>
              <a:avLst/>
              <a:gdLst/>
              <a:ahLst/>
              <a:cxnLst/>
              <a:rect r="r" b="b" t="t" l="l"/>
              <a:pathLst>
                <a:path h="1020352" w="387109">
                  <a:moveTo>
                    <a:pt x="98543" y="0"/>
                  </a:moveTo>
                  <a:quadBezTo>
                    <a:pt x="-195312" y="634086"/>
                    <a:pt x="387109" y="1020352"/>
                  </a:quadBezTo>
                </a:path>
              </a:pathLst>
            </a:custGeom>
            <a:ln cap="flat" w="26755">
              <a:solidFill>
                <a:srgbClr val="000000"/>
              </a:solidFill>
              <a:prstDash val="solid"/>
              <a:headEnd type="none" len="sm" w="sm"/>
              <a:tailEnd type="none" len="sm" w="sm"/>
            </a:ln>
          </p:spPr>
        </p:sp>
        <p:sp>
          <p:nvSpPr>
            <p:cNvPr name="AutoShape 6" id="6"/>
            <p:cNvSpPr/>
            <p:nvPr/>
          </p:nvSpPr>
          <p:spPr>
            <a:xfrm flipV="true">
              <a:off x="15330" y="9586"/>
              <a:ext cx="227349" cy="155269"/>
            </a:xfrm>
            <a:prstGeom prst="line">
              <a:avLst/>
            </a:prstGeom>
            <a:ln cap="flat" w="21404">
              <a:solidFill>
                <a:srgbClr val="000000"/>
              </a:solidFill>
              <a:prstDash val="solid"/>
              <a:headEnd type="none" len="sm" w="sm"/>
              <a:tailEnd type="none" len="sm" w="sm"/>
            </a:ln>
          </p:spPr>
        </p:sp>
        <p:sp>
          <p:nvSpPr>
            <p:cNvPr name="AutoShape 7" id="7"/>
            <p:cNvSpPr/>
            <p:nvPr/>
          </p:nvSpPr>
          <p:spPr>
            <a:xfrm flipH="true" flipV="true">
              <a:off x="227231" y="16094"/>
              <a:ext cx="79973" cy="250589"/>
            </a:xfrm>
            <a:prstGeom prst="line">
              <a:avLst/>
            </a:prstGeom>
            <a:ln cap="flat" w="21404">
              <a:solidFill>
                <a:srgbClr val="000000"/>
              </a:solidFill>
              <a:prstDash val="solid"/>
              <a:headEnd type="none" len="sm" w="sm"/>
              <a:tailEnd type="none" len="sm" w="sm"/>
            </a:ln>
          </p:spPr>
        </p:sp>
      </p:grpSp>
      <p:sp>
        <p:nvSpPr>
          <p:cNvPr name="Freeform 8" id="8"/>
          <p:cNvSpPr/>
          <p:nvPr/>
        </p:nvSpPr>
        <p:spPr>
          <a:xfrm flipH="false" flipV="false" rot="0">
            <a:off x="11801381" y="9183031"/>
            <a:ext cx="4559594" cy="529239"/>
          </a:xfrm>
          <a:custGeom>
            <a:avLst/>
            <a:gdLst/>
            <a:ahLst/>
            <a:cxnLst/>
            <a:rect r="r" b="b" t="t" l="l"/>
            <a:pathLst>
              <a:path h="529239" w="4559594">
                <a:moveTo>
                  <a:pt x="0" y="0"/>
                </a:moveTo>
                <a:lnTo>
                  <a:pt x="4559594" y="0"/>
                </a:lnTo>
                <a:lnTo>
                  <a:pt x="4559594" y="529239"/>
                </a:lnTo>
                <a:lnTo>
                  <a:pt x="0" y="529239"/>
                </a:lnTo>
                <a:lnTo>
                  <a:pt x="0" y="0"/>
                </a:lnTo>
                <a:close/>
              </a:path>
            </a:pathLst>
          </a:custGeom>
          <a:blipFill>
            <a:blip r:embed="rId4"/>
            <a:stretch>
              <a:fillRect l="-478" t="0" r="0" b="-478"/>
            </a:stretch>
          </a:blipFill>
        </p:spPr>
      </p:sp>
      <p:grpSp>
        <p:nvGrpSpPr>
          <p:cNvPr name="Group 9" id="9"/>
          <p:cNvGrpSpPr/>
          <p:nvPr/>
        </p:nvGrpSpPr>
        <p:grpSpPr>
          <a:xfrm rot="4158669">
            <a:off x="12563238" y="8778118"/>
            <a:ext cx="271269" cy="560511"/>
            <a:chOff x="0" y="0"/>
            <a:chExt cx="361692" cy="747348"/>
          </a:xfrm>
        </p:grpSpPr>
        <p:sp>
          <p:nvSpPr>
            <p:cNvPr name="Freeform 10" id="10"/>
            <p:cNvSpPr/>
            <p:nvPr/>
          </p:nvSpPr>
          <p:spPr>
            <a:xfrm>
              <a:off x="91786" y="7537"/>
              <a:ext cx="261700" cy="689796"/>
            </a:xfrm>
            <a:custGeom>
              <a:avLst/>
              <a:gdLst/>
              <a:ahLst/>
              <a:cxnLst/>
              <a:rect r="r" b="b" t="t" l="l"/>
              <a:pathLst>
                <a:path h="689796" w="261700">
                  <a:moveTo>
                    <a:pt x="66619" y="0"/>
                  </a:moveTo>
                  <a:quadBezTo>
                    <a:pt x="-132038" y="428666"/>
                    <a:pt x="261700" y="689796"/>
                  </a:quadBezTo>
                </a:path>
              </a:pathLst>
            </a:custGeom>
            <a:ln cap="flat" w="18088">
              <a:solidFill>
                <a:srgbClr val="000000"/>
              </a:solidFill>
              <a:prstDash val="solid"/>
              <a:headEnd type="none" len="sm" w="sm"/>
              <a:tailEnd type="none" len="sm" w="sm"/>
            </a:ln>
          </p:spPr>
        </p:sp>
        <p:sp>
          <p:nvSpPr>
            <p:cNvPr name="AutoShape 11" id="11"/>
            <p:cNvSpPr/>
            <p:nvPr/>
          </p:nvSpPr>
          <p:spPr>
            <a:xfrm flipV="true">
              <a:off x="10363" y="6480"/>
              <a:ext cx="153697" cy="104967"/>
            </a:xfrm>
            <a:prstGeom prst="line">
              <a:avLst/>
            </a:prstGeom>
            <a:ln cap="flat" w="14470">
              <a:solidFill>
                <a:srgbClr val="000000"/>
              </a:solidFill>
              <a:prstDash val="solid"/>
              <a:headEnd type="none" len="sm" w="sm"/>
              <a:tailEnd type="none" len="sm" w="sm"/>
            </a:ln>
          </p:spPr>
        </p:sp>
        <p:sp>
          <p:nvSpPr>
            <p:cNvPr name="AutoShape 12" id="12"/>
            <p:cNvSpPr/>
            <p:nvPr/>
          </p:nvSpPr>
          <p:spPr>
            <a:xfrm flipH="true" flipV="true">
              <a:off x="153616" y="10880"/>
              <a:ext cx="54065" cy="169408"/>
            </a:xfrm>
            <a:prstGeom prst="line">
              <a:avLst/>
            </a:prstGeom>
            <a:ln cap="flat" w="14470">
              <a:solidFill>
                <a:srgbClr val="000000"/>
              </a:solidFill>
              <a:prstDash val="solid"/>
              <a:headEnd type="none" len="sm" w="sm"/>
              <a:tailEnd type="none" len="sm" w="sm"/>
            </a:ln>
          </p:spPr>
        </p:sp>
      </p:grpSp>
      <p:sp>
        <p:nvSpPr>
          <p:cNvPr name="Freeform 13" id="13"/>
          <p:cNvSpPr/>
          <p:nvPr/>
        </p:nvSpPr>
        <p:spPr>
          <a:xfrm flipH="false" flipV="false" rot="0">
            <a:off x="7743656" y="3707596"/>
            <a:ext cx="4868343" cy="2094609"/>
          </a:xfrm>
          <a:custGeom>
            <a:avLst/>
            <a:gdLst/>
            <a:ahLst/>
            <a:cxnLst/>
            <a:rect r="r" b="b" t="t" l="l"/>
            <a:pathLst>
              <a:path h="2094609" w="4868343">
                <a:moveTo>
                  <a:pt x="0" y="0"/>
                </a:moveTo>
                <a:lnTo>
                  <a:pt x="4868343" y="0"/>
                </a:lnTo>
                <a:lnTo>
                  <a:pt x="4868343" y="2094609"/>
                </a:lnTo>
                <a:lnTo>
                  <a:pt x="0" y="2094609"/>
                </a:lnTo>
                <a:lnTo>
                  <a:pt x="0" y="0"/>
                </a:lnTo>
                <a:close/>
              </a:path>
            </a:pathLst>
          </a:custGeom>
          <a:blipFill>
            <a:blip r:embed="rId5"/>
            <a:stretch>
              <a:fillRect l="0" t="-48968" r="0" b="0"/>
            </a:stretch>
          </a:blipFill>
        </p:spPr>
      </p:sp>
      <p:sp>
        <p:nvSpPr>
          <p:cNvPr name="TextBox 14" id="14"/>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Focus modèles : Que signifient les scores ?</a:t>
            </a:r>
          </a:p>
        </p:txBody>
      </p:sp>
      <p:sp>
        <p:nvSpPr>
          <p:cNvPr name="TextBox 15" id="15"/>
          <p:cNvSpPr txBox="true"/>
          <p:nvPr/>
        </p:nvSpPr>
        <p:spPr>
          <a:xfrm rot="0">
            <a:off x="13066124" y="8751669"/>
            <a:ext cx="4933240" cy="30670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Open Sauce"/>
                <a:ea typeface="Open Sauce"/>
                <a:cs typeface="Open Sauce"/>
                <a:sym typeface="Open Sauce"/>
              </a:rPr>
              <a:t>moyenne des F1 de chaque label</a:t>
            </a:r>
          </a:p>
        </p:txBody>
      </p:sp>
      <p:sp>
        <p:nvSpPr>
          <p:cNvPr name="TextBox 16" id="16"/>
          <p:cNvSpPr txBox="true"/>
          <p:nvPr/>
        </p:nvSpPr>
        <p:spPr>
          <a:xfrm rot="0">
            <a:off x="11901480" y="7070468"/>
            <a:ext cx="2605842" cy="6210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Open Sauce"/>
                <a:ea typeface="Open Sauce"/>
                <a:cs typeface="Open Sauce"/>
                <a:sym typeface="Open Sauce"/>
              </a:rPr>
              <a:t>moyenne harmonique de recall et precision</a:t>
            </a:r>
          </a:p>
        </p:txBody>
      </p:sp>
      <p:sp>
        <p:nvSpPr>
          <p:cNvPr name="TextBox 17" id="17"/>
          <p:cNvSpPr txBox="true"/>
          <p:nvPr/>
        </p:nvSpPr>
        <p:spPr>
          <a:xfrm rot="0">
            <a:off x="7923153" y="2704710"/>
            <a:ext cx="2150640" cy="867156"/>
          </a:xfrm>
          <a:prstGeom prst="rect">
            <a:avLst/>
          </a:prstGeom>
        </p:spPr>
        <p:txBody>
          <a:bodyPr anchor="t" rtlCol="false" tIns="0" lIns="0" bIns="0" rIns="0">
            <a:spAutoFit/>
          </a:bodyPr>
          <a:lstStyle/>
          <a:p>
            <a:pPr algn="ctr">
              <a:lnSpc>
                <a:spcPts val="2231"/>
              </a:lnSpc>
            </a:pPr>
            <a:r>
              <a:rPr lang="en-US" sz="1799">
                <a:solidFill>
                  <a:srgbClr val="000000"/>
                </a:solidFill>
                <a:latin typeface="Calibri (MS)"/>
                <a:ea typeface="Calibri (MS)"/>
                <a:cs typeface="Calibri (MS)"/>
                <a:sym typeface="Calibri (MS)"/>
              </a:rPr>
              <a:t>Combien d’éléments sélectionnés sont pertinents ?</a:t>
            </a:r>
          </a:p>
        </p:txBody>
      </p:sp>
      <p:sp>
        <p:nvSpPr>
          <p:cNvPr name="TextBox 18" id="18"/>
          <p:cNvSpPr txBox="true"/>
          <p:nvPr/>
        </p:nvSpPr>
        <p:spPr>
          <a:xfrm rot="0">
            <a:off x="10520137" y="2704710"/>
            <a:ext cx="1947809" cy="867156"/>
          </a:xfrm>
          <a:prstGeom prst="rect">
            <a:avLst/>
          </a:prstGeom>
        </p:spPr>
        <p:txBody>
          <a:bodyPr anchor="t" rtlCol="false" tIns="0" lIns="0" bIns="0" rIns="0">
            <a:spAutoFit/>
          </a:bodyPr>
          <a:lstStyle/>
          <a:p>
            <a:pPr algn="ctr">
              <a:lnSpc>
                <a:spcPts val="2231"/>
              </a:lnSpc>
            </a:pPr>
            <a:r>
              <a:rPr lang="en-US" sz="1799">
                <a:solidFill>
                  <a:srgbClr val="000000"/>
                </a:solidFill>
                <a:latin typeface="Calibri (MS)"/>
                <a:ea typeface="Calibri (MS)"/>
                <a:cs typeface="Calibri (MS)"/>
                <a:sym typeface="Calibri (MS)"/>
              </a:rPr>
              <a:t>Combien d’éléments pertinents sont sélectionnés ?</a:t>
            </a:r>
          </a:p>
        </p:txBody>
      </p:sp>
      <p:sp>
        <p:nvSpPr>
          <p:cNvPr name="Freeform 19" id="19"/>
          <p:cNvSpPr/>
          <p:nvPr/>
        </p:nvSpPr>
        <p:spPr>
          <a:xfrm flipH="false" flipV="false" rot="0">
            <a:off x="3963723" y="2296082"/>
            <a:ext cx="3346830" cy="4329961"/>
          </a:xfrm>
          <a:custGeom>
            <a:avLst/>
            <a:gdLst/>
            <a:ahLst/>
            <a:cxnLst/>
            <a:rect r="r" b="b" t="t" l="l"/>
            <a:pathLst>
              <a:path h="4329961" w="3346830">
                <a:moveTo>
                  <a:pt x="0" y="0"/>
                </a:moveTo>
                <a:lnTo>
                  <a:pt x="3346829" y="0"/>
                </a:lnTo>
                <a:lnTo>
                  <a:pt x="3346829" y="4329960"/>
                </a:lnTo>
                <a:lnTo>
                  <a:pt x="0" y="4329960"/>
                </a:lnTo>
                <a:lnTo>
                  <a:pt x="0" y="0"/>
                </a:lnTo>
                <a:close/>
              </a:path>
            </a:pathLst>
          </a:custGeom>
          <a:blipFill>
            <a:blip r:embed="rId6"/>
            <a:stretch>
              <a:fillRect l="0" t="0" r="0" b="0"/>
            </a:stretch>
          </a:blipFill>
        </p:spPr>
      </p:sp>
      <p:sp>
        <p:nvSpPr>
          <p:cNvPr name="TextBox 20" id="20"/>
          <p:cNvSpPr txBox="true"/>
          <p:nvPr/>
        </p:nvSpPr>
        <p:spPr>
          <a:xfrm rot="0">
            <a:off x="3810523" y="6519553"/>
            <a:ext cx="2150640" cy="193929"/>
          </a:xfrm>
          <a:prstGeom prst="rect">
            <a:avLst/>
          </a:prstGeom>
        </p:spPr>
        <p:txBody>
          <a:bodyPr anchor="t" rtlCol="false" tIns="0" lIns="0" bIns="0" rIns="0">
            <a:spAutoFit/>
          </a:bodyPr>
          <a:lstStyle/>
          <a:p>
            <a:pPr algn="ctr">
              <a:lnSpc>
                <a:spcPts val="1487"/>
              </a:lnSpc>
            </a:pPr>
            <a:r>
              <a:rPr lang="en-US" sz="1199">
                <a:solidFill>
                  <a:srgbClr val="000000"/>
                </a:solidFill>
                <a:latin typeface="Calibri (MS)"/>
                <a:ea typeface="Calibri (MS)"/>
                <a:cs typeface="Calibri (MS)"/>
                <a:sym typeface="Calibri (MS)"/>
              </a:rPr>
              <a:t>(= jugés positifs)</a:t>
            </a:r>
          </a:p>
        </p:txBody>
      </p:sp>
      <p:sp>
        <p:nvSpPr>
          <p:cNvPr name="TextBox 21" id="21"/>
          <p:cNvSpPr txBox="true"/>
          <p:nvPr/>
        </p:nvSpPr>
        <p:spPr>
          <a:xfrm rot="0">
            <a:off x="3810523" y="2163561"/>
            <a:ext cx="2150640" cy="193929"/>
          </a:xfrm>
          <a:prstGeom prst="rect">
            <a:avLst/>
          </a:prstGeom>
        </p:spPr>
        <p:txBody>
          <a:bodyPr anchor="t" rtlCol="false" tIns="0" lIns="0" bIns="0" rIns="0">
            <a:spAutoFit/>
          </a:bodyPr>
          <a:lstStyle/>
          <a:p>
            <a:pPr algn="ctr">
              <a:lnSpc>
                <a:spcPts val="1487"/>
              </a:lnSpc>
            </a:pPr>
            <a:r>
              <a:rPr lang="en-US" sz="1199">
                <a:solidFill>
                  <a:srgbClr val="000000"/>
                </a:solidFill>
                <a:latin typeface="Calibri (MS)"/>
                <a:ea typeface="Calibri (MS)"/>
                <a:cs typeface="Calibri (MS)"/>
                <a:sym typeface="Calibri (MS)"/>
              </a:rPr>
              <a:t>(= réellement positifs)</a:t>
            </a:r>
          </a:p>
        </p:txBody>
      </p:sp>
      <p:sp>
        <p:nvSpPr>
          <p:cNvPr name="TextBox 22" id="22"/>
          <p:cNvSpPr txBox="true"/>
          <p:nvPr/>
        </p:nvSpPr>
        <p:spPr>
          <a:xfrm rot="0">
            <a:off x="10395645" y="5578348"/>
            <a:ext cx="2196792" cy="689610"/>
          </a:xfrm>
          <a:prstGeom prst="rect">
            <a:avLst/>
          </a:prstGeom>
        </p:spPr>
        <p:txBody>
          <a:bodyPr anchor="t" rtlCol="false" tIns="0" lIns="0" bIns="0" rIns="0">
            <a:spAutoFit/>
          </a:bodyPr>
          <a:lstStyle/>
          <a:p>
            <a:pPr algn="ctr">
              <a:lnSpc>
                <a:spcPts val="1770"/>
              </a:lnSpc>
              <a:spcBef>
                <a:spcPct val="0"/>
              </a:spcBef>
            </a:pPr>
            <a:r>
              <a:rPr lang="en-US" sz="1500">
                <a:solidFill>
                  <a:srgbClr val="939596"/>
                </a:solidFill>
                <a:latin typeface="Calibri (MS)"/>
                <a:ea typeface="Calibri (MS)"/>
                <a:cs typeface="Calibri (MS)"/>
                <a:sym typeface="Calibri (MS)"/>
              </a:rPr>
              <a:t>proche de 1 = le modèle sélectionne presque tous les éléments pertinents. </a:t>
            </a:r>
          </a:p>
        </p:txBody>
      </p:sp>
      <p:sp>
        <p:nvSpPr>
          <p:cNvPr name="TextBox 23" id="23"/>
          <p:cNvSpPr txBox="true"/>
          <p:nvPr/>
        </p:nvSpPr>
        <p:spPr>
          <a:xfrm rot="0">
            <a:off x="7835079" y="5578348"/>
            <a:ext cx="2173403" cy="689610"/>
          </a:xfrm>
          <a:prstGeom prst="rect">
            <a:avLst/>
          </a:prstGeom>
        </p:spPr>
        <p:txBody>
          <a:bodyPr anchor="t" rtlCol="false" tIns="0" lIns="0" bIns="0" rIns="0">
            <a:spAutoFit/>
          </a:bodyPr>
          <a:lstStyle/>
          <a:p>
            <a:pPr algn="ctr">
              <a:lnSpc>
                <a:spcPts val="1770"/>
              </a:lnSpc>
              <a:spcBef>
                <a:spcPct val="0"/>
              </a:spcBef>
            </a:pPr>
            <a:r>
              <a:rPr lang="en-US" sz="1500">
                <a:solidFill>
                  <a:srgbClr val="939596"/>
                </a:solidFill>
                <a:latin typeface="Calibri (MS)"/>
                <a:ea typeface="Calibri (MS)"/>
                <a:cs typeface="Calibri (MS)"/>
                <a:sym typeface="Calibri (MS)"/>
              </a:rPr>
              <a:t>proche de 1 = le modèle ne sélectionne presque que des éléments pertinents.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6459994" y="3271993"/>
            <a:ext cx="5014554" cy="1963370"/>
          </a:xfrm>
          <a:custGeom>
            <a:avLst/>
            <a:gdLst/>
            <a:ahLst/>
            <a:cxnLst/>
            <a:rect r="r" b="b" t="t" l="l"/>
            <a:pathLst>
              <a:path h="1963370" w="5014554">
                <a:moveTo>
                  <a:pt x="0" y="0"/>
                </a:moveTo>
                <a:lnTo>
                  <a:pt x="5014553" y="0"/>
                </a:lnTo>
                <a:lnTo>
                  <a:pt x="5014553" y="1963370"/>
                </a:lnTo>
                <a:lnTo>
                  <a:pt x="0" y="1963370"/>
                </a:lnTo>
                <a:lnTo>
                  <a:pt x="0" y="0"/>
                </a:lnTo>
                <a:close/>
              </a:path>
            </a:pathLst>
          </a:custGeom>
          <a:blipFill>
            <a:blip r:embed="rId3"/>
            <a:stretch>
              <a:fillRect l="0" t="0" r="0" b="0"/>
            </a:stretch>
          </a:blipFill>
        </p:spPr>
      </p:sp>
      <p:sp>
        <p:nvSpPr>
          <p:cNvPr name="Freeform 4" id="4"/>
          <p:cNvSpPr/>
          <p:nvPr/>
        </p:nvSpPr>
        <p:spPr>
          <a:xfrm flipH="false" flipV="false" rot="0">
            <a:off x="7966184" y="2674537"/>
            <a:ext cx="3508363" cy="427542"/>
          </a:xfrm>
          <a:custGeom>
            <a:avLst/>
            <a:gdLst/>
            <a:ahLst/>
            <a:cxnLst/>
            <a:rect r="r" b="b" t="t" l="l"/>
            <a:pathLst>
              <a:path h="427542" w="3508363">
                <a:moveTo>
                  <a:pt x="0" y="0"/>
                </a:moveTo>
                <a:lnTo>
                  <a:pt x="3508363" y="0"/>
                </a:lnTo>
                <a:lnTo>
                  <a:pt x="3508363" y="427542"/>
                </a:lnTo>
                <a:lnTo>
                  <a:pt x="0" y="427542"/>
                </a:lnTo>
                <a:lnTo>
                  <a:pt x="0" y="0"/>
                </a:lnTo>
                <a:close/>
              </a:path>
            </a:pathLst>
          </a:custGeom>
          <a:blipFill>
            <a:blip r:embed="rId4"/>
            <a:stretch>
              <a:fillRect l="0" t="0" r="0" b="0"/>
            </a:stretch>
          </a:blipFill>
        </p:spPr>
      </p:sp>
      <p:sp>
        <p:nvSpPr>
          <p:cNvPr name="Freeform 5" id="5"/>
          <p:cNvSpPr/>
          <p:nvPr/>
        </p:nvSpPr>
        <p:spPr>
          <a:xfrm flipH="false" flipV="false" rot="0">
            <a:off x="806503" y="3144452"/>
            <a:ext cx="4966242" cy="2219247"/>
          </a:xfrm>
          <a:custGeom>
            <a:avLst/>
            <a:gdLst/>
            <a:ahLst/>
            <a:cxnLst/>
            <a:rect r="r" b="b" t="t" l="l"/>
            <a:pathLst>
              <a:path h="2219247" w="4966242">
                <a:moveTo>
                  <a:pt x="0" y="0"/>
                </a:moveTo>
                <a:lnTo>
                  <a:pt x="4966242" y="0"/>
                </a:lnTo>
                <a:lnTo>
                  <a:pt x="4966242" y="2219247"/>
                </a:lnTo>
                <a:lnTo>
                  <a:pt x="0" y="2219247"/>
                </a:lnTo>
                <a:lnTo>
                  <a:pt x="0" y="0"/>
                </a:lnTo>
                <a:close/>
              </a:path>
            </a:pathLst>
          </a:custGeom>
          <a:blipFill>
            <a:blip r:embed="rId5"/>
            <a:stretch>
              <a:fillRect l="0" t="0" r="0" b="0"/>
            </a:stretch>
          </a:blipFill>
        </p:spPr>
      </p:sp>
      <p:sp>
        <p:nvSpPr>
          <p:cNvPr name="Freeform 6" id="6"/>
          <p:cNvSpPr/>
          <p:nvPr/>
        </p:nvSpPr>
        <p:spPr>
          <a:xfrm flipH="false" flipV="false" rot="0">
            <a:off x="2181602" y="2674537"/>
            <a:ext cx="3805199" cy="427940"/>
          </a:xfrm>
          <a:custGeom>
            <a:avLst/>
            <a:gdLst/>
            <a:ahLst/>
            <a:cxnLst/>
            <a:rect r="r" b="b" t="t" l="l"/>
            <a:pathLst>
              <a:path h="427940" w="3805199">
                <a:moveTo>
                  <a:pt x="0" y="0"/>
                </a:moveTo>
                <a:lnTo>
                  <a:pt x="3805199" y="0"/>
                </a:lnTo>
                <a:lnTo>
                  <a:pt x="3805199" y="427940"/>
                </a:lnTo>
                <a:lnTo>
                  <a:pt x="0" y="427940"/>
                </a:lnTo>
                <a:lnTo>
                  <a:pt x="0" y="0"/>
                </a:lnTo>
                <a:close/>
              </a:path>
            </a:pathLst>
          </a:custGeom>
          <a:blipFill>
            <a:blip r:embed="rId6"/>
            <a:stretch>
              <a:fillRect l="0" t="0" r="0" b="0"/>
            </a:stretch>
          </a:blipFill>
        </p:spPr>
      </p:sp>
      <p:sp>
        <p:nvSpPr>
          <p:cNvPr name="Freeform 7" id="7"/>
          <p:cNvSpPr/>
          <p:nvPr/>
        </p:nvSpPr>
        <p:spPr>
          <a:xfrm flipH="false" flipV="false" rot="0">
            <a:off x="11962676" y="2985261"/>
            <a:ext cx="5296624" cy="2156276"/>
          </a:xfrm>
          <a:custGeom>
            <a:avLst/>
            <a:gdLst/>
            <a:ahLst/>
            <a:cxnLst/>
            <a:rect r="r" b="b" t="t" l="l"/>
            <a:pathLst>
              <a:path h="2156276" w="5296624">
                <a:moveTo>
                  <a:pt x="0" y="0"/>
                </a:moveTo>
                <a:lnTo>
                  <a:pt x="5296624" y="0"/>
                </a:lnTo>
                <a:lnTo>
                  <a:pt x="5296624" y="2156276"/>
                </a:lnTo>
                <a:lnTo>
                  <a:pt x="0" y="2156276"/>
                </a:lnTo>
                <a:lnTo>
                  <a:pt x="0" y="0"/>
                </a:lnTo>
                <a:close/>
              </a:path>
            </a:pathLst>
          </a:custGeom>
          <a:blipFill>
            <a:blip r:embed="rId7"/>
            <a:stretch>
              <a:fillRect l="0" t="0" r="0" b="0"/>
            </a:stretch>
          </a:blipFill>
        </p:spPr>
      </p:sp>
      <p:sp>
        <p:nvSpPr>
          <p:cNvPr name="Freeform 8" id="8"/>
          <p:cNvSpPr/>
          <p:nvPr/>
        </p:nvSpPr>
        <p:spPr>
          <a:xfrm flipH="false" flipV="false" rot="0">
            <a:off x="13327275" y="2674537"/>
            <a:ext cx="3932025" cy="442203"/>
          </a:xfrm>
          <a:custGeom>
            <a:avLst/>
            <a:gdLst/>
            <a:ahLst/>
            <a:cxnLst/>
            <a:rect r="r" b="b" t="t" l="l"/>
            <a:pathLst>
              <a:path h="442203" w="3932025">
                <a:moveTo>
                  <a:pt x="0" y="0"/>
                </a:moveTo>
                <a:lnTo>
                  <a:pt x="3932025" y="0"/>
                </a:lnTo>
                <a:lnTo>
                  <a:pt x="3932025" y="442203"/>
                </a:lnTo>
                <a:lnTo>
                  <a:pt x="0" y="442203"/>
                </a:lnTo>
                <a:lnTo>
                  <a:pt x="0" y="0"/>
                </a:lnTo>
                <a:close/>
              </a:path>
            </a:pathLst>
          </a:custGeom>
          <a:blipFill>
            <a:blip r:embed="rId8"/>
            <a:stretch>
              <a:fillRect l="0" t="0" r="0" b="0"/>
            </a:stretch>
          </a:blipFill>
        </p:spPr>
      </p:sp>
      <p:sp>
        <p:nvSpPr>
          <p:cNvPr name="Freeform 9" id="9"/>
          <p:cNvSpPr/>
          <p:nvPr/>
        </p:nvSpPr>
        <p:spPr>
          <a:xfrm flipH="false" flipV="false" rot="0">
            <a:off x="9891474" y="6394002"/>
            <a:ext cx="5274505" cy="2147271"/>
          </a:xfrm>
          <a:custGeom>
            <a:avLst/>
            <a:gdLst/>
            <a:ahLst/>
            <a:cxnLst/>
            <a:rect r="r" b="b" t="t" l="l"/>
            <a:pathLst>
              <a:path h="2147271" w="5274505">
                <a:moveTo>
                  <a:pt x="0" y="0"/>
                </a:moveTo>
                <a:lnTo>
                  <a:pt x="5274505" y="0"/>
                </a:lnTo>
                <a:lnTo>
                  <a:pt x="5274505" y="2147271"/>
                </a:lnTo>
                <a:lnTo>
                  <a:pt x="0" y="2147271"/>
                </a:lnTo>
                <a:lnTo>
                  <a:pt x="0" y="0"/>
                </a:lnTo>
                <a:close/>
              </a:path>
            </a:pathLst>
          </a:custGeom>
          <a:blipFill>
            <a:blip r:embed="rId9"/>
            <a:stretch>
              <a:fillRect l="0" t="0" r="0" b="0"/>
            </a:stretch>
          </a:blipFill>
        </p:spPr>
      </p:sp>
      <p:sp>
        <p:nvSpPr>
          <p:cNvPr name="Freeform 10" id="10"/>
          <p:cNvSpPr/>
          <p:nvPr/>
        </p:nvSpPr>
        <p:spPr>
          <a:xfrm flipH="false" flipV="false" rot="0">
            <a:off x="11141840" y="6029576"/>
            <a:ext cx="4151448" cy="466880"/>
          </a:xfrm>
          <a:custGeom>
            <a:avLst/>
            <a:gdLst/>
            <a:ahLst/>
            <a:cxnLst/>
            <a:rect r="r" b="b" t="t" l="l"/>
            <a:pathLst>
              <a:path h="466880" w="4151448">
                <a:moveTo>
                  <a:pt x="0" y="0"/>
                </a:moveTo>
                <a:lnTo>
                  <a:pt x="4151448" y="0"/>
                </a:lnTo>
                <a:lnTo>
                  <a:pt x="4151448" y="466880"/>
                </a:lnTo>
                <a:lnTo>
                  <a:pt x="0" y="466880"/>
                </a:lnTo>
                <a:lnTo>
                  <a:pt x="0" y="0"/>
                </a:lnTo>
                <a:close/>
              </a:path>
            </a:pathLst>
          </a:custGeom>
          <a:blipFill>
            <a:blip r:embed="rId10"/>
            <a:stretch>
              <a:fillRect l="0" t="0" r="0" b="0"/>
            </a:stretch>
          </a:blipFill>
        </p:spPr>
      </p:sp>
      <p:sp>
        <p:nvSpPr>
          <p:cNvPr name="TextBox 11" id="11"/>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5 : sélectionner un modèle</a:t>
            </a:r>
          </a:p>
        </p:txBody>
      </p:sp>
      <p:sp>
        <p:nvSpPr>
          <p:cNvPr name="TextBox 12" id="12"/>
          <p:cNvSpPr txBox="true"/>
          <p:nvPr/>
        </p:nvSpPr>
        <p:spPr>
          <a:xfrm rot="0">
            <a:off x="6630339" y="2740810"/>
            <a:ext cx="1110183" cy="275946"/>
          </a:xfrm>
          <a:prstGeom prst="rect">
            <a:avLst/>
          </a:prstGeom>
        </p:spPr>
        <p:txBody>
          <a:bodyPr anchor="t" rtlCol="false" tIns="0" lIns="0" bIns="0" rIns="0">
            <a:spAutoFit/>
          </a:bodyPr>
          <a:lstStyle/>
          <a:p>
            <a:pPr algn="just">
              <a:lnSpc>
                <a:spcPts val="2384"/>
              </a:lnSpc>
              <a:spcBef>
                <a:spcPct val="0"/>
              </a:spcBef>
            </a:pPr>
            <a:r>
              <a:rPr lang="en-US" b="true" sz="1703" i="true">
                <a:solidFill>
                  <a:srgbClr val="FFFFFF"/>
                </a:solidFill>
                <a:latin typeface="Open Sauce Bold Italics"/>
                <a:ea typeface="Open Sauce Bold Italics"/>
                <a:cs typeface="Open Sauce Bold Italics"/>
                <a:sym typeface="Open Sauce Bold Italics"/>
              </a:rPr>
              <a:t>Modèle B</a:t>
            </a:r>
          </a:p>
        </p:txBody>
      </p:sp>
      <p:sp>
        <p:nvSpPr>
          <p:cNvPr name="TextBox 13" id="13"/>
          <p:cNvSpPr txBox="true"/>
          <p:nvPr/>
        </p:nvSpPr>
        <p:spPr>
          <a:xfrm rot="0">
            <a:off x="3638962" y="6069994"/>
            <a:ext cx="1132116" cy="290546"/>
          </a:xfrm>
          <a:prstGeom prst="rect">
            <a:avLst/>
          </a:prstGeom>
        </p:spPr>
        <p:txBody>
          <a:bodyPr anchor="t" rtlCol="false" tIns="0" lIns="0" bIns="0" rIns="0">
            <a:spAutoFit/>
          </a:bodyPr>
          <a:lstStyle/>
          <a:p>
            <a:pPr algn="just">
              <a:lnSpc>
                <a:spcPts val="2431"/>
              </a:lnSpc>
              <a:spcBef>
                <a:spcPct val="0"/>
              </a:spcBef>
            </a:pPr>
            <a:r>
              <a:rPr lang="en-US" b="true" sz="1737" i="true">
                <a:solidFill>
                  <a:srgbClr val="FFFFFF"/>
                </a:solidFill>
                <a:latin typeface="Open Sauce Bold Italics"/>
                <a:ea typeface="Open Sauce Bold Italics"/>
                <a:cs typeface="Open Sauce Bold Italics"/>
                <a:sym typeface="Open Sauce Bold Italics"/>
              </a:rPr>
              <a:t>Modèle D</a:t>
            </a:r>
          </a:p>
        </p:txBody>
      </p:sp>
      <p:sp>
        <p:nvSpPr>
          <p:cNvPr name="TextBox 14" id="14"/>
          <p:cNvSpPr txBox="true"/>
          <p:nvPr/>
        </p:nvSpPr>
        <p:spPr>
          <a:xfrm rot="0">
            <a:off x="12112686" y="2731921"/>
            <a:ext cx="1085719" cy="289335"/>
          </a:xfrm>
          <a:prstGeom prst="rect">
            <a:avLst/>
          </a:prstGeom>
        </p:spPr>
        <p:txBody>
          <a:bodyPr anchor="t" rtlCol="false" tIns="0" lIns="0" bIns="0" rIns="0">
            <a:spAutoFit/>
          </a:bodyPr>
          <a:lstStyle/>
          <a:p>
            <a:pPr algn="just">
              <a:lnSpc>
                <a:spcPts val="2332"/>
              </a:lnSpc>
              <a:spcBef>
                <a:spcPct val="0"/>
              </a:spcBef>
            </a:pPr>
            <a:r>
              <a:rPr lang="en-US" b="true" sz="1665" i="true">
                <a:solidFill>
                  <a:srgbClr val="FFFFFF"/>
                </a:solidFill>
                <a:latin typeface="Open Sauce Bold Italics"/>
                <a:ea typeface="Open Sauce Bold Italics"/>
                <a:cs typeface="Open Sauce Bold Italics"/>
                <a:sym typeface="Open Sauce Bold Italics"/>
              </a:rPr>
              <a:t>Modèle C</a:t>
            </a:r>
          </a:p>
        </p:txBody>
      </p:sp>
      <p:sp>
        <p:nvSpPr>
          <p:cNvPr name="TextBox 15" id="15"/>
          <p:cNvSpPr txBox="true"/>
          <p:nvPr/>
        </p:nvSpPr>
        <p:spPr>
          <a:xfrm rot="0">
            <a:off x="1047513" y="2741208"/>
            <a:ext cx="1110183" cy="275946"/>
          </a:xfrm>
          <a:prstGeom prst="rect">
            <a:avLst/>
          </a:prstGeom>
        </p:spPr>
        <p:txBody>
          <a:bodyPr anchor="t" rtlCol="false" tIns="0" lIns="0" bIns="0" rIns="0">
            <a:spAutoFit/>
          </a:bodyPr>
          <a:lstStyle/>
          <a:p>
            <a:pPr algn="just">
              <a:lnSpc>
                <a:spcPts val="2384"/>
              </a:lnSpc>
              <a:spcBef>
                <a:spcPct val="0"/>
              </a:spcBef>
            </a:pPr>
            <a:r>
              <a:rPr lang="en-US" b="true" sz="1703" i="true">
                <a:solidFill>
                  <a:srgbClr val="FFFFFF"/>
                </a:solidFill>
                <a:latin typeface="Open Sauce Bold Italics"/>
                <a:ea typeface="Open Sauce Bold Italics"/>
                <a:cs typeface="Open Sauce Bold Italics"/>
                <a:sym typeface="Open Sauce Bold Italics"/>
              </a:rPr>
              <a:t>Modèle A</a:t>
            </a:r>
          </a:p>
        </p:txBody>
      </p:sp>
      <p:sp>
        <p:nvSpPr>
          <p:cNvPr name="TextBox 16" id="16"/>
          <p:cNvSpPr txBox="true"/>
          <p:nvPr/>
        </p:nvSpPr>
        <p:spPr>
          <a:xfrm rot="0">
            <a:off x="9948254" y="6103456"/>
            <a:ext cx="1132116" cy="290546"/>
          </a:xfrm>
          <a:prstGeom prst="rect">
            <a:avLst/>
          </a:prstGeom>
        </p:spPr>
        <p:txBody>
          <a:bodyPr anchor="t" rtlCol="false" tIns="0" lIns="0" bIns="0" rIns="0">
            <a:spAutoFit/>
          </a:bodyPr>
          <a:lstStyle/>
          <a:p>
            <a:pPr algn="just">
              <a:lnSpc>
                <a:spcPts val="2431"/>
              </a:lnSpc>
              <a:spcBef>
                <a:spcPct val="0"/>
              </a:spcBef>
            </a:pPr>
            <a:r>
              <a:rPr lang="en-US" b="true" sz="1737" i="true">
                <a:solidFill>
                  <a:srgbClr val="FFFFFF"/>
                </a:solidFill>
                <a:latin typeface="Open Sauce Bold Italics"/>
                <a:ea typeface="Open Sauce Bold Italics"/>
                <a:cs typeface="Open Sauce Bold Italics"/>
                <a:sym typeface="Open Sauce Bold Italics"/>
              </a:rPr>
              <a:t>Modèle E</a:t>
            </a:r>
          </a:p>
        </p:txBody>
      </p:sp>
      <p:sp>
        <p:nvSpPr>
          <p:cNvPr name="Freeform 17" id="17"/>
          <p:cNvSpPr/>
          <p:nvPr/>
        </p:nvSpPr>
        <p:spPr>
          <a:xfrm flipH="false" flipV="false" rot="0">
            <a:off x="3638962" y="6467633"/>
            <a:ext cx="5274505" cy="2147271"/>
          </a:xfrm>
          <a:custGeom>
            <a:avLst/>
            <a:gdLst/>
            <a:ahLst/>
            <a:cxnLst/>
            <a:rect r="r" b="b" t="t" l="l"/>
            <a:pathLst>
              <a:path h="2147271" w="5274505">
                <a:moveTo>
                  <a:pt x="0" y="0"/>
                </a:moveTo>
                <a:lnTo>
                  <a:pt x="5274505" y="0"/>
                </a:lnTo>
                <a:lnTo>
                  <a:pt x="5274505" y="2147271"/>
                </a:lnTo>
                <a:lnTo>
                  <a:pt x="0" y="2147271"/>
                </a:lnTo>
                <a:lnTo>
                  <a:pt x="0" y="0"/>
                </a:lnTo>
                <a:close/>
              </a:path>
            </a:pathLst>
          </a:custGeom>
          <a:blipFill>
            <a:blip r:embed="rId9"/>
            <a:stretch>
              <a:fillRect l="0" t="0" r="0" b="0"/>
            </a:stretch>
          </a:blipFill>
        </p:spPr>
      </p:sp>
      <p:sp>
        <p:nvSpPr>
          <p:cNvPr name="Freeform 18" id="18"/>
          <p:cNvSpPr/>
          <p:nvPr/>
        </p:nvSpPr>
        <p:spPr>
          <a:xfrm flipH="false" flipV="false" rot="0">
            <a:off x="4815823" y="6029576"/>
            <a:ext cx="4151448" cy="466880"/>
          </a:xfrm>
          <a:custGeom>
            <a:avLst/>
            <a:gdLst/>
            <a:ahLst/>
            <a:cxnLst/>
            <a:rect r="r" b="b" t="t" l="l"/>
            <a:pathLst>
              <a:path h="466880" w="4151448">
                <a:moveTo>
                  <a:pt x="0" y="0"/>
                </a:moveTo>
                <a:lnTo>
                  <a:pt x="4151448" y="0"/>
                </a:lnTo>
                <a:lnTo>
                  <a:pt x="4151448" y="466880"/>
                </a:lnTo>
                <a:lnTo>
                  <a:pt x="0" y="466880"/>
                </a:lnTo>
                <a:lnTo>
                  <a:pt x="0" y="0"/>
                </a:lnTo>
                <a:close/>
              </a:path>
            </a:pathLst>
          </a:custGeom>
          <a:blipFill>
            <a:blip r:embed="rId10"/>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6459994" y="3271993"/>
            <a:ext cx="5014554" cy="1963370"/>
          </a:xfrm>
          <a:custGeom>
            <a:avLst/>
            <a:gdLst/>
            <a:ahLst/>
            <a:cxnLst/>
            <a:rect r="r" b="b" t="t" l="l"/>
            <a:pathLst>
              <a:path h="1963370" w="5014554">
                <a:moveTo>
                  <a:pt x="0" y="0"/>
                </a:moveTo>
                <a:lnTo>
                  <a:pt x="5014553" y="0"/>
                </a:lnTo>
                <a:lnTo>
                  <a:pt x="5014553" y="1963370"/>
                </a:lnTo>
                <a:lnTo>
                  <a:pt x="0" y="1963370"/>
                </a:lnTo>
                <a:lnTo>
                  <a:pt x="0" y="0"/>
                </a:lnTo>
                <a:close/>
              </a:path>
            </a:pathLst>
          </a:custGeom>
          <a:blipFill>
            <a:blip r:embed="rId3"/>
            <a:stretch>
              <a:fillRect l="0" t="0" r="0" b="0"/>
            </a:stretch>
          </a:blipFill>
        </p:spPr>
      </p:sp>
      <p:sp>
        <p:nvSpPr>
          <p:cNvPr name="Freeform 4" id="4"/>
          <p:cNvSpPr/>
          <p:nvPr/>
        </p:nvSpPr>
        <p:spPr>
          <a:xfrm flipH="false" flipV="false" rot="0">
            <a:off x="7966184" y="2674537"/>
            <a:ext cx="3508363" cy="427542"/>
          </a:xfrm>
          <a:custGeom>
            <a:avLst/>
            <a:gdLst/>
            <a:ahLst/>
            <a:cxnLst/>
            <a:rect r="r" b="b" t="t" l="l"/>
            <a:pathLst>
              <a:path h="427542" w="3508363">
                <a:moveTo>
                  <a:pt x="0" y="0"/>
                </a:moveTo>
                <a:lnTo>
                  <a:pt x="3508363" y="0"/>
                </a:lnTo>
                <a:lnTo>
                  <a:pt x="3508363" y="427542"/>
                </a:lnTo>
                <a:lnTo>
                  <a:pt x="0" y="427542"/>
                </a:lnTo>
                <a:lnTo>
                  <a:pt x="0" y="0"/>
                </a:lnTo>
                <a:close/>
              </a:path>
            </a:pathLst>
          </a:custGeom>
          <a:blipFill>
            <a:blip r:embed="rId4"/>
            <a:stretch>
              <a:fillRect l="0" t="0" r="0" b="0"/>
            </a:stretch>
          </a:blipFill>
        </p:spPr>
      </p:sp>
      <p:sp>
        <p:nvSpPr>
          <p:cNvPr name="Freeform 5" id="5"/>
          <p:cNvSpPr/>
          <p:nvPr/>
        </p:nvSpPr>
        <p:spPr>
          <a:xfrm flipH="false" flipV="false" rot="0">
            <a:off x="806503" y="3144452"/>
            <a:ext cx="4966242" cy="2219247"/>
          </a:xfrm>
          <a:custGeom>
            <a:avLst/>
            <a:gdLst/>
            <a:ahLst/>
            <a:cxnLst/>
            <a:rect r="r" b="b" t="t" l="l"/>
            <a:pathLst>
              <a:path h="2219247" w="4966242">
                <a:moveTo>
                  <a:pt x="0" y="0"/>
                </a:moveTo>
                <a:lnTo>
                  <a:pt x="4966242" y="0"/>
                </a:lnTo>
                <a:lnTo>
                  <a:pt x="4966242" y="2219247"/>
                </a:lnTo>
                <a:lnTo>
                  <a:pt x="0" y="2219247"/>
                </a:lnTo>
                <a:lnTo>
                  <a:pt x="0" y="0"/>
                </a:lnTo>
                <a:close/>
              </a:path>
            </a:pathLst>
          </a:custGeom>
          <a:blipFill>
            <a:blip r:embed="rId5"/>
            <a:stretch>
              <a:fillRect l="0" t="0" r="0" b="0"/>
            </a:stretch>
          </a:blipFill>
        </p:spPr>
      </p:sp>
      <p:sp>
        <p:nvSpPr>
          <p:cNvPr name="Freeform 6" id="6"/>
          <p:cNvSpPr/>
          <p:nvPr/>
        </p:nvSpPr>
        <p:spPr>
          <a:xfrm flipH="false" flipV="false" rot="0">
            <a:off x="2181602" y="2674537"/>
            <a:ext cx="3805199" cy="427940"/>
          </a:xfrm>
          <a:custGeom>
            <a:avLst/>
            <a:gdLst/>
            <a:ahLst/>
            <a:cxnLst/>
            <a:rect r="r" b="b" t="t" l="l"/>
            <a:pathLst>
              <a:path h="427940" w="3805199">
                <a:moveTo>
                  <a:pt x="0" y="0"/>
                </a:moveTo>
                <a:lnTo>
                  <a:pt x="3805199" y="0"/>
                </a:lnTo>
                <a:lnTo>
                  <a:pt x="3805199" y="427940"/>
                </a:lnTo>
                <a:lnTo>
                  <a:pt x="0" y="427940"/>
                </a:lnTo>
                <a:lnTo>
                  <a:pt x="0" y="0"/>
                </a:lnTo>
                <a:close/>
              </a:path>
            </a:pathLst>
          </a:custGeom>
          <a:blipFill>
            <a:blip r:embed="rId6"/>
            <a:stretch>
              <a:fillRect l="0" t="0" r="0" b="0"/>
            </a:stretch>
          </a:blipFill>
        </p:spPr>
      </p:sp>
      <p:sp>
        <p:nvSpPr>
          <p:cNvPr name="Freeform 7" id="7"/>
          <p:cNvSpPr/>
          <p:nvPr/>
        </p:nvSpPr>
        <p:spPr>
          <a:xfrm flipH="false" flipV="false" rot="0">
            <a:off x="11962676" y="2985261"/>
            <a:ext cx="5296624" cy="2156276"/>
          </a:xfrm>
          <a:custGeom>
            <a:avLst/>
            <a:gdLst/>
            <a:ahLst/>
            <a:cxnLst/>
            <a:rect r="r" b="b" t="t" l="l"/>
            <a:pathLst>
              <a:path h="2156276" w="5296624">
                <a:moveTo>
                  <a:pt x="0" y="0"/>
                </a:moveTo>
                <a:lnTo>
                  <a:pt x="5296624" y="0"/>
                </a:lnTo>
                <a:lnTo>
                  <a:pt x="5296624" y="2156276"/>
                </a:lnTo>
                <a:lnTo>
                  <a:pt x="0" y="2156276"/>
                </a:lnTo>
                <a:lnTo>
                  <a:pt x="0" y="0"/>
                </a:lnTo>
                <a:close/>
              </a:path>
            </a:pathLst>
          </a:custGeom>
          <a:blipFill>
            <a:blip r:embed="rId7"/>
            <a:stretch>
              <a:fillRect l="0" t="0" r="0" b="0"/>
            </a:stretch>
          </a:blipFill>
        </p:spPr>
      </p:sp>
      <p:sp>
        <p:nvSpPr>
          <p:cNvPr name="Freeform 8" id="8"/>
          <p:cNvSpPr/>
          <p:nvPr/>
        </p:nvSpPr>
        <p:spPr>
          <a:xfrm flipH="false" flipV="false" rot="0">
            <a:off x="13327275" y="2674537"/>
            <a:ext cx="3932025" cy="442203"/>
          </a:xfrm>
          <a:custGeom>
            <a:avLst/>
            <a:gdLst/>
            <a:ahLst/>
            <a:cxnLst/>
            <a:rect r="r" b="b" t="t" l="l"/>
            <a:pathLst>
              <a:path h="442203" w="3932025">
                <a:moveTo>
                  <a:pt x="0" y="0"/>
                </a:moveTo>
                <a:lnTo>
                  <a:pt x="3932025" y="0"/>
                </a:lnTo>
                <a:lnTo>
                  <a:pt x="3932025" y="442203"/>
                </a:lnTo>
                <a:lnTo>
                  <a:pt x="0" y="442203"/>
                </a:lnTo>
                <a:lnTo>
                  <a:pt x="0" y="0"/>
                </a:lnTo>
                <a:close/>
              </a:path>
            </a:pathLst>
          </a:custGeom>
          <a:blipFill>
            <a:blip r:embed="rId8"/>
            <a:stretch>
              <a:fillRect l="0" t="0" r="0" b="0"/>
            </a:stretch>
          </a:blipFill>
        </p:spPr>
      </p:sp>
      <p:sp>
        <p:nvSpPr>
          <p:cNvPr name="Freeform 9" id="9"/>
          <p:cNvSpPr/>
          <p:nvPr/>
        </p:nvSpPr>
        <p:spPr>
          <a:xfrm flipH="false" flipV="false" rot="0">
            <a:off x="9891474" y="6394002"/>
            <a:ext cx="5274505" cy="2147271"/>
          </a:xfrm>
          <a:custGeom>
            <a:avLst/>
            <a:gdLst/>
            <a:ahLst/>
            <a:cxnLst/>
            <a:rect r="r" b="b" t="t" l="l"/>
            <a:pathLst>
              <a:path h="2147271" w="5274505">
                <a:moveTo>
                  <a:pt x="0" y="0"/>
                </a:moveTo>
                <a:lnTo>
                  <a:pt x="5274505" y="0"/>
                </a:lnTo>
                <a:lnTo>
                  <a:pt x="5274505" y="2147271"/>
                </a:lnTo>
                <a:lnTo>
                  <a:pt x="0" y="2147271"/>
                </a:lnTo>
                <a:lnTo>
                  <a:pt x="0" y="0"/>
                </a:lnTo>
                <a:close/>
              </a:path>
            </a:pathLst>
          </a:custGeom>
          <a:blipFill>
            <a:blip r:embed="rId9"/>
            <a:stretch>
              <a:fillRect l="0" t="0" r="0" b="0"/>
            </a:stretch>
          </a:blipFill>
        </p:spPr>
      </p:sp>
      <p:sp>
        <p:nvSpPr>
          <p:cNvPr name="Freeform 10" id="10"/>
          <p:cNvSpPr/>
          <p:nvPr/>
        </p:nvSpPr>
        <p:spPr>
          <a:xfrm flipH="false" flipV="false" rot="0">
            <a:off x="11141840" y="6029576"/>
            <a:ext cx="4151448" cy="466880"/>
          </a:xfrm>
          <a:custGeom>
            <a:avLst/>
            <a:gdLst/>
            <a:ahLst/>
            <a:cxnLst/>
            <a:rect r="r" b="b" t="t" l="l"/>
            <a:pathLst>
              <a:path h="466880" w="4151448">
                <a:moveTo>
                  <a:pt x="0" y="0"/>
                </a:moveTo>
                <a:lnTo>
                  <a:pt x="4151448" y="0"/>
                </a:lnTo>
                <a:lnTo>
                  <a:pt x="4151448" y="466880"/>
                </a:lnTo>
                <a:lnTo>
                  <a:pt x="0" y="466880"/>
                </a:lnTo>
                <a:lnTo>
                  <a:pt x="0" y="0"/>
                </a:lnTo>
                <a:close/>
              </a:path>
            </a:pathLst>
          </a:custGeom>
          <a:blipFill>
            <a:blip r:embed="rId10"/>
            <a:stretch>
              <a:fillRect l="0" t="0" r="0" b="0"/>
            </a:stretch>
          </a:blipFill>
        </p:spPr>
      </p:sp>
      <p:grpSp>
        <p:nvGrpSpPr>
          <p:cNvPr name="Group 11" id="11"/>
          <p:cNvGrpSpPr/>
          <p:nvPr/>
        </p:nvGrpSpPr>
        <p:grpSpPr>
          <a:xfrm rot="0">
            <a:off x="6199436" y="2365501"/>
            <a:ext cx="5629891" cy="3086100"/>
            <a:chOff x="0" y="0"/>
            <a:chExt cx="1482770" cy="812800"/>
          </a:xfrm>
        </p:grpSpPr>
        <p:sp>
          <p:nvSpPr>
            <p:cNvPr name="Freeform 12" id="12"/>
            <p:cNvSpPr/>
            <p:nvPr/>
          </p:nvSpPr>
          <p:spPr>
            <a:xfrm flipH="false" flipV="false" rot="0">
              <a:off x="0" y="0"/>
              <a:ext cx="1482770" cy="812800"/>
            </a:xfrm>
            <a:custGeom>
              <a:avLst/>
              <a:gdLst/>
              <a:ahLst/>
              <a:cxnLst/>
              <a:rect r="r" b="b" t="t" l="l"/>
              <a:pathLst>
                <a:path h="812800" w="1482770">
                  <a:moveTo>
                    <a:pt x="70132" y="0"/>
                  </a:moveTo>
                  <a:lnTo>
                    <a:pt x="1412637" y="0"/>
                  </a:lnTo>
                  <a:cubicBezTo>
                    <a:pt x="1451370" y="0"/>
                    <a:pt x="1482770" y="31399"/>
                    <a:pt x="1482770" y="70132"/>
                  </a:cubicBezTo>
                  <a:lnTo>
                    <a:pt x="1482770" y="742668"/>
                  </a:lnTo>
                  <a:cubicBezTo>
                    <a:pt x="1482770" y="761268"/>
                    <a:pt x="1475381" y="779106"/>
                    <a:pt x="1462228" y="792259"/>
                  </a:cubicBezTo>
                  <a:cubicBezTo>
                    <a:pt x="1449076" y="805411"/>
                    <a:pt x="1431237" y="812800"/>
                    <a:pt x="1412637" y="812800"/>
                  </a:cubicBezTo>
                  <a:lnTo>
                    <a:pt x="70132" y="812800"/>
                  </a:lnTo>
                  <a:cubicBezTo>
                    <a:pt x="31399" y="812800"/>
                    <a:pt x="0" y="781401"/>
                    <a:pt x="0" y="742668"/>
                  </a:cubicBezTo>
                  <a:lnTo>
                    <a:pt x="0" y="70132"/>
                  </a:lnTo>
                  <a:cubicBezTo>
                    <a:pt x="0" y="31399"/>
                    <a:pt x="31399" y="0"/>
                    <a:pt x="70132" y="0"/>
                  </a:cubicBezTo>
                  <a:close/>
                </a:path>
              </a:pathLst>
            </a:custGeom>
            <a:ln w="76200" cap="rnd">
              <a:solidFill>
                <a:srgbClr val="000000"/>
              </a:solidFill>
              <a:prstDash val="solid"/>
              <a:round/>
            </a:ln>
          </p:spPr>
        </p:sp>
        <p:sp>
          <p:nvSpPr>
            <p:cNvPr name="TextBox 13" id="13"/>
            <p:cNvSpPr txBox="true"/>
            <p:nvPr/>
          </p:nvSpPr>
          <p:spPr>
            <a:xfrm>
              <a:off x="0" y="-19050"/>
              <a:ext cx="1482770" cy="831850"/>
            </a:xfrm>
            <a:prstGeom prst="rect">
              <a:avLst/>
            </a:prstGeom>
          </p:spPr>
          <p:txBody>
            <a:bodyPr anchor="ctr" rtlCol="false" tIns="50800" lIns="50800" bIns="50800" rIns="50800"/>
            <a:lstStyle/>
            <a:p>
              <a:pPr algn="ctr">
                <a:lnSpc>
                  <a:spcPts val="2384"/>
                </a:lnSpc>
              </a:pPr>
            </a:p>
          </p:txBody>
        </p:sp>
      </p:grpSp>
      <p:sp>
        <p:nvSpPr>
          <p:cNvPr name="TextBox 14" id="14"/>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5 : sélectionner un modèle</a:t>
            </a:r>
          </a:p>
        </p:txBody>
      </p:sp>
      <p:sp>
        <p:nvSpPr>
          <p:cNvPr name="TextBox 15" id="15"/>
          <p:cNvSpPr txBox="true"/>
          <p:nvPr/>
        </p:nvSpPr>
        <p:spPr>
          <a:xfrm rot="0">
            <a:off x="6630339" y="2740810"/>
            <a:ext cx="1110183" cy="275946"/>
          </a:xfrm>
          <a:prstGeom prst="rect">
            <a:avLst/>
          </a:prstGeom>
        </p:spPr>
        <p:txBody>
          <a:bodyPr anchor="t" rtlCol="false" tIns="0" lIns="0" bIns="0" rIns="0">
            <a:spAutoFit/>
          </a:bodyPr>
          <a:lstStyle/>
          <a:p>
            <a:pPr algn="just">
              <a:lnSpc>
                <a:spcPts val="2384"/>
              </a:lnSpc>
              <a:spcBef>
                <a:spcPct val="0"/>
              </a:spcBef>
            </a:pPr>
            <a:r>
              <a:rPr lang="en-US" b="true" sz="1703" i="true">
                <a:solidFill>
                  <a:srgbClr val="FFFFFF"/>
                </a:solidFill>
                <a:latin typeface="Open Sauce Bold Italics"/>
                <a:ea typeface="Open Sauce Bold Italics"/>
                <a:cs typeface="Open Sauce Bold Italics"/>
                <a:sym typeface="Open Sauce Bold Italics"/>
              </a:rPr>
              <a:t>Modèle B</a:t>
            </a:r>
          </a:p>
        </p:txBody>
      </p:sp>
      <p:sp>
        <p:nvSpPr>
          <p:cNvPr name="TextBox 16" id="16"/>
          <p:cNvSpPr txBox="true"/>
          <p:nvPr/>
        </p:nvSpPr>
        <p:spPr>
          <a:xfrm rot="0">
            <a:off x="3638962" y="6069994"/>
            <a:ext cx="1132116" cy="290546"/>
          </a:xfrm>
          <a:prstGeom prst="rect">
            <a:avLst/>
          </a:prstGeom>
        </p:spPr>
        <p:txBody>
          <a:bodyPr anchor="t" rtlCol="false" tIns="0" lIns="0" bIns="0" rIns="0">
            <a:spAutoFit/>
          </a:bodyPr>
          <a:lstStyle/>
          <a:p>
            <a:pPr algn="just">
              <a:lnSpc>
                <a:spcPts val="2431"/>
              </a:lnSpc>
              <a:spcBef>
                <a:spcPct val="0"/>
              </a:spcBef>
            </a:pPr>
            <a:r>
              <a:rPr lang="en-US" b="true" sz="1737" i="true">
                <a:solidFill>
                  <a:srgbClr val="FFFFFF"/>
                </a:solidFill>
                <a:latin typeface="Open Sauce Bold Italics"/>
                <a:ea typeface="Open Sauce Bold Italics"/>
                <a:cs typeface="Open Sauce Bold Italics"/>
                <a:sym typeface="Open Sauce Bold Italics"/>
              </a:rPr>
              <a:t>Modèle D</a:t>
            </a:r>
          </a:p>
        </p:txBody>
      </p:sp>
      <p:sp>
        <p:nvSpPr>
          <p:cNvPr name="TextBox 17" id="17"/>
          <p:cNvSpPr txBox="true"/>
          <p:nvPr/>
        </p:nvSpPr>
        <p:spPr>
          <a:xfrm rot="0">
            <a:off x="12112686" y="2731921"/>
            <a:ext cx="1085719" cy="289335"/>
          </a:xfrm>
          <a:prstGeom prst="rect">
            <a:avLst/>
          </a:prstGeom>
        </p:spPr>
        <p:txBody>
          <a:bodyPr anchor="t" rtlCol="false" tIns="0" lIns="0" bIns="0" rIns="0">
            <a:spAutoFit/>
          </a:bodyPr>
          <a:lstStyle/>
          <a:p>
            <a:pPr algn="just">
              <a:lnSpc>
                <a:spcPts val="2332"/>
              </a:lnSpc>
              <a:spcBef>
                <a:spcPct val="0"/>
              </a:spcBef>
            </a:pPr>
            <a:r>
              <a:rPr lang="en-US" b="true" sz="1665" i="true">
                <a:solidFill>
                  <a:srgbClr val="FFFFFF"/>
                </a:solidFill>
                <a:latin typeface="Open Sauce Bold Italics"/>
                <a:ea typeface="Open Sauce Bold Italics"/>
                <a:cs typeface="Open Sauce Bold Italics"/>
                <a:sym typeface="Open Sauce Bold Italics"/>
              </a:rPr>
              <a:t>Modèle C</a:t>
            </a:r>
          </a:p>
        </p:txBody>
      </p:sp>
      <p:sp>
        <p:nvSpPr>
          <p:cNvPr name="TextBox 18" id="18"/>
          <p:cNvSpPr txBox="true"/>
          <p:nvPr/>
        </p:nvSpPr>
        <p:spPr>
          <a:xfrm rot="0">
            <a:off x="1047513" y="2741208"/>
            <a:ext cx="1110183" cy="275946"/>
          </a:xfrm>
          <a:prstGeom prst="rect">
            <a:avLst/>
          </a:prstGeom>
        </p:spPr>
        <p:txBody>
          <a:bodyPr anchor="t" rtlCol="false" tIns="0" lIns="0" bIns="0" rIns="0">
            <a:spAutoFit/>
          </a:bodyPr>
          <a:lstStyle/>
          <a:p>
            <a:pPr algn="just">
              <a:lnSpc>
                <a:spcPts val="2384"/>
              </a:lnSpc>
              <a:spcBef>
                <a:spcPct val="0"/>
              </a:spcBef>
            </a:pPr>
            <a:r>
              <a:rPr lang="en-US" b="true" sz="1703" i="true">
                <a:solidFill>
                  <a:srgbClr val="FFFFFF"/>
                </a:solidFill>
                <a:latin typeface="Open Sauce Bold Italics"/>
                <a:ea typeface="Open Sauce Bold Italics"/>
                <a:cs typeface="Open Sauce Bold Italics"/>
                <a:sym typeface="Open Sauce Bold Italics"/>
              </a:rPr>
              <a:t>Modèle A</a:t>
            </a:r>
          </a:p>
        </p:txBody>
      </p:sp>
      <p:sp>
        <p:nvSpPr>
          <p:cNvPr name="TextBox 19" id="19"/>
          <p:cNvSpPr txBox="true"/>
          <p:nvPr/>
        </p:nvSpPr>
        <p:spPr>
          <a:xfrm rot="0">
            <a:off x="9948254" y="6103456"/>
            <a:ext cx="1132116" cy="290546"/>
          </a:xfrm>
          <a:prstGeom prst="rect">
            <a:avLst/>
          </a:prstGeom>
        </p:spPr>
        <p:txBody>
          <a:bodyPr anchor="t" rtlCol="false" tIns="0" lIns="0" bIns="0" rIns="0">
            <a:spAutoFit/>
          </a:bodyPr>
          <a:lstStyle/>
          <a:p>
            <a:pPr algn="just">
              <a:lnSpc>
                <a:spcPts val="2431"/>
              </a:lnSpc>
              <a:spcBef>
                <a:spcPct val="0"/>
              </a:spcBef>
            </a:pPr>
            <a:r>
              <a:rPr lang="en-US" b="true" sz="1737" i="true">
                <a:solidFill>
                  <a:srgbClr val="FFFFFF"/>
                </a:solidFill>
                <a:latin typeface="Open Sauce Bold Italics"/>
                <a:ea typeface="Open Sauce Bold Italics"/>
                <a:cs typeface="Open Sauce Bold Italics"/>
                <a:sym typeface="Open Sauce Bold Italics"/>
              </a:rPr>
              <a:t>Modèle E</a:t>
            </a:r>
          </a:p>
        </p:txBody>
      </p:sp>
      <p:sp>
        <p:nvSpPr>
          <p:cNvPr name="Freeform 20" id="20"/>
          <p:cNvSpPr/>
          <p:nvPr/>
        </p:nvSpPr>
        <p:spPr>
          <a:xfrm flipH="false" flipV="false" rot="0">
            <a:off x="3638962" y="6467633"/>
            <a:ext cx="5274505" cy="2147271"/>
          </a:xfrm>
          <a:custGeom>
            <a:avLst/>
            <a:gdLst/>
            <a:ahLst/>
            <a:cxnLst/>
            <a:rect r="r" b="b" t="t" l="l"/>
            <a:pathLst>
              <a:path h="2147271" w="5274505">
                <a:moveTo>
                  <a:pt x="0" y="0"/>
                </a:moveTo>
                <a:lnTo>
                  <a:pt x="5274505" y="0"/>
                </a:lnTo>
                <a:lnTo>
                  <a:pt x="5274505" y="2147271"/>
                </a:lnTo>
                <a:lnTo>
                  <a:pt x="0" y="2147271"/>
                </a:lnTo>
                <a:lnTo>
                  <a:pt x="0" y="0"/>
                </a:lnTo>
                <a:close/>
              </a:path>
            </a:pathLst>
          </a:custGeom>
          <a:blipFill>
            <a:blip r:embed="rId9"/>
            <a:stretch>
              <a:fillRect l="0" t="0" r="0" b="0"/>
            </a:stretch>
          </a:blipFill>
        </p:spPr>
      </p:sp>
      <p:sp>
        <p:nvSpPr>
          <p:cNvPr name="Freeform 21" id="21"/>
          <p:cNvSpPr/>
          <p:nvPr/>
        </p:nvSpPr>
        <p:spPr>
          <a:xfrm flipH="false" flipV="false" rot="0">
            <a:off x="4815823" y="6029576"/>
            <a:ext cx="4151448" cy="466880"/>
          </a:xfrm>
          <a:custGeom>
            <a:avLst/>
            <a:gdLst/>
            <a:ahLst/>
            <a:cxnLst/>
            <a:rect r="r" b="b" t="t" l="l"/>
            <a:pathLst>
              <a:path h="466880" w="4151448">
                <a:moveTo>
                  <a:pt x="0" y="0"/>
                </a:moveTo>
                <a:lnTo>
                  <a:pt x="4151448" y="0"/>
                </a:lnTo>
                <a:lnTo>
                  <a:pt x="4151448" y="466880"/>
                </a:lnTo>
                <a:lnTo>
                  <a:pt x="0" y="466880"/>
                </a:lnTo>
                <a:lnTo>
                  <a:pt x="0" y="0"/>
                </a:lnTo>
                <a:close/>
              </a:path>
            </a:pathLst>
          </a:custGeom>
          <a:blipFill>
            <a:blip r:embed="rId10"/>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grpSp>
        <p:nvGrpSpPr>
          <p:cNvPr name="Group 3" id="3"/>
          <p:cNvGrpSpPr/>
          <p:nvPr/>
        </p:nvGrpSpPr>
        <p:grpSpPr>
          <a:xfrm rot="0">
            <a:off x="2425155" y="2204503"/>
            <a:ext cx="13084230" cy="7231067"/>
            <a:chOff x="0" y="0"/>
            <a:chExt cx="17445640" cy="9641422"/>
          </a:xfrm>
        </p:grpSpPr>
        <p:sp>
          <p:nvSpPr>
            <p:cNvPr name="Freeform 4" id="4"/>
            <p:cNvSpPr/>
            <p:nvPr/>
          </p:nvSpPr>
          <p:spPr>
            <a:xfrm flipH="false" flipV="false" rot="0">
              <a:off x="0" y="0"/>
              <a:ext cx="9764867" cy="9641422"/>
            </a:xfrm>
            <a:custGeom>
              <a:avLst/>
              <a:gdLst/>
              <a:ahLst/>
              <a:cxnLst/>
              <a:rect r="r" b="b" t="t" l="l"/>
              <a:pathLst>
                <a:path h="9641422" w="9764867">
                  <a:moveTo>
                    <a:pt x="0" y="0"/>
                  </a:moveTo>
                  <a:lnTo>
                    <a:pt x="9764867" y="0"/>
                  </a:lnTo>
                  <a:lnTo>
                    <a:pt x="9764867" y="9641422"/>
                  </a:lnTo>
                  <a:lnTo>
                    <a:pt x="0" y="9641422"/>
                  </a:lnTo>
                  <a:lnTo>
                    <a:pt x="0" y="0"/>
                  </a:lnTo>
                  <a:close/>
                </a:path>
              </a:pathLst>
            </a:custGeom>
            <a:blipFill>
              <a:blip r:embed="rId3"/>
              <a:stretch>
                <a:fillRect l="0" t="0" r="-111930" b="-9736"/>
              </a:stretch>
            </a:blipFill>
          </p:spPr>
        </p:sp>
        <p:sp>
          <p:nvSpPr>
            <p:cNvPr name="Freeform 5" id="5"/>
            <p:cNvSpPr/>
            <p:nvPr/>
          </p:nvSpPr>
          <p:spPr>
            <a:xfrm flipH="false" flipV="false" rot="0">
              <a:off x="5633618" y="5087218"/>
              <a:ext cx="615666" cy="764803"/>
            </a:xfrm>
            <a:custGeom>
              <a:avLst/>
              <a:gdLst/>
              <a:ahLst/>
              <a:cxnLst/>
              <a:rect r="r" b="b" t="t" l="l"/>
              <a:pathLst>
                <a:path h="764803" w="615666">
                  <a:moveTo>
                    <a:pt x="0" y="0"/>
                  </a:moveTo>
                  <a:lnTo>
                    <a:pt x="615666" y="0"/>
                  </a:lnTo>
                  <a:lnTo>
                    <a:pt x="615666" y="764803"/>
                  </a:lnTo>
                  <a:lnTo>
                    <a:pt x="0" y="7648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680773" y="0"/>
              <a:ext cx="9764867" cy="9641422"/>
            </a:xfrm>
            <a:custGeom>
              <a:avLst/>
              <a:gdLst/>
              <a:ahLst/>
              <a:cxnLst/>
              <a:rect r="r" b="b" t="t" l="l"/>
              <a:pathLst>
                <a:path h="9641422" w="9764867">
                  <a:moveTo>
                    <a:pt x="0" y="0"/>
                  </a:moveTo>
                  <a:lnTo>
                    <a:pt x="9764867" y="0"/>
                  </a:lnTo>
                  <a:lnTo>
                    <a:pt x="9764867" y="9641422"/>
                  </a:lnTo>
                  <a:lnTo>
                    <a:pt x="0" y="9641422"/>
                  </a:lnTo>
                  <a:lnTo>
                    <a:pt x="0" y="0"/>
                  </a:lnTo>
                  <a:close/>
                </a:path>
              </a:pathLst>
            </a:custGeom>
            <a:blipFill>
              <a:blip r:embed="rId3"/>
              <a:stretch>
                <a:fillRect l="-111930" t="0" r="0" b="-9736"/>
              </a:stretch>
            </a:blipFill>
          </p:spPr>
        </p:sp>
        <p:sp>
          <p:nvSpPr>
            <p:cNvPr name="Freeform 7" id="7"/>
            <p:cNvSpPr/>
            <p:nvPr/>
          </p:nvSpPr>
          <p:spPr>
            <a:xfrm flipH="false" flipV="false" rot="0">
              <a:off x="0" y="802133"/>
              <a:ext cx="17445640" cy="8570171"/>
            </a:xfrm>
            <a:custGeom>
              <a:avLst/>
              <a:gdLst/>
              <a:ahLst/>
              <a:cxnLst/>
              <a:rect r="r" b="b" t="t" l="l"/>
              <a:pathLst>
                <a:path h="8570171" w="17445640">
                  <a:moveTo>
                    <a:pt x="0" y="0"/>
                  </a:moveTo>
                  <a:lnTo>
                    <a:pt x="17445640" y="0"/>
                  </a:lnTo>
                  <a:lnTo>
                    <a:pt x="17445640" y="8570170"/>
                  </a:lnTo>
                  <a:lnTo>
                    <a:pt x="0" y="8570170"/>
                  </a:lnTo>
                  <a:lnTo>
                    <a:pt x="0" y="0"/>
                  </a:lnTo>
                  <a:close/>
                </a:path>
              </a:pathLst>
            </a:custGeom>
            <a:blipFill>
              <a:blip r:embed="rId6"/>
              <a:stretch>
                <a:fillRect l="0" t="0" r="0" b="0"/>
              </a:stretch>
            </a:blipFill>
          </p:spPr>
        </p:sp>
      </p:grpSp>
      <p:sp>
        <p:nvSpPr>
          <p:cNvPr name="TextBox 8" id="8"/>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6 : évaluer le modèle</a:t>
            </a:r>
          </a:p>
        </p:txBody>
      </p:sp>
      <p:sp>
        <p:nvSpPr>
          <p:cNvPr name="Freeform 9" id="9"/>
          <p:cNvSpPr/>
          <p:nvPr/>
        </p:nvSpPr>
        <p:spPr>
          <a:xfrm flipH="false" flipV="false" rot="0">
            <a:off x="6343424" y="6046664"/>
            <a:ext cx="430125" cy="534317"/>
          </a:xfrm>
          <a:custGeom>
            <a:avLst/>
            <a:gdLst/>
            <a:ahLst/>
            <a:cxnLst/>
            <a:rect r="r" b="b" t="t" l="l"/>
            <a:pathLst>
              <a:path h="534317" w="430125">
                <a:moveTo>
                  <a:pt x="0" y="0"/>
                </a:moveTo>
                <a:lnTo>
                  <a:pt x="430125" y="0"/>
                </a:lnTo>
                <a:lnTo>
                  <a:pt x="430125" y="534317"/>
                </a:lnTo>
                <a:lnTo>
                  <a:pt x="0" y="5343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727478" cy="746878"/>
          </a:xfrm>
          <a:custGeom>
            <a:avLst/>
            <a:gdLst/>
            <a:ahLst/>
            <a:cxnLst/>
            <a:rect r="r" b="b" t="t" l="l"/>
            <a:pathLst>
              <a:path h="746878" w="727478">
                <a:moveTo>
                  <a:pt x="0" y="0"/>
                </a:moveTo>
                <a:lnTo>
                  <a:pt x="727478" y="0"/>
                </a:lnTo>
                <a:lnTo>
                  <a:pt x="727478" y="746878"/>
                </a:lnTo>
                <a:lnTo>
                  <a:pt x="0" y="746878"/>
                </a:lnTo>
                <a:lnTo>
                  <a:pt x="0" y="0"/>
                </a:lnTo>
                <a:close/>
              </a:path>
            </a:pathLst>
          </a:custGeom>
          <a:blipFill>
            <a:blip r:embed="rId2"/>
            <a:stretch>
              <a:fillRect l="0" t="0" r="0" b="0"/>
            </a:stretch>
          </a:blipFill>
        </p:spPr>
      </p:sp>
      <p:sp>
        <p:nvSpPr>
          <p:cNvPr name="Freeform 3" id="3"/>
          <p:cNvSpPr/>
          <p:nvPr/>
        </p:nvSpPr>
        <p:spPr>
          <a:xfrm flipH="false" flipV="false" rot="0">
            <a:off x="2425155" y="2288319"/>
            <a:ext cx="13579388" cy="6857591"/>
          </a:xfrm>
          <a:custGeom>
            <a:avLst/>
            <a:gdLst/>
            <a:ahLst/>
            <a:cxnLst/>
            <a:rect r="r" b="b" t="t" l="l"/>
            <a:pathLst>
              <a:path h="6857591" w="13579388">
                <a:moveTo>
                  <a:pt x="0" y="0"/>
                </a:moveTo>
                <a:lnTo>
                  <a:pt x="13579388" y="0"/>
                </a:lnTo>
                <a:lnTo>
                  <a:pt x="13579388" y="6857591"/>
                </a:lnTo>
                <a:lnTo>
                  <a:pt x="0" y="6857591"/>
                </a:lnTo>
                <a:lnTo>
                  <a:pt x="0" y="0"/>
                </a:lnTo>
                <a:close/>
              </a:path>
            </a:pathLst>
          </a:custGeom>
          <a:blipFill>
            <a:blip r:embed="rId3"/>
            <a:stretch>
              <a:fillRect l="0" t="0" r="0" b="0"/>
            </a:stretch>
          </a:blipFill>
        </p:spPr>
      </p:sp>
      <p:sp>
        <p:nvSpPr>
          <p:cNvPr name="TextBox 4" id="4"/>
          <p:cNvSpPr txBox="true"/>
          <p:nvPr/>
        </p:nvSpPr>
        <p:spPr>
          <a:xfrm rot="0">
            <a:off x="1929998" y="923925"/>
            <a:ext cx="14074546"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Étape 7 : étendre les prédictions</a:t>
            </a:r>
          </a:p>
        </p:txBody>
      </p:sp>
      <p:sp>
        <p:nvSpPr>
          <p:cNvPr name="Freeform 5" id="5"/>
          <p:cNvSpPr/>
          <p:nvPr/>
        </p:nvSpPr>
        <p:spPr>
          <a:xfrm flipH="false" flipV="false" rot="0">
            <a:off x="9704779" y="6127660"/>
            <a:ext cx="430125" cy="534317"/>
          </a:xfrm>
          <a:custGeom>
            <a:avLst/>
            <a:gdLst/>
            <a:ahLst/>
            <a:cxnLst/>
            <a:rect r="r" b="b" t="t" l="l"/>
            <a:pathLst>
              <a:path h="534317" w="430125">
                <a:moveTo>
                  <a:pt x="0" y="0"/>
                </a:moveTo>
                <a:lnTo>
                  <a:pt x="430126" y="0"/>
                </a:lnTo>
                <a:lnTo>
                  <a:pt x="430126" y="534318"/>
                </a:lnTo>
                <a:lnTo>
                  <a:pt x="0" y="5343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10786" y="1237550"/>
            <a:ext cx="8705918" cy="6501888"/>
          </a:xfrm>
          <a:custGeom>
            <a:avLst/>
            <a:gdLst/>
            <a:ahLst/>
            <a:cxnLst/>
            <a:rect r="r" b="b" t="t" l="l"/>
            <a:pathLst>
              <a:path h="6501888" w="8705918">
                <a:moveTo>
                  <a:pt x="0" y="0"/>
                </a:moveTo>
                <a:lnTo>
                  <a:pt x="8705918" y="0"/>
                </a:lnTo>
                <a:lnTo>
                  <a:pt x="8705918" y="6501888"/>
                </a:lnTo>
                <a:lnTo>
                  <a:pt x="0" y="6501888"/>
                </a:lnTo>
                <a:lnTo>
                  <a:pt x="0" y="0"/>
                </a:lnTo>
                <a:close/>
              </a:path>
            </a:pathLst>
          </a:custGeom>
          <a:blipFill>
            <a:blip r:embed="rId2"/>
            <a:stretch>
              <a:fillRect l="0" t="0" r="0" b="0"/>
            </a:stretch>
          </a:blipFill>
        </p:spPr>
      </p:sp>
      <p:sp>
        <p:nvSpPr>
          <p:cNvPr name="Freeform 3" id="3"/>
          <p:cNvSpPr/>
          <p:nvPr/>
        </p:nvSpPr>
        <p:spPr>
          <a:xfrm flipH="false" flipV="false" rot="0">
            <a:off x="1289513" y="4633798"/>
            <a:ext cx="5985100" cy="4218102"/>
          </a:xfrm>
          <a:custGeom>
            <a:avLst/>
            <a:gdLst/>
            <a:ahLst/>
            <a:cxnLst/>
            <a:rect r="r" b="b" t="t" l="l"/>
            <a:pathLst>
              <a:path h="4218102" w="5985100">
                <a:moveTo>
                  <a:pt x="0" y="0"/>
                </a:moveTo>
                <a:lnTo>
                  <a:pt x="5985100" y="0"/>
                </a:lnTo>
                <a:lnTo>
                  <a:pt x="5985100" y="4218102"/>
                </a:lnTo>
                <a:lnTo>
                  <a:pt x="0" y="4218102"/>
                </a:lnTo>
                <a:lnTo>
                  <a:pt x="0" y="0"/>
                </a:lnTo>
                <a:close/>
              </a:path>
            </a:pathLst>
          </a:custGeom>
          <a:blipFill>
            <a:blip r:embed="rId3"/>
            <a:stretch>
              <a:fillRect l="0" t="-15895" r="0" b="0"/>
            </a:stretch>
          </a:blipFill>
        </p:spPr>
      </p:sp>
      <p:sp>
        <p:nvSpPr>
          <p:cNvPr name="TextBox 4" id="4"/>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Résultats</a:t>
            </a:r>
          </a:p>
        </p:txBody>
      </p:sp>
      <p:sp>
        <p:nvSpPr>
          <p:cNvPr name="TextBox 5" id="5"/>
          <p:cNvSpPr txBox="true"/>
          <p:nvPr/>
        </p:nvSpPr>
        <p:spPr>
          <a:xfrm rot="0">
            <a:off x="1289513" y="2497549"/>
            <a:ext cx="5693746" cy="860425"/>
          </a:xfrm>
          <a:prstGeom prst="rect">
            <a:avLst/>
          </a:prstGeom>
        </p:spPr>
        <p:txBody>
          <a:bodyPr anchor="t" rtlCol="false" tIns="0" lIns="0" bIns="0" rIns="0">
            <a:spAutoFit/>
          </a:bodyPr>
          <a:lstStyle/>
          <a:p>
            <a:pPr algn="l">
              <a:lnSpc>
                <a:spcPts val="3499"/>
              </a:lnSpc>
            </a:pPr>
            <a:r>
              <a:rPr lang="en-US" sz="2499">
                <a:solidFill>
                  <a:srgbClr val="000000"/>
                </a:solidFill>
                <a:latin typeface="Open Sauce"/>
                <a:ea typeface="Open Sauce"/>
                <a:cs typeface="Open Sauce"/>
                <a:sym typeface="Open Sauce"/>
              </a:rPr>
              <a:t>(RQ1) : Pratique minoritaire mais non marginale. </a:t>
            </a:r>
          </a:p>
        </p:txBody>
      </p:sp>
      <p:sp>
        <p:nvSpPr>
          <p:cNvPr name="TextBox 6" id="6"/>
          <p:cNvSpPr txBox="true"/>
          <p:nvPr/>
        </p:nvSpPr>
        <p:spPr>
          <a:xfrm rot="0">
            <a:off x="8835615" y="8397875"/>
            <a:ext cx="8882565" cy="860425"/>
          </a:xfrm>
          <a:prstGeom prst="rect">
            <a:avLst/>
          </a:prstGeom>
        </p:spPr>
        <p:txBody>
          <a:bodyPr anchor="t" rtlCol="false" tIns="0" lIns="0" bIns="0" rIns="0">
            <a:spAutoFit/>
          </a:bodyPr>
          <a:lstStyle/>
          <a:p>
            <a:pPr algn="l">
              <a:lnSpc>
                <a:spcPts val="3499"/>
              </a:lnSpc>
            </a:pPr>
            <a:r>
              <a:rPr lang="en-US" sz="2499">
                <a:solidFill>
                  <a:srgbClr val="000000"/>
                </a:solidFill>
                <a:latin typeface="Open Sauce"/>
                <a:ea typeface="Open Sauce"/>
                <a:cs typeface="Open Sauce"/>
                <a:sym typeface="Open Sauce"/>
              </a:rPr>
              <a:t>(RQ3) : Les amendements “source” ne sont pas davantage adoptés que les “non-source”.</a:t>
            </a:r>
          </a:p>
        </p:txBody>
      </p:sp>
      <p:sp>
        <p:nvSpPr>
          <p:cNvPr name="TextBox 7" id="7"/>
          <p:cNvSpPr txBox="true"/>
          <p:nvPr/>
        </p:nvSpPr>
        <p:spPr>
          <a:xfrm rot="0">
            <a:off x="9144000" y="7701338"/>
            <a:ext cx="8900691" cy="217170"/>
          </a:xfrm>
          <a:prstGeom prst="rect">
            <a:avLst/>
          </a:prstGeom>
        </p:spPr>
        <p:txBody>
          <a:bodyPr anchor="t" rtlCol="false" tIns="0" lIns="0" bIns="0" rIns="0">
            <a:spAutoFit/>
          </a:bodyPr>
          <a:lstStyle/>
          <a:p>
            <a:pPr algn="l">
              <a:lnSpc>
                <a:spcPts val="1679"/>
              </a:lnSpc>
            </a:pPr>
            <a:r>
              <a:rPr lang="en-US" sz="1199">
                <a:solidFill>
                  <a:srgbClr val="000000"/>
                </a:solidFill>
                <a:latin typeface="Times New Roman"/>
                <a:ea typeface="Times New Roman"/>
                <a:cs typeface="Times New Roman"/>
                <a:sym typeface="Times New Roman"/>
              </a:rPr>
              <a:t>*à l’exclusion des amendements dont l’exposé sommaire est null ou d’une longueur &gt;1024 tokens.</a:t>
            </a:r>
          </a:p>
        </p:txBody>
      </p:sp>
      <p:sp>
        <p:nvSpPr>
          <p:cNvPr name="TextBox 8" id="8"/>
          <p:cNvSpPr txBox="true"/>
          <p:nvPr/>
        </p:nvSpPr>
        <p:spPr>
          <a:xfrm rot="0">
            <a:off x="2005034" y="4190617"/>
            <a:ext cx="4554057" cy="443180"/>
          </a:xfrm>
          <a:prstGeom prst="rect">
            <a:avLst/>
          </a:prstGeom>
        </p:spPr>
        <p:txBody>
          <a:bodyPr anchor="t" rtlCol="false" tIns="0" lIns="0" bIns="0" rIns="0">
            <a:spAutoFit/>
          </a:bodyPr>
          <a:lstStyle/>
          <a:p>
            <a:pPr algn="ctr">
              <a:lnSpc>
                <a:spcPts val="1706"/>
              </a:lnSpc>
            </a:pPr>
            <a:r>
              <a:rPr lang="en-US" sz="1580">
                <a:solidFill>
                  <a:srgbClr val="000000"/>
                </a:solidFill>
                <a:latin typeface="Times New Roman"/>
                <a:ea typeface="Times New Roman"/>
                <a:cs typeface="Times New Roman"/>
                <a:sym typeface="Times New Roman"/>
              </a:rPr>
              <a:t>Répartition des amendements de la XVIIème législature* selon leur sourcing (en %)</a:t>
            </a:r>
          </a:p>
        </p:txBody>
      </p:sp>
      <p:sp>
        <p:nvSpPr>
          <p:cNvPr name="TextBox 9" id="9"/>
          <p:cNvSpPr txBox="true"/>
          <p:nvPr/>
        </p:nvSpPr>
        <p:spPr>
          <a:xfrm rot="0">
            <a:off x="1289513" y="8634730"/>
            <a:ext cx="8900691" cy="217170"/>
          </a:xfrm>
          <a:prstGeom prst="rect">
            <a:avLst/>
          </a:prstGeom>
        </p:spPr>
        <p:txBody>
          <a:bodyPr anchor="t" rtlCol="false" tIns="0" lIns="0" bIns="0" rIns="0">
            <a:spAutoFit/>
          </a:bodyPr>
          <a:lstStyle/>
          <a:p>
            <a:pPr algn="l">
              <a:lnSpc>
                <a:spcPts val="1679"/>
              </a:lnSpc>
            </a:pPr>
            <a:r>
              <a:rPr lang="en-US" sz="1199">
                <a:solidFill>
                  <a:srgbClr val="000000"/>
                </a:solidFill>
                <a:latin typeface="Times New Roman"/>
                <a:ea typeface="Times New Roman"/>
                <a:cs typeface="Times New Roman"/>
                <a:sym typeface="Times New Roman"/>
              </a:rPr>
              <a:t>*à l’exclusion des amendements dont l’exposé sommaire est null ou d’une longueur &gt;1024 tokens.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82466" y="4763146"/>
            <a:ext cx="5345860" cy="4246467"/>
          </a:xfrm>
          <a:custGeom>
            <a:avLst/>
            <a:gdLst/>
            <a:ahLst/>
            <a:cxnLst/>
            <a:rect r="r" b="b" t="t" l="l"/>
            <a:pathLst>
              <a:path h="4246467" w="5345860">
                <a:moveTo>
                  <a:pt x="0" y="0"/>
                </a:moveTo>
                <a:lnTo>
                  <a:pt x="5345860" y="0"/>
                </a:lnTo>
                <a:lnTo>
                  <a:pt x="5345860" y="4246467"/>
                </a:lnTo>
                <a:lnTo>
                  <a:pt x="0" y="4246467"/>
                </a:lnTo>
                <a:lnTo>
                  <a:pt x="0" y="0"/>
                </a:lnTo>
                <a:close/>
              </a:path>
            </a:pathLst>
          </a:custGeom>
          <a:blipFill>
            <a:blip r:embed="rId2"/>
            <a:stretch>
              <a:fillRect l="0" t="0" r="0" b="0"/>
            </a:stretch>
          </a:blipFill>
        </p:spPr>
      </p:sp>
      <p:sp>
        <p:nvSpPr>
          <p:cNvPr name="Freeform 3" id="3"/>
          <p:cNvSpPr/>
          <p:nvPr/>
        </p:nvSpPr>
        <p:spPr>
          <a:xfrm flipH="false" flipV="false" rot="0">
            <a:off x="1028700" y="2059389"/>
            <a:ext cx="8882565" cy="7167614"/>
          </a:xfrm>
          <a:custGeom>
            <a:avLst/>
            <a:gdLst/>
            <a:ahLst/>
            <a:cxnLst/>
            <a:rect r="r" b="b" t="t" l="l"/>
            <a:pathLst>
              <a:path h="7167614" w="8882565">
                <a:moveTo>
                  <a:pt x="0" y="0"/>
                </a:moveTo>
                <a:lnTo>
                  <a:pt x="8882565" y="0"/>
                </a:lnTo>
                <a:lnTo>
                  <a:pt x="8882565" y="7167615"/>
                </a:lnTo>
                <a:lnTo>
                  <a:pt x="0" y="7167615"/>
                </a:lnTo>
                <a:lnTo>
                  <a:pt x="0" y="0"/>
                </a:lnTo>
                <a:close/>
              </a:path>
            </a:pathLst>
          </a:custGeom>
          <a:blipFill>
            <a:blip r:embed="rId3"/>
            <a:stretch>
              <a:fillRect l="0" t="0" r="0" b="0"/>
            </a:stretch>
          </a:blipFill>
        </p:spPr>
      </p:sp>
      <p:sp>
        <p:nvSpPr>
          <p:cNvPr name="TextBox 4" id="4"/>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Résultats</a:t>
            </a:r>
          </a:p>
        </p:txBody>
      </p:sp>
      <p:sp>
        <p:nvSpPr>
          <p:cNvPr name="TextBox 5" id="5"/>
          <p:cNvSpPr txBox="true"/>
          <p:nvPr/>
        </p:nvSpPr>
        <p:spPr>
          <a:xfrm rot="0">
            <a:off x="9144000" y="1824439"/>
            <a:ext cx="8882565" cy="422275"/>
          </a:xfrm>
          <a:prstGeom prst="rect">
            <a:avLst/>
          </a:prstGeom>
        </p:spPr>
        <p:txBody>
          <a:bodyPr anchor="t" rtlCol="false" tIns="0" lIns="0" bIns="0" rIns="0">
            <a:spAutoFit/>
          </a:bodyPr>
          <a:lstStyle/>
          <a:p>
            <a:pPr algn="l">
              <a:lnSpc>
                <a:spcPts val="3499"/>
              </a:lnSpc>
            </a:pPr>
            <a:r>
              <a:rPr lang="en-US" sz="2499">
                <a:solidFill>
                  <a:srgbClr val="000000"/>
                </a:solidFill>
                <a:latin typeface="Open Sauce"/>
                <a:ea typeface="Open Sauce"/>
                <a:cs typeface="Open Sauce"/>
                <a:sym typeface="Open Sauce"/>
              </a:rPr>
              <a:t>(RQ2) : Différence substantielle entre groupes politiques.</a:t>
            </a:r>
          </a:p>
        </p:txBody>
      </p:sp>
      <p:sp>
        <p:nvSpPr>
          <p:cNvPr name="TextBox 6" id="6"/>
          <p:cNvSpPr txBox="true"/>
          <p:nvPr/>
        </p:nvSpPr>
        <p:spPr>
          <a:xfrm rot="0">
            <a:off x="1590590" y="9220200"/>
            <a:ext cx="8900691" cy="217170"/>
          </a:xfrm>
          <a:prstGeom prst="rect">
            <a:avLst/>
          </a:prstGeom>
        </p:spPr>
        <p:txBody>
          <a:bodyPr anchor="t" rtlCol="false" tIns="0" lIns="0" bIns="0" rIns="0">
            <a:spAutoFit/>
          </a:bodyPr>
          <a:lstStyle/>
          <a:p>
            <a:pPr algn="l">
              <a:lnSpc>
                <a:spcPts val="1679"/>
              </a:lnSpc>
            </a:pPr>
            <a:r>
              <a:rPr lang="en-US" sz="1199">
                <a:solidFill>
                  <a:srgbClr val="000000"/>
                </a:solidFill>
                <a:latin typeface="Times New Roman"/>
                <a:ea typeface="Times New Roman"/>
                <a:cs typeface="Times New Roman"/>
                <a:sym typeface="Times New Roman"/>
              </a:rPr>
              <a:t>*à l’exclusion des amendements dont l’exposé sommaire est null ou d’une longueur &gt;1024 tokens.</a:t>
            </a:r>
          </a:p>
        </p:txBody>
      </p:sp>
      <p:sp>
        <p:nvSpPr>
          <p:cNvPr name="TextBox 7" id="7"/>
          <p:cNvSpPr txBox="true"/>
          <p:nvPr/>
        </p:nvSpPr>
        <p:spPr>
          <a:xfrm rot="0">
            <a:off x="9314274" y="4362568"/>
            <a:ext cx="3815954"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Open Sauce"/>
                <a:ea typeface="Open Sauce"/>
                <a:cs typeface="Open Sauce"/>
                <a:sym typeface="Open Sauce"/>
              </a:rPr>
              <a:t>À mettre au regard du volume des amendements déposés </a:t>
            </a:r>
          </a:p>
        </p:txBody>
      </p:sp>
      <p:sp>
        <p:nvSpPr>
          <p:cNvPr name="TextBox 8" id="8"/>
          <p:cNvSpPr txBox="true"/>
          <p:nvPr/>
        </p:nvSpPr>
        <p:spPr>
          <a:xfrm rot="0">
            <a:off x="9314274" y="2769177"/>
            <a:ext cx="7131983" cy="8604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Open Sauce"/>
                <a:ea typeface="Open Sauce"/>
                <a:cs typeface="Open Sauce"/>
                <a:sym typeface="Open Sauce"/>
              </a:rPr>
              <a:t>Les NI et LIOT sont-ils plus soumis à influence ou plus transparents ?</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Intérêt, limites</a:t>
            </a:r>
          </a:p>
        </p:txBody>
      </p:sp>
      <p:sp>
        <p:nvSpPr>
          <p:cNvPr name="TextBox 3" id="3"/>
          <p:cNvSpPr txBox="true"/>
          <p:nvPr/>
        </p:nvSpPr>
        <p:spPr>
          <a:xfrm rot="0">
            <a:off x="1028700" y="2214441"/>
            <a:ext cx="16518261" cy="523875"/>
          </a:xfrm>
          <a:prstGeom prst="rect">
            <a:avLst/>
          </a:prstGeom>
        </p:spPr>
        <p:txBody>
          <a:bodyPr anchor="t" rtlCol="false" tIns="0" lIns="0" bIns="0" rIns="0">
            <a:spAutoFit/>
          </a:bodyPr>
          <a:lstStyle/>
          <a:p>
            <a:pPr algn="ctr">
              <a:lnSpc>
                <a:spcPts val="4200"/>
              </a:lnSpc>
            </a:pPr>
            <a:r>
              <a:rPr lang="en-US" b="true" sz="3000">
                <a:solidFill>
                  <a:srgbClr val="E98E2D"/>
                </a:solidFill>
                <a:latin typeface="Open Sauce Bold"/>
                <a:ea typeface="Open Sauce Bold"/>
                <a:cs typeface="Open Sauce Bold"/>
                <a:sym typeface="Open Sauce Bold"/>
              </a:rPr>
              <a:t>Est-ce qu’un decoder (Claude, ChatGPT) aurait pu le faire ?</a:t>
            </a:r>
          </a:p>
        </p:txBody>
      </p:sp>
      <p:sp>
        <p:nvSpPr>
          <p:cNvPr name="TextBox 4" id="4"/>
          <p:cNvSpPr txBox="true"/>
          <p:nvPr/>
        </p:nvSpPr>
        <p:spPr>
          <a:xfrm rot="0">
            <a:off x="1028700" y="3306362"/>
            <a:ext cx="14815226"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Si le codebook est déjà optimal, oui.</a:t>
            </a:r>
          </a:p>
        </p:txBody>
      </p:sp>
      <p:sp>
        <p:nvSpPr>
          <p:cNvPr name="TextBox 5" id="5"/>
          <p:cNvSpPr txBox="true"/>
          <p:nvPr/>
        </p:nvSpPr>
        <p:spPr>
          <a:xfrm rot="0">
            <a:off x="1920485" y="4287437"/>
            <a:ext cx="14815226" cy="26574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MAIS mettre en perspective la nature de notre cas : </a:t>
            </a:r>
          </a:p>
          <a:p>
            <a:pPr algn="l" marL="647700" indent="-323850" lvl="1">
              <a:lnSpc>
                <a:spcPts val="4200"/>
              </a:lnSpc>
              <a:buFont typeface="Arial"/>
              <a:buChar char="•"/>
            </a:pPr>
            <a:r>
              <a:rPr lang="en-US" sz="3000">
                <a:solidFill>
                  <a:srgbClr val="000000"/>
                </a:solidFill>
                <a:latin typeface="Open Sauce"/>
                <a:ea typeface="Open Sauce"/>
                <a:cs typeface="Open Sauce"/>
                <a:sym typeface="Open Sauce"/>
              </a:rPr>
              <a:t>Codebook amélioré :</a:t>
            </a:r>
            <a:r>
              <a:rPr lang="en-US" b="true" sz="3000">
                <a:solidFill>
                  <a:srgbClr val="000000"/>
                </a:solidFill>
                <a:latin typeface="Open Sauce Bold"/>
                <a:ea typeface="Open Sauce Bold"/>
                <a:cs typeface="Open Sauce Bold"/>
                <a:sym typeface="Open Sauce Bold"/>
              </a:rPr>
              <a:t> Augmentation </a:t>
            </a:r>
            <a:r>
              <a:rPr lang="en-US" sz="3000">
                <a:solidFill>
                  <a:srgbClr val="000000"/>
                </a:solidFill>
                <a:latin typeface="Open Sauce"/>
                <a:ea typeface="Open Sauce"/>
                <a:cs typeface="Open Sauce"/>
                <a:sym typeface="Open Sauce"/>
              </a:rPr>
              <a:t>de la chercheuse ou du chercheur</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Simplicité de la tâche</a:t>
            </a:r>
            <a:r>
              <a:rPr lang="en-US" sz="3000">
                <a:solidFill>
                  <a:srgbClr val="000000"/>
                </a:solidFill>
                <a:latin typeface="Open Sauce"/>
                <a:ea typeface="Open Sauce"/>
                <a:cs typeface="Open Sauce"/>
                <a:sym typeface="Open Sauce"/>
              </a:rPr>
              <a:t> (peu d’appréciation subjective)</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Absence de sensibilité des données </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Coût temporel limité </a:t>
            </a:r>
            <a:r>
              <a:rPr lang="en-US" sz="3000">
                <a:solidFill>
                  <a:srgbClr val="000000"/>
                </a:solidFill>
                <a:latin typeface="Open Sauce"/>
                <a:ea typeface="Open Sauce"/>
                <a:cs typeface="Open Sauce"/>
                <a:sym typeface="Open Sauce"/>
              </a:rPr>
              <a:t>(peu d’annotations)</a:t>
            </a:r>
          </a:p>
        </p:txBody>
      </p:sp>
      <p:sp>
        <p:nvSpPr>
          <p:cNvPr name="TextBox 6" id="6"/>
          <p:cNvSpPr txBox="true"/>
          <p:nvPr/>
        </p:nvSpPr>
        <p:spPr>
          <a:xfrm rot="0">
            <a:off x="1920485" y="7402112"/>
            <a:ext cx="14815226" cy="15906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À cela s’ajoutent : </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Coûts économique, environnemental </a:t>
            </a: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Réplicabilité </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23925"/>
            <a:ext cx="8882565" cy="863600"/>
          </a:xfrm>
          <a:prstGeom prst="rect">
            <a:avLst/>
          </a:prstGeom>
        </p:spPr>
        <p:txBody>
          <a:bodyPr anchor="t" rtlCol="false" tIns="0" lIns="0" bIns="0" rIns="0">
            <a:spAutoFit/>
          </a:bodyPr>
          <a:lstStyle/>
          <a:p>
            <a:pPr algn="l">
              <a:lnSpc>
                <a:spcPts val="7000"/>
              </a:lnSpc>
            </a:pPr>
            <a:r>
              <a:rPr lang="en-US" sz="5000" b="true">
                <a:solidFill>
                  <a:srgbClr val="000000"/>
                </a:solidFill>
                <a:latin typeface="Open Sauce Bold"/>
                <a:ea typeface="Open Sauce Bold"/>
                <a:cs typeface="Open Sauce Bold"/>
                <a:sym typeface="Open Sauce Bold"/>
              </a:rPr>
              <a:t>Intérêt, limites</a:t>
            </a:r>
          </a:p>
        </p:txBody>
      </p:sp>
      <p:sp>
        <p:nvSpPr>
          <p:cNvPr name="TextBox 3" id="3"/>
          <p:cNvSpPr txBox="true"/>
          <p:nvPr/>
        </p:nvSpPr>
        <p:spPr>
          <a:xfrm rot="0">
            <a:off x="1028700" y="2613981"/>
            <a:ext cx="14815226" cy="523875"/>
          </a:xfrm>
          <a:prstGeom prst="rect">
            <a:avLst/>
          </a:prstGeom>
        </p:spPr>
        <p:txBody>
          <a:bodyPr anchor="t" rtlCol="false" tIns="0" lIns="0" bIns="0" rIns="0">
            <a:spAutoFit/>
          </a:bodyPr>
          <a:lstStyle/>
          <a:p>
            <a:pPr algn="l">
              <a:lnSpc>
                <a:spcPts val="4200"/>
              </a:lnSpc>
            </a:pPr>
            <a:r>
              <a:rPr lang="en-US" sz="3000">
                <a:solidFill>
                  <a:srgbClr val="000000"/>
                </a:solidFill>
                <a:latin typeface="Open Sauce"/>
                <a:ea typeface="Open Sauce"/>
                <a:cs typeface="Open Sauce"/>
                <a:sym typeface="Open Sauce"/>
              </a:rPr>
              <a:t>Ce qu’on aurait pu ajouter ou faire différemment :</a:t>
            </a:r>
          </a:p>
        </p:txBody>
      </p:sp>
      <p:sp>
        <p:nvSpPr>
          <p:cNvPr name="TextBox 4" id="4"/>
          <p:cNvSpPr txBox="true"/>
          <p:nvPr/>
        </p:nvSpPr>
        <p:spPr>
          <a:xfrm rot="0">
            <a:off x="1028700" y="3754828"/>
            <a:ext cx="16246703" cy="5238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Exploration</a:t>
            </a:r>
            <a:r>
              <a:rPr lang="en-US" sz="3000">
                <a:solidFill>
                  <a:srgbClr val="000000"/>
                </a:solidFill>
                <a:latin typeface="Open Sauce"/>
                <a:ea typeface="Open Sauce"/>
                <a:cs typeface="Open Sauce"/>
                <a:sym typeface="Open Sauce"/>
              </a:rPr>
              <a:t> </a:t>
            </a:r>
            <a:r>
              <a:rPr lang="en-US" b="true" sz="3000">
                <a:solidFill>
                  <a:srgbClr val="000000"/>
                </a:solidFill>
                <a:latin typeface="Open Sauce Bold"/>
                <a:ea typeface="Open Sauce Bold"/>
                <a:cs typeface="Open Sauce Bold"/>
                <a:sym typeface="Open Sauce Bold"/>
              </a:rPr>
              <a:t>préalable</a:t>
            </a:r>
            <a:r>
              <a:rPr lang="en-US" sz="3000">
                <a:solidFill>
                  <a:srgbClr val="000000"/>
                </a:solidFill>
                <a:latin typeface="Open Sauce"/>
                <a:ea typeface="Open Sauce"/>
                <a:cs typeface="Open Sauce"/>
                <a:sym typeface="Open Sauce"/>
              </a:rPr>
              <a:t> des données via les outils intégrés dans ActiveTigger</a:t>
            </a:r>
          </a:p>
        </p:txBody>
      </p:sp>
      <p:sp>
        <p:nvSpPr>
          <p:cNvPr name="TextBox 5" id="5"/>
          <p:cNvSpPr txBox="true"/>
          <p:nvPr/>
        </p:nvSpPr>
        <p:spPr>
          <a:xfrm rot="0">
            <a:off x="1028700" y="4848225"/>
            <a:ext cx="16246703" cy="26574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Plus d’annotations</a:t>
            </a:r>
            <a:r>
              <a:rPr lang="en-US" sz="3000">
                <a:solidFill>
                  <a:srgbClr val="000000"/>
                </a:solidFill>
                <a:latin typeface="Open Sauce"/>
                <a:ea typeface="Open Sauce"/>
                <a:cs typeface="Open Sauce"/>
                <a:sym typeface="Open Sauce"/>
              </a:rPr>
              <a:t> :</a:t>
            </a:r>
          </a:p>
          <a:p>
            <a:pPr algn="l" marL="1295400" indent="-431800" lvl="2">
              <a:lnSpc>
                <a:spcPts val="4200"/>
              </a:lnSpc>
              <a:buFont typeface="Arial"/>
              <a:buChar char="⚬"/>
            </a:pPr>
            <a:r>
              <a:rPr lang="en-US" sz="3000">
                <a:solidFill>
                  <a:srgbClr val="000000"/>
                </a:solidFill>
                <a:latin typeface="Open Sauce"/>
                <a:ea typeface="Open Sauce"/>
                <a:cs typeface="Open Sauce"/>
                <a:sym typeface="Open Sauce"/>
              </a:rPr>
              <a:t>validation et test sets (meilleur F1)</a:t>
            </a:r>
          </a:p>
          <a:p>
            <a:pPr algn="l" marL="1295400" indent="-431800" lvl="2">
              <a:lnSpc>
                <a:spcPts val="4200"/>
              </a:lnSpc>
              <a:buFont typeface="Arial"/>
              <a:buChar char="⚬"/>
            </a:pPr>
            <a:r>
              <a:rPr lang="en-US" sz="3000">
                <a:solidFill>
                  <a:srgbClr val="000000"/>
                </a:solidFill>
                <a:latin typeface="Open Sauce"/>
                <a:ea typeface="Open Sauce"/>
                <a:cs typeface="Open Sauce"/>
                <a:sym typeface="Open Sauce"/>
              </a:rPr>
              <a:t>train set pour la catégorie</a:t>
            </a:r>
            <a:r>
              <a:rPr lang="en-US" sz="3000">
                <a:solidFill>
                  <a:srgbClr val="000000"/>
                </a:solidFill>
                <a:latin typeface="Open Sauce"/>
                <a:ea typeface="Open Sauce"/>
                <a:cs typeface="Open Sauce"/>
                <a:sym typeface="Open Sauce"/>
              </a:rPr>
              <a:t> “source” </a:t>
            </a:r>
          </a:p>
          <a:p>
            <a:pPr algn="l">
              <a:lnSpc>
                <a:spcPts val="4200"/>
              </a:lnSpc>
            </a:pPr>
          </a:p>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A</a:t>
            </a:r>
            <a:r>
              <a:rPr lang="en-US" b="true" sz="3000">
                <a:solidFill>
                  <a:srgbClr val="000000"/>
                </a:solidFill>
                <a:latin typeface="Open Sauce Bold"/>
                <a:ea typeface="Open Sauce Bold"/>
                <a:cs typeface="Open Sauce Bold"/>
                <a:sym typeface="Open Sauce Bold"/>
              </a:rPr>
              <a:t>nnotation croisée</a:t>
            </a:r>
            <a:r>
              <a:rPr lang="en-US" sz="3000">
                <a:solidFill>
                  <a:srgbClr val="000000"/>
                </a:solidFill>
                <a:latin typeface="Open Sauce"/>
                <a:ea typeface="Open Sauce"/>
                <a:cs typeface="Open Sauce"/>
                <a:sym typeface="Open Sauce"/>
              </a:rPr>
              <a:t> d’une partie des données (interannotator agreement score)</a:t>
            </a:r>
          </a:p>
        </p:txBody>
      </p:sp>
      <p:sp>
        <p:nvSpPr>
          <p:cNvPr name="TextBox 6" id="6"/>
          <p:cNvSpPr txBox="true"/>
          <p:nvPr/>
        </p:nvSpPr>
        <p:spPr>
          <a:xfrm rot="0">
            <a:off x="1012597" y="8077200"/>
            <a:ext cx="16246703" cy="523875"/>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00000"/>
                </a:solidFill>
                <a:latin typeface="Open Sauce Bold"/>
                <a:ea typeface="Open Sauce Bold"/>
                <a:cs typeface="Open Sauce Bold"/>
                <a:sym typeface="Open Sauce Bold"/>
              </a:rPr>
              <a:t>Annotation manuelle </a:t>
            </a:r>
            <a:r>
              <a:rPr lang="en-US" sz="3000">
                <a:solidFill>
                  <a:srgbClr val="000000"/>
                </a:solidFill>
                <a:latin typeface="Open Sauce"/>
                <a:ea typeface="Open Sauce"/>
                <a:cs typeface="Open Sauce"/>
                <a:sym typeface="Open Sauce"/>
              </a:rPr>
              <a:t>des 664 données de +1024 tokens retirées du dataset.</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03452" y="3570946"/>
            <a:ext cx="4881096" cy="863600"/>
          </a:xfrm>
          <a:prstGeom prst="rect">
            <a:avLst/>
          </a:prstGeom>
        </p:spPr>
        <p:txBody>
          <a:bodyPr anchor="t" rtlCol="false" tIns="0" lIns="0" bIns="0" rIns="0">
            <a:spAutoFit/>
          </a:bodyPr>
          <a:lstStyle/>
          <a:p>
            <a:pPr algn="ctr">
              <a:lnSpc>
                <a:spcPts val="7000"/>
              </a:lnSpc>
            </a:pPr>
            <a:r>
              <a:rPr lang="en-US" sz="5000" b="true">
                <a:solidFill>
                  <a:srgbClr val="000000"/>
                </a:solidFill>
                <a:latin typeface="Open Sauce Bold"/>
                <a:ea typeface="Open Sauce Bold"/>
                <a:cs typeface="Open Sauce Bold"/>
                <a:sym typeface="Open Sauce Bold"/>
              </a:rPr>
              <a:t>Merci !</a:t>
            </a:r>
          </a:p>
        </p:txBody>
      </p:sp>
      <p:sp>
        <p:nvSpPr>
          <p:cNvPr name="Freeform 3" id="3"/>
          <p:cNvSpPr/>
          <p:nvPr/>
        </p:nvSpPr>
        <p:spPr>
          <a:xfrm flipH="false" flipV="false" rot="0">
            <a:off x="8634413" y="2629369"/>
            <a:ext cx="1019174" cy="1046352"/>
          </a:xfrm>
          <a:custGeom>
            <a:avLst/>
            <a:gdLst/>
            <a:ahLst/>
            <a:cxnLst/>
            <a:rect r="r" b="b" t="t" l="l"/>
            <a:pathLst>
              <a:path h="1046352" w="1019174">
                <a:moveTo>
                  <a:pt x="0" y="0"/>
                </a:moveTo>
                <a:lnTo>
                  <a:pt x="1019174" y="0"/>
                </a:lnTo>
                <a:lnTo>
                  <a:pt x="1019174" y="1046352"/>
                </a:lnTo>
                <a:lnTo>
                  <a:pt x="0" y="1046352"/>
                </a:lnTo>
                <a:lnTo>
                  <a:pt x="0" y="0"/>
                </a:lnTo>
                <a:close/>
              </a:path>
            </a:pathLst>
          </a:custGeom>
          <a:blipFill>
            <a:blip r:embed="rId2"/>
            <a:stretch>
              <a:fillRect l="0" t="0" r="0" b="0"/>
            </a:stretch>
          </a:blipFill>
        </p:spPr>
      </p:sp>
      <p:sp>
        <p:nvSpPr>
          <p:cNvPr name="TextBox 4" id="4"/>
          <p:cNvSpPr txBox="true"/>
          <p:nvPr/>
        </p:nvSpPr>
        <p:spPr>
          <a:xfrm rot="0">
            <a:off x="2863163" y="5385190"/>
            <a:ext cx="12561675" cy="1057275"/>
          </a:xfrm>
          <a:prstGeom prst="rect">
            <a:avLst/>
          </a:prstGeom>
        </p:spPr>
        <p:txBody>
          <a:bodyPr anchor="t" rtlCol="false" tIns="0" lIns="0" bIns="0" rIns="0">
            <a:spAutoFit/>
          </a:bodyPr>
          <a:lstStyle/>
          <a:p>
            <a:pPr algn="ctr">
              <a:lnSpc>
                <a:spcPts val="4200"/>
              </a:lnSpc>
            </a:pPr>
            <a:r>
              <a:rPr lang="en-US" sz="3000">
                <a:solidFill>
                  <a:srgbClr val="000000"/>
                </a:solidFill>
                <a:latin typeface="Open Sauce"/>
                <a:ea typeface="Open Sauce"/>
                <a:cs typeface="Open Sauce"/>
                <a:sym typeface="Open Sauce"/>
              </a:rPr>
              <a:t>Demande de compte, documentation, lien GitHub, lien Discord : </a:t>
            </a:r>
          </a:p>
          <a:p>
            <a:pPr algn="ctr">
              <a:lnSpc>
                <a:spcPts val="4200"/>
              </a:lnSpc>
            </a:pPr>
            <a:r>
              <a:rPr lang="en-US" sz="3000" b="true">
                <a:solidFill>
                  <a:srgbClr val="000000"/>
                </a:solidFill>
                <a:latin typeface="Open Sauce Bold"/>
                <a:ea typeface="Open Sauce Bold"/>
                <a:cs typeface="Open Sauce Bold"/>
                <a:sym typeface="Open Sauce Bold"/>
              </a:rPr>
              <a:t>https://activetigger.com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DAHWlGPxRxA</dc:identifier>
  <dcterms:modified xsi:type="dcterms:W3CDTF">2011-08-01T06:04:30Z</dcterms:modified>
  <cp:revision>1</cp:revision>
  <dc:title>Use_case_VLONGUE</dc:title>
</cp:coreProperties>
</file>